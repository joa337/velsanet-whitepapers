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737360" cy="38404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ITU-T  FG-EAI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92A"/>
                </a:solidFill>
              </a:rPr>
              <a:t>FG-EAI-I-nnn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Multimodal Structural Cognition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 Embodied AI: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Velsanet Cognition Cube System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3127248"/>
            <a:ext cx="2377440" cy="34747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 Item F: Multimodal Decomposition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3127248"/>
            <a:ext cx="2377440" cy="34747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1272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 Item G: Cognition Cube Framework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6BF"/>
                </a:solidFill>
              </a:rPr>
              <a:t>Cognition must be structural — not a layer applied after the fact.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566928"/>
            <a:ext cx="18288" cy="393192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640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</a:rPr>
              <a:t>Virtual Meeting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</a:rPr>
              <a:t>July 2026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417320"/>
            <a:ext cx="2377440" cy="18288"/>
          </a:xfrm>
          <a:prstGeom prst="rect">
            <a:avLst/>
          </a:prstGeom>
          <a:solidFill>
            <a:srgbClr val="AEB6BF"/>
          </a:solidFill>
          <a:ln w="12700">
            <a:solidFill>
              <a:srgbClr val="AEB6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EB6BF"/>
                </a:solidFill>
              </a:rPr>
              <a:t>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874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Changho Song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joa337@gmail.com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1 / 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Current EAI Perception Cannot Scale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Motivation — Three structural problems with conventional multimodal AI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2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64008" cy="98755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972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70A"/>
                </a:solidFill>
              </a:rPr>
              <a:t>1.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0972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Loss of Channel Independence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43560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Modalities are merged into unified vector spaces before structural meaning is established — distinct semantic properties of each channel are lost, eliminating traceability.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6712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167128"/>
            <a:ext cx="64008" cy="98755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128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70A"/>
                </a:solidFill>
              </a:rPr>
              <a:t>2.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21284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Absence of Intent-Centric Organization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55117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Systems organize perception around data content, not around the purpose or intent of the embodied agent — limiting adaptive behavior in human-AI co-presence scenarios.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82696"/>
            <a:ext cx="64008" cy="987552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284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670A"/>
                </a:solidFill>
              </a:rPr>
              <a:t>3.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32841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Weak Explainability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66674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Without structural decomposition, it is not possible to determine which modality contributed to a given AI decision — EAI systems become opaque in safety-critical applications.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4074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4E08"/>
                </a:solidFill>
              </a:rPr>
              <a:t>In current architectures, multimodal AI correctness is a model property — not a structural invariant.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Velsanet — Seven Work Items across Two Focus Groups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FG-AINN covers Work Items A–E  ·  FG-EAI covers Work Items F–G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3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Topology-First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0896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Space before address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Five polyhedral primitives define network space before any addressing occurs.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53896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453896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53896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3896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Optical-Native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508760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No packet switching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508760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MOCT: physically isolated parallel optical cores. Deterministic parallelism.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51760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651760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06624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Embedded 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06624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AI inside, not on top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06624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PAI / AAI / AsAI structurally bound to topological domain. No API overhead.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49624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9624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849624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9624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9624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04488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Governance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904488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Sovereignty as invariant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904488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Q7 projection-based sovereign governance. National boundary as structural invariant.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47488" y="960120"/>
            <a:ext cx="1175004" cy="237744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FG-AINN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047488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5B8D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47488" y="1197864"/>
            <a:ext cx="1175004" cy="45720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7488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02352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Math Framework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102352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Formal grounding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102352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Multi-layer graph G=(V,E,L). Q7 hypercube. Non-collision: Core(rᵢ)∩Core(rⱼ)=∅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45352" y="960120"/>
            <a:ext cx="1175004" cy="23774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45352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FG-EAI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45352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45352" y="1197864"/>
            <a:ext cx="1175004" cy="4572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45352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F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00216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Multimodal Decomp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00216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SEU + 8-channel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0216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SEU primitive with 8-channel independent decomposition + Meta Abstraction Layer.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43216" y="960120"/>
            <a:ext cx="1175004" cy="23774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43216" y="960120"/>
            <a:ext cx="117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FG-EAI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43216" y="1197864"/>
            <a:ext cx="1175004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443216" y="1197864"/>
            <a:ext cx="1175004" cy="4572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43216" y="1197864"/>
            <a:ext cx="1175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 Item 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98080" y="1719072"/>
            <a:ext cx="10652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Cognition Cube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498080" y="2066544"/>
            <a:ext cx="1065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D6D7E"/>
                </a:solidFill>
              </a:rPr>
              <a:t>T/C/I/E framework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498080" y="2395728"/>
            <a:ext cx="10652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Four-axis Cognition Cube synthesis + dual-layer memory architecture.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Alignment with FG-EAI Objectives and Standardization Gap Analysis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No existing standard addresses signal-level structural cognition for EAI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4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1463040" cy="347472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87552"/>
            <a:ext cx="1463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19072" y="987552"/>
            <a:ext cx="2926080" cy="347472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987552"/>
            <a:ext cx="29260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987552"/>
            <a:ext cx="3931920" cy="347472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Gap vs. Cognition Cube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1335024"/>
            <a:ext cx="146304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335024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ITU-T Y.3172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19072" y="1335024"/>
            <a:ext cx="292608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19072" y="1335024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ML framework for future networks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45152" y="1335024"/>
            <a:ext cx="393192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335024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No signal-level primitive; no channel-independent decomposition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1938528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1938528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ETSI GS ENI 005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1938528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19072" y="1938528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Experiential Networked Intelligence architecture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19385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938528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No SEU primitive; no intent-centric or emotion-aware axis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542032"/>
            <a:ext cx="146304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542032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3GPP TR 38.843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19072" y="2542032"/>
            <a:ext cx="292608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19072" y="2542032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AI/ML for NR air interface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45152" y="2542032"/>
            <a:ext cx="3931920" cy="548640"/>
          </a:xfrm>
          <a:prstGeom prst="rect">
            <a:avLst/>
          </a:prstGeom>
          <a:solidFill>
            <a:srgbClr val="F8FAFA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542032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Radio-layer only; no multimodal structural cognition layer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3145536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145536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IEEE Std 2830-2021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19072" y="3145536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19072" y="3145536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Shared machine learning framework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45152" y="314553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45152" y="3145536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No EAI perception primitive; no dual-layer memory architecture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749040"/>
            <a:ext cx="1463040" cy="548640"/>
          </a:xfrm>
          <a:prstGeom prst="rect">
            <a:avLst/>
          </a:prstGeom>
          <a:solidFill>
            <a:srgbClr val="FEF0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749040"/>
            <a:ext cx="1463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>THIS CONTRIBUTION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(Velsanet)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719072" y="3749040"/>
            <a:ext cx="2926080" cy="548640"/>
          </a:xfrm>
          <a:prstGeom prst="rect">
            <a:avLst/>
          </a:prstGeom>
          <a:solidFill>
            <a:srgbClr val="FEF0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19072" y="3749040"/>
            <a:ext cx="29260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4E08"/>
                </a:solidFill>
              </a:rPr>
              <a:t>Structural signal decomposition + four-axis cognitive synthesis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45152" y="3749040"/>
            <a:ext cx="3931920" cy="548640"/>
          </a:xfrm>
          <a:prstGeom prst="rect">
            <a:avLst/>
          </a:prstGeom>
          <a:solidFill>
            <a:srgbClr val="FEF0E0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45152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4E08"/>
                </a:solidFill>
              </a:rPr>
              <a:t>Addresses all gaps: SEU primitive, 8-channel independence, T/C/I/E axes, dual-layer memory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6032" y="3749040"/>
            <a:ext cx="54864" cy="54864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F — Signal Experience Unit (SEU) &amp; 8-Channel Decomposition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Every real-world event is first encapsulated as a time-bounded SEU — then decomposed into 8 independent channels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5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0058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005840"/>
            <a:ext cx="274320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005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Signal Experience Unit (SEU)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4E08"/>
                </a:solidFill>
              </a:rPr>
              <a:t>Time-bounded: 0.8–1.5 sec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1874520"/>
            <a:ext cx="54864" cy="6858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74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Temporal Anchoring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13969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All signals share unified timestamp — causal sync across modalities.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743200"/>
            <a:ext cx="54864" cy="6858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Experiential Boundary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0083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Defines scope of single cognitive event — prevents cross-context mixing.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611880"/>
            <a:ext cx="54864" cy="6858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118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Traceability Origin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8770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Unique ID propagates through entire pipeline — end-to-end evidence tracking.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90672" y="2651760"/>
            <a:ext cx="320040" cy="10972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5786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670A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1005840"/>
            <a:ext cx="5321808" cy="402336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1005840"/>
            <a:ext cx="5321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8-Channel Independent Decomposition — channel independence is a structural invariant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11880" y="1508760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1508760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508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15453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Video Frames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0" y="18379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RGB / Depth / Semantic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11880" y="2258568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1880" y="2258568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2258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0" y="22951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Audio Stream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25877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Speech, ambient sound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11880" y="3008376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008376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30449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Spatial-Temporal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0" y="3337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Location, trajectory, timestamp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11880" y="3758184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11880" y="3758184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188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0" y="3794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Biometric Signals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14800" y="40873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HR, gesture, micro-expressions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63640" y="1508760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1508760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15087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66560" y="15453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Text &amp; Linguistic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66560" y="18379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Metadata, NLP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63640" y="2258568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2258568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2258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66560" y="22951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Activity &amp; Motion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766560" y="25877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Motion patterns, activity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3008376"/>
            <a:ext cx="2542032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3008376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300837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766560" y="304495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Device Interaction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766560" y="33375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Interface signals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263640" y="3758184"/>
            <a:ext cx="2542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63640" y="3758184"/>
            <a:ext cx="457200" cy="65836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63640" y="3758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CH8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66560" y="37947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Environmental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766560" y="40873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D6D7E"/>
                </a:solidFill>
              </a:rPr>
              <a:t>Temperature, light, proximity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F — Meta Abstraction Layer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Transforms raw channel signals into structured meaning — without collapsing channel independence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6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005840"/>
            <a:ext cx="278892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0058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Semantic Summary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408176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1463040"/>
            <a:ext cx="2606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 compact, channel-specific description of the signal content. Preserves modality-level meaning without merging channels.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82112" y="1005840"/>
            <a:ext cx="278892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10058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1408176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73552" y="1463040"/>
            <a:ext cx="2606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Quantitative measure of signal reliability and extraction quality. Enables downstream reasoning to weight channel contributions.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08192" y="1005840"/>
            <a:ext cx="2788920" cy="402336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100584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 Reference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08192" y="1408176"/>
            <a:ext cx="2788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99632" y="1463040"/>
            <a:ext cx="26060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Pointer back to the originating raw channel data. Maintains full traceability from cognitive output back to raw sensor signal.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670A"/>
                </a:solidFill>
              </a:rPr>
              <a:t>↓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82880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34E08"/>
                </a:solidFill>
              </a:rPr>
              <a:t>Meta outputs from all 8 channels feed into Cognition Cube synthesis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749040"/>
            <a:ext cx="8631936" cy="685800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(raw signals)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8424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4028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8-Channel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Decomposition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72160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7764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Meta Abstraction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Layer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5896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1500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Cognition Cube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Synthesis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96328" y="37490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892A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37490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AAI / AsAI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Processing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913632" y="3749040"/>
            <a:ext cx="1481328" cy="685800"/>
          </a:xfrm>
          <a:prstGeom prst="rect">
            <a:avLst/>
          </a:prstGeom>
          <a:solidFill>
            <a:srgbClr val="D4670A">
              <a:alpha val="70000"/>
            </a:srgbClr>
          </a:solidFill>
          <a:ln w="12700">
            <a:solidFill>
              <a:srgbClr val="F089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G — Cognition Cube Synthesis (T / C / I / 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Meta outputs from all 8 channels are fused into a single structured cognitive object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7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2057400" cy="512064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8638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Temporal Anchor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52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Immutable chronological layer preserving all events in exact order. Ground truth for causal reasoning and replay. Never modified by AI layers.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0592" y="987552"/>
            <a:ext cx="2057400" cy="512064"/>
          </a:xfrm>
          <a:prstGeom prst="rect">
            <a:avLst/>
          </a:prstGeom>
          <a:solidFill>
            <a:srgbClr val="C06820"/>
          </a:solidFill>
          <a:ln w="12700">
            <a:solidFill>
              <a:srgbClr val="C06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8094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5059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682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4203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Situational understanding including location, objects, environment, and motion. Enables scenario reconstruction for adaptive behavior.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987552"/>
            <a:ext cx="2057400" cy="512064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7550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4515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3659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User motivation, purpose, and meaning extracted from behavior. Enables intent-centric cognition for human-AI collaboration. Core to EAI.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39712" y="987552"/>
            <a:ext cx="2057400" cy="51206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987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70064" y="987552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Emotion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39712" y="1499616"/>
            <a:ext cx="2057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31152" y="1554480"/>
            <a:ext cx="1874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Affective state, importance weighting, and intensity signals. Enables prioritization and emotionally-aware multimedia response.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3913632"/>
            <a:ext cx="8631936" cy="658368"/>
          </a:xfrm>
          <a:prstGeom prst="rect">
            <a:avLst/>
          </a:prstGeom>
          <a:solidFill>
            <a:srgbClr val="FEF0E0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1363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4E08"/>
                </a:solidFill>
              </a:rPr>
              <a:t>Each axis maintains full traceability to its originating channels  ·  The Cognition Cube is a single structured cognitive object — traceable, explainable, and ready for higher-order processing by AAI and AsAI layers.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 Item G — Dual-Layer Memory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Separating immutable raw storage from semantic cube indexing — performance without privacy compromise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8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41605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052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987552"/>
            <a:ext cx="4160520" cy="45720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987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Raw Memory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Immutable storage of original multimodal signals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0848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Never modified by any AI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25968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Serves as replay and verification source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3108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Perfect fidelity reconstruction guaranteed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2102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Privacy-preserving: no AI alteration of raw 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27448" y="987552"/>
            <a:ext cx="416052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987552"/>
            <a:ext cx="4160520" cy="4572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9875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Cube Memory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15727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Multi-dimensional semantic indexing structure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08483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Used for reasoning, search, contextualization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59689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Supports self-evolution over time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1089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High-speed cognitive retrieval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21024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▸  Structured by Cognition Cube axes (T/C/I/E)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53128" y="1188720"/>
            <a:ext cx="64008" cy="3200400"/>
          </a:xfrm>
          <a:prstGeom prst="rect">
            <a:avLst/>
          </a:prstGeom>
          <a:solidFill>
            <a:srgbClr val="D5DBDB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2560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D6D7E"/>
                </a:solidFill>
              </a:rPr>
              <a:t>≠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7315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FG-EAI-I-nnn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Proposed Work Items for FG-EAI Consideration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66928"/>
            <a:ext cx="9144000" cy="329184"/>
          </a:xfrm>
          <a:prstGeom prst="rect">
            <a:avLst/>
          </a:prstGeom>
          <a:solidFill>
            <a:srgbClr val="FEF0E0"/>
          </a:solidFill>
          <a:ln w="12700">
            <a:solidFill>
              <a:srgbClr val="FE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66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4E08"/>
                </a:solidFill>
              </a:rPr>
              <a:t>Requesting FG-EAI to initiate study under the EAI standardization programme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7315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Changho Song  |  FG-EAI  |  Virtual, July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9 /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987552"/>
            <a:ext cx="863193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4670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987552"/>
            <a:ext cx="1234440" cy="1609344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987552"/>
            <a:ext cx="1234440" cy="1609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1033272"/>
            <a:ext cx="7205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Structural Multimodal Decomposition for EAI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1316736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670A"/>
                </a:solidFill>
              </a:rPr>
              <a:t>Objectives: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Study of SEU-based signal encapsulation as a structural primitive for EAI perception; definition of 8-channel decomposition architecture as a standard for modality-preserving multimodal processing.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72768" y="1700784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>In Scope: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SEU definition as minimal standardized primitive; 8-channel decomposition spec (channel definitions, independence requirements, temporal anchoring); Meta Abstraction Layer outputs.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72768" y="2084832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8C8D"/>
                </a:solidFill>
              </a:rPr>
              <a:t>Out of Scope: </a:t>
            </a:r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AI model architectures above the Meta Abstraction Layer; application-layer interfaces; hardware sensor implementation.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724912"/>
            <a:ext cx="863193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A34E0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724912"/>
            <a:ext cx="1234440" cy="1609344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724912"/>
            <a:ext cx="1234440" cy="16093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2770632"/>
            <a:ext cx="7205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Cognition Cube as an EAI Perception Framework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054096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>Objectives: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Study of the four-axis Cognition Cube (T/C/I/E) as a structural perception framework for EAI; definition of Meta Abstraction Layer; evaluation of dual-layer memory architecture.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72768" y="3438144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4E08"/>
                </a:solidFill>
              </a:rPr>
              <a:t>In Scope: </a:t>
            </a:r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Four-axis Cognition Cube spec as standardized structural representation; Meta Abstraction Layer definition; dual-layer memory architecture (Raw Memory Layer + Cube Memory Layer).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72768" y="3822192"/>
            <a:ext cx="7205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8C8D"/>
                </a:solidFill>
              </a:rPr>
              <a:t>Out of Scope: </a:t>
            </a:r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Emotion recognition algorithms internal to channels; network transport protocols for cube distribution; Cognition Cube deployment lifecycle management.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6032" y="452628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34E08"/>
                </a:solidFill>
              </a:rPr>
              <a:t>These work items complement FG-AINN Work Items A–E — together forming a complete structural framework from network topology to multimodal cognition.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92A"/>
                </a:solidFill>
              </a:rPr>
              <a:t>FG-EAI-I-nnn  · 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F"/>
                </a:solidFill>
              </a:rPr>
              <a:t>Velsanet proposes that EAI cognition must be: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8288" cy="64008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16152"/>
            <a:ext cx="685800" cy="29260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Item F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33856" y="1170432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Structurally decomposed — signals encapsulated in SEUs, then separated into 8 independent channels via the Meta Abstraction Layer.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75104"/>
            <a:ext cx="18288" cy="64008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20824"/>
            <a:ext cx="685800" cy="29260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08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Item 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33856" y="1975104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Channel-independent — no modality merging before structural meaning is established; traceability preserved end-to-end.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18288" cy="640080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25496"/>
            <a:ext cx="685800" cy="29260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254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Item 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3856" y="2779776"/>
            <a:ext cx="7726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Cognitively synthesized — four-axis Cognition Cube (T/C/I/E) provides traceable, explainable, intent-centric perception.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493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</a:rPr>
              <a:t>We respectfully request FG-EAI to initiate study of Work Items F and 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</a:rPr>
              <a:t>under the EAI standardization programme.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33088"/>
            <a:ext cx="1737360" cy="384048"/>
          </a:xfrm>
          <a:prstGeom prst="rect">
            <a:avLst/>
          </a:prstGeom>
          <a:solidFill>
            <a:srgbClr val="D4670A"/>
          </a:solidFill>
          <a:ln w="12700">
            <a:solidFill>
              <a:srgbClr val="D467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133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4133088"/>
            <a:ext cx="1737360" cy="384048"/>
          </a:xfrm>
          <a:prstGeom prst="rect">
            <a:avLst/>
          </a:prstGeom>
          <a:solidFill>
            <a:srgbClr val="A34E08"/>
          </a:solidFill>
          <a:ln w="12700">
            <a:solidFill>
              <a:srgbClr val="A34E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1330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 Item 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572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</a:rPr>
              <a:t>Changho Song  ·  joa337@gmail.com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4773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892A"/>
                </a:solidFill>
              </a:rPr>
              <a:t>github.com/joa337/velsanet-whitepapers  ·  joa337.github.io/velsanet-whitepapers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818888"/>
            <a:ext cx="9144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EB6BF"/>
                </a:solidFill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FG-EAI-I-nnn: Velsanet Cognition Cube System</dc:title>
  <dc:subject>PptxGenJS Presentation</dc:subject>
  <dc:creator>Changho Song</dc:creator>
  <cp:lastModifiedBy>Changho Song</cp:lastModifiedBy>
  <cp:revision>1</cp:revision>
  <dcterms:created xsi:type="dcterms:W3CDTF">2026-04-09T10:04:01Z</dcterms:created>
  <dcterms:modified xsi:type="dcterms:W3CDTF">2026-04-09T10:04:01Z</dcterms:modified>
</cp:coreProperties>
</file>