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18872" cy="1188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256032"/>
            <a:ext cx="118872" cy="118872"/>
          </a:xfrm>
          <a:prstGeom prst="ellipse">
            <a:avLst/>
          </a:prstGeom>
          <a:solidFill>
            <a:srgbClr val="00B4D8">
              <a:alpha val="8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256032"/>
            <a:ext cx="118872" cy="118872"/>
          </a:xfrm>
          <a:prstGeom prst="ellipse">
            <a:avLst/>
          </a:prstGeom>
          <a:solidFill>
            <a:srgbClr val="00B4D8">
              <a:alpha val="7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9616" y="256032"/>
            <a:ext cx="118872" cy="118872"/>
          </a:xfrm>
          <a:prstGeom prst="ellipse">
            <a:avLst/>
          </a:prstGeom>
          <a:solidFill>
            <a:srgbClr val="00B4D8">
              <a:alpha val="64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88" y="256032"/>
            <a:ext cx="118872" cy="118872"/>
          </a:xfrm>
          <a:prstGeom prst="ellipse">
            <a:avLst/>
          </a:prstGeom>
          <a:solidFill>
            <a:srgbClr val="00B4D8">
              <a:alpha val="5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256032"/>
            <a:ext cx="118872" cy="11887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Contributions to ITU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Before Function: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Order for Standardization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FG-EAI &amp; FG-AINN  |  ITU-T Standardization Series  |  May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657600"/>
            <a:ext cx="5303520" cy="658368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65760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Velsanet Architecture Group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1005840"/>
            <a:ext cx="1325880" cy="475488"/>
          </a:xfrm>
          <a:prstGeom prst="rect">
            <a:avLst/>
          </a:prstGeom>
          <a:solidFill>
            <a:srgbClr val="00B4D8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89520" y="100584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1591056"/>
            <a:ext cx="1325880" cy="475488"/>
          </a:xfrm>
          <a:prstGeom prst="rect">
            <a:avLst/>
          </a:prstGeom>
          <a:solidFill>
            <a:srgbClr val="0090B8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159105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2176272"/>
            <a:ext cx="1325880" cy="475488"/>
          </a:xfrm>
          <a:prstGeom prst="rect">
            <a:avLst/>
          </a:prstGeom>
          <a:solidFill>
            <a:srgbClr val="006E8A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89520" y="217627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89520" y="2761488"/>
            <a:ext cx="1325880" cy="475488"/>
          </a:xfrm>
          <a:prstGeom prst="rect">
            <a:avLst/>
          </a:prstGeom>
          <a:solidFill>
            <a:srgbClr val="004F65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276148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3346704"/>
            <a:ext cx="1325880" cy="475488"/>
          </a:xfrm>
          <a:prstGeom prst="rect">
            <a:avLst/>
          </a:prstGeom>
          <a:solidFill>
            <a:srgbClr val="003244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89520" y="334670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CURRENT ITU STANDARDIZATION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opened at once — and chaos follows.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508760"/>
            <a:ext cx="2743200" cy="3017520"/>
          </a:xfrm>
          <a:prstGeom prst="rect">
            <a:avLst/>
          </a:prstGeom>
          <a:solidFill>
            <a:srgbClr val="E8F4F8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508760"/>
            <a:ext cx="27432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673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1671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Without Structure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" y="2770632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such as UBTECH's robot collaboration proposals jump directly to use-case interfaces — without any foundational structural or cognitive architecture beneath them.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1508760"/>
            <a:ext cx="2743200" cy="3017520"/>
          </a:xfrm>
          <a:prstGeom prst="rect">
            <a:avLst/>
          </a:prstGeom>
          <a:solidFill>
            <a:srgbClr val="E8F4F8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508760"/>
            <a:ext cx="27432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673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21671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Without Function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91840" y="2770632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is proposed in isolation — before any structural framework exists that would give those terms logical meaning or derivation.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508760"/>
            <a:ext cx="2743200" cy="3017520"/>
          </a:xfrm>
          <a:prstGeom prst="rect">
            <a:avLst/>
          </a:prstGeom>
          <a:solidFill>
            <a:srgbClr val="E8F4F8"/>
          </a:solidFill>
          <a:ln w="254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508760"/>
            <a:ext cx="2743200" cy="7315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673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1671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Chaos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17920" y="2770632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 across all levels are opened simultaneously. Without dependency ordering, lower-level contributions become entangled with upper-level outputs.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Standardization bodies are debating outputs before agreeing on foundations.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ORDER OF STANDARDIZATION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must precede function. Function must precede terminology. Terminology must precede activation.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920240" cy="301752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298448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98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architectural space first.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system? How is it shaped?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2848" y="2834640"/>
            <a:ext cx="21945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4288" y="27157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1371600"/>
            <a:ext cx="1920240" cy="301752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00C5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90672" y="1298448"/>
            <a:ext cx="640080" cy="640080"/>
          </a:xfrm>
          <a:prstGeom prst="ellipse">
            <a:avLst/>
          </a:prstGeom>
          <a:solidFill>
            <a:srgbClr val="00C5A8"/>
          </a:solidFill>
          <a:ln w="12700">
            <a:solidFill>
              <a:srgbClr val="00C5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1298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42032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269748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this structure do?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emerge FROM architecture.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0" y="2834640"/>
            <a:ext cx="21945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7157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1371600"/>
            <a:ext cx="1920240" cy="301752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66944" y="1298448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1298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18304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18304" y="269748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are named AFTER functions exist.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SEU, T/C/I/E axes, M-Axis — all derived.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65392" y="2834640"/>
            <a:ext cx="21945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27157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03136" y="1371600"/>
            <a:ext cx="1920240" cy="301752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43216" y="1298448"/>
            <a:ext cx="640080" cy="64008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1298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94576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94576" y="269748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validate &amp; activate the structure.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proof, not the starting point.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590288"/>
            <a:ext cx="8595360" cy="41148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59028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Velsanet's contribution series is structured precisely in this order — making it the only complete top-down architectural proposal in FG-EAI.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VELSANET'S CONTRIBUTION ARCHITECTURE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interlocking Work Items — a complete structural framework for Embodied AI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98448"/>
          <a:ext cx="8595360" cy="3474720"/>
        </p:xfrm>
        <a:graphic>
          <a:graphicData uri="http://schemas.openxmlformats.org/drawingml/2006/table">
            <a:tbl>
              <a:tblPr/>
              <a:tblGrid>
                <a:gridCol w="685800"/>
                <a:gridCol w="2240280"/>
                <a:gridCol w="2606040"/>
                <a:gridCol w="3063240"/>
              </a:tblGrid>
              <a:tr h="694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Multimodal Decomposition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7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PERCEPTION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7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how signals enter the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 primitive + 8-channel independent decomposition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Cognition Cube as EAI Perception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7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COGNITIVE SYNTHESIS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7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Fuses signals into structured intelligence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T/C/I/E four-axis Cognition Cube + dual-layer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E2E Control 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7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INDEPENDENCE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7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Decouples action from perception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16-channel separation — E2E #1 (perception) / E2E #2 (control)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Projection-Based Cognitive 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7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HUMAN-AI BRIDGE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7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Transfers human expertise into EAI M-Axis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glasses → PAI → Cognition Cube → Autonomy progression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864608"/>
            <a:ext cx="8595360" cy="137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→ G → H → I  :  Each work item is a necessary prerequisite for the next. Remove any one and the framework collapses.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945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16002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Multimodal Decomposition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7772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how raw reality enters the cognitive 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80160" y="1261872"/>
            <a:ext cx="3474720" cy="3474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389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DEFINES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755648"/>
            <a:ext cx="32004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(Signal Experience Unit)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minimal time-bounded unit of multimodal experience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8-Channel Independent Decomposition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Vision / Audio / Spatial / Biometric / Behavioral / Environmental / Network / Control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Independence Invariant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channel is preserved separately — traceability from sensing to decision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Abstraction Layer Interface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1261872"/>
            <a:ext cx="3840480" cy="3474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389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FOUNDATIONAL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1755648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Work Item F: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SEU — and without SEU, no standard primitive exists from which G, H, or I can build.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channel independence: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 merge before meaning is established — destroying traceability and explainability.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vs. existing standards: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ITU-T, 3GPP, ETSI, or IEEE standard defines a signal-level SEU primitive for EAI multimodal perception.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G  —  Cognition Cube as EAI Perception Framework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Synthesizing decomposed signals into structured, intent-centric intelligence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98448"/>
            <a:ext cx="1965960" cy="3246120"/>
          </a:xfrm>
          <a:prstGeom prst="rect">
            <a:avLst/>
          </a:prstGeom>
          <a:solidFill>
            <a:srgbClr val="E8F4F8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234440"/>
            <a:ext cx="822960" cy="822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Anchor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788920"/>
            <a:ext cx="1783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immutable chronological synchronization across all modalities. Enables causal linking and spatio-temporal coherence.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04872" y="1298448"/>
            <a:ext cx="1965960" cy="3246120"/>
          </a:xfrm>
          <a:prstGeom prst="rect">
            <a:avLst/>
          </a:prstGeom>
          <a:solidFill>
            <a:srgbClr val="E8F4F8"/>
          </a:solidFill>
          <a:ln w="254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71800" y="1234440"/>
            <a:ext cx="822960" cy="82296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96312" y="21488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96312" y="2788920"/>
            <a:ext cx="1783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environmental and situational signals into a unified contextual frame — where the EAI is and what surrounds it.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81144" y="1298448"/>
            <a:ext cx="1965960" cy="3246120"/>
          </a:xfrm>
          <a:prstGeom prst="rect">
            <a:avLst/>
          </a:prstGeom>
          <a:solidFill>
            <a:srgbClr val="E8F4F8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48072" y="1234440"/>
            <a:ext cx="822960" cy="8229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72584" y="21488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72584" y="2788920"/>
            <a:ext cx="1783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human or agent purpose from behavioral patterns, voice semantics, and interaction history. Enables intent-native cognition.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57416" y="1298448"/>
            <a:ext cx="1965960" cy="3246120"/>
          </a:xfrm>
          <a:prstGeom prst="rect">
            <a:avLst/>
          </a:prstGeom>
          <a:solidFill>
            <a:srgbClr val="E8F4F8"/>
          </a:solidFill>
          <a:ln w="254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24344" y="1234440"/>
            <a:ext cx="822960" cy="82296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24344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48856" y="21488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48856" y="2788920"/>
            <a:ext cx="1783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affective and biometric signals to support adaptive human-AI co-presence in safety-critical environments.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Dual-Layer Memory:  Raw Memory Layer (immutable) + Cube Memory Layer (semantic index) — enabling both high-fidelity reconstruction and high-speed cognitive retrieval.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 H &amp; I  —  Control Independence &amp; Human Cognitive Interface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4114800" cy="4041648"/>
          </a:xfrm>
          <a:prstGeom prst="rect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749808"/>
            <a:ext cx="914400" cy="9144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7498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E2E Control Architecture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304288"/>
            <a:ext cx="3840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EAI cannot act faster than its perception pipeline allows. Every control decision waits for full perceptual processing.
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separate perception (E2E #1, CH1–8) from control (E2E #2, CH9–16). Connect the Control Plane directly to the M-Axis of the Cognition Cube.
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Pre-cognitive action — the EAI acts on accumulated experience BEFORE real-time perception resolves. Safety override (CH11) operates independently of sensor availability.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841248"/>
            <a:ext cx="4114800" cy="4041648"/>
          </a:xfrm>
          <a:prstGeom prst="rect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749808"/>
            <a:ext cx="914400" cy="9144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7498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937760" y="1755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Projection Cognitive Interface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304288"/>
            <a:ext cx="3840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Command-based human-robot interfaces are coarse. Operator expertise is transactional — never transferred structurally into the EAI.
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operator shares perceptual cognition in real time via smart glasses → PAI bridge → EAI Cognition Cube (Perception E2E, CH1–8). Not a command — a cognitive projection.
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M-Axis accumulates mission experience. Dependency on human projection decreases progressively. Autonomy emerges as a structural property — not a feature switch.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DEPENDENCY CHAIN  —  Why Work Item F Must Come First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builds on the one below. Opening all simultaneously breaks the causal chain.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F  —  SEU + 8-Channel Perception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130552"/>
            <a:ext cx="6400800" cy="658368"/>
          </a:xfrm>
          <a:prstGeom prst="rect">
            <a:avLst/>
          </a:prstGeom>
          <a:solidFill>
            <a:srgbClr val="0077A8">
              <a:alpha val="86000"/>
            </a:srgbClr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13055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G  —  Cognition Cube T/C/I/E + Memory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0" y="2935224"/>
            <a:ext cx="4754880" cy="658368"/>
          </a:xfrm>
          <a:prstGeom prst="rect">
            <a:avLst/>
          </a:prstGeom>
          <a:solidFill>
            <a:srgbClr val="F4A261">
              <a:alpha val="72000"/>
            </a:srgbClr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293522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H  —  Dual E2E Control Independence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71800" y="3739896"/>
            <a:ext cx="3200400" cy="658368"/>
          </a:xfrm>
          <a:prstGeom prst="rect">
            <a:avLst/>
          </a:prstGeom>
          <a:solidFill>
            <a:srgbClr val="2DC653">
              <a:alpha val="58000"/>
            </a:srgbClr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71800" y="373989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I  —  Human Projection → Autonomy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NARROWER AT TOP: each upper item depends on all items below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20840" y="1325880"/>
            <a:ext cx="2148840" cy="3154680"/>
          </a:xfrm>
          <a:prstGeom prst="rect">
            <a:avLst/>
          </a:prstGeom>
          <a:solidFill>
            <a:srgbClr val="E8F4F8"/>
          </a:solidFill>
          <a:ln w="19050">
            <a:solidFill>
              <a:srgbClr val="E63946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Work Item F is absent: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has no definition → G cannot synthesize → H has no M-Axis to connect → I has no cognitive receiver.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"opening everything at once"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just disorderly 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architecturally invalid.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GAP ANALYSIS  —  Velsanet vs. Existing Standards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3977640"/>
        </p:xfrm>
        <a:graphic>
          <a:graphicData uri="http://schemas.openxmlformats.org/drawingml/2006/table">
            <a:tbl>
              <a:tblPr/>
              <a:tblGrid>
                <a:gridCol w="2926080"/>
                <a:gridCol w="1417320"/>
                <a:gridCol w="1417320"/>
                <a:gridCol w="1417320"/>
                <a:gridCol w="1417320"/>
              </a:tblGrid>
              <a:tr h="5682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 / Standard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 Primitive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Independence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/ Emotion Axes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Dual-Layer 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3GPP Rel-19 (AI/ML RAN)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ETSI ENI GS ENI 005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2830-2021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ITU-T Y.3172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ISO/IEC JTC1 SC42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Velsanet (Work Items F–I)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is the only contribution addressing all four structural gaps simultaneously — confirming Work Items F and G as essential, non-duplicated standardization needs.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POSITION  —  Velsanet as the Architectural Anchor of FG-EAI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658368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6583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8408" y="105156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Sequential Work Item Processing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8408" y="1508760"/>
            <a:ext cx="3337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 F and G must be adopted before H and I can be meaningfully evaluated. Request the Chair to impose structural dependency ordering on all FG-EAI work items.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0624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658368" cy="1828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14400"/>
            <a:ext cx="6583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58968" y="105156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Structure-Free Use Case Proposals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58968" y="1508760"/>
            <a:ext cx="3337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contribution proposing interfaces, APIs, or use cases without an underlying structural cognition layer should be required to reference — or build upon — Work Item F/G before proceeding.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944368"/>
            <a:ext cx="420624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944368"/>
            <a:ext cx="658368" cy="18288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944368"/>
            <a:ext cx="6583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78408" y="308152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Velsanet as the Upper-Layer Reference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8408" y="3538728"/>
            <a:ext cx="3337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 F–I constitute the only complete top-down EAI architectural framework in FG-EAI. All other contributions are lower-level activations of this framework — not alternatives to 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944368"/>
            <a:ext cx="420624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44368"/>
            <a:ext cx="658368" cy="18288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944368"/>
            <a:ext cx="6583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58968" y="308152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Terminology Authority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58968" y="3538728"/>
            <a:ext cx="3337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in FG-EAI should derive from confirmed structural concepts. SEU, Cognition Cube, M-Axis, and E2E #1/#2 are structurally derived terms — not marketing labels.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is not a preference.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prerequisite.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1762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Velsanet's Work Items F, G, H, and I form the only complete, structurally ordered EAI architectural framework before FG-EAI today.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816352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 case is valid without a cognitive structure beneath it.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terminology is meaningful without a function to name.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activation is possible without a structural foundation to activate.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330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Velsanet Architecture Group  |  joa337@gmail.com  |  FG-EAI,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Velsanet Contributions &amp; ITU Standardization Reform</dc:title>
  <dc:subject>PptxGenJS Presentation</dc:subject>
  <dc:creator>PptxGenJS</dc:creator>
  <cp:lastModifiedBy>PptxGenJS</cp:lastModifiedBy>
  <cp:revision>1</cp:revision>
  <dcterms:created xsi:type="dcterms:W3CDTF">2026-04-29T16:14:27Z</dcterms:created>
  <dcterms:modified xsi:type="dcterms:W3CDTF">2026-04-29T16:14:27Z</dcterms:modified>
</cp:coreProperties>
</file>