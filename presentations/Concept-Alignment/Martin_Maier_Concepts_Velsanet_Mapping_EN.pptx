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0A1530"/>
          </a:solidFill>
          <a:ln/>
        </p:spPr>
      </p:sp>
      <p:sp>
        <p:nvSpPr>
          <p:cNvPr id="3" name="Shape 1"/>
          <p:cNvSpPr/>
          <p:nvPr/>
        </p:nvSpPr>
        <p:spPr>
          <a:xfrm>
            <a:off x="4114800" y="5303520"/>
            <a:ext cx="8046720" cy="1554480"/>
          </a:xfrm>
          <a:prstGeom prst="rect">
            <a:avLst/>
          </a:prstGeom>
          <a:solidFill>
            <a:srgbClr val="0B2A50"/>
          </a:solidFill>
          <a:ln/>
        </p:spPr>
      </p:sp>
      <p:sp>
        <p:nvSpPr>
          <p:cNvPr id="4" name="Shape 2"/>
          <p:cNvSpPr/>
          <p:nvPr/>
        </p:nvSpPr>
        <p:spPr>
          <a:xfrm>
            <a:off x="457200" y="1097280"/>
            <a:ext cx="64008" cy="3840480"/>
          </a:xfrm>
          <a:prstGeom prst="rect">
            <a:avLst/>
          </a:prstGeom>
          <a:solidFill>
            <a:srgbClr val="0B7A8C"/>
          </a:solidFill>
          <a:ln/>
        </p:spPr>
      </p:sp>
      <p:sp>
        <p:nvSpPr>
          <p:cNvPr id="5" name="Text 3"/>
          <p:cNvSpPr/>
          <p:nvPr/>
        </p:nvSpPr>
        <p:spPr>
          <a:xfrm>
            <a:off x="640080" y="1005840"/>
            <a:ext cx="3291840" cy="21945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Martin Maier's</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Conceptual Universe</a:t>
            </a:r>
            <a:endParaRPr lang="en-US" sz="2800" dirty="0"/>
          </a:p>
        </p:txBody>
      </p:sp>
      <p:sp>
        <p:nvSpPr>
          <p:cNvPr id="6" name="Text 4"/>
          <p:cNvSpPr/>
          <p:nvPr/>
        </p:nvSpPr>
        <p:spPr>
          <a:xfrm>
            <a:off x="640080" y="3291840"/>
            <a:ext cx="3291840" cy="1280160"/>
          </a:xfrm>
          <a:prstGeom prst="rect">
            <a:avLst/>
          </a:prstGeom>
          <a:noFill/>
          <a:ln/>
        </p:spPr>
        <p:txBody>
          <a:bodyPr wrap="square" rtlCol="0" anchor="ctr"/>
          <a:lstStyle/>
          <a:p>
            <a:pPr indent="0" marL="0">
              <a:buNone/>
            </a:pPr>
            <a:r>
              <a:rPr lang="en-US" sz="1700" dirty="0">
                <a:solidFill>
                  <a:srgbClr val="9BBCD6"/>
                </a:solidFill>
                <a:latin typeface="Calibri" pitchFamily="34" charset="0"/>
                <a:ea typeface="Calibri" pitchFamily="34" charset="-122"/>
                <a:cs typeface="Calibri" pitchFamily="34" charset="-120"/>
              </a:rPr>
              <a:t>Key Concept Analysis</a:t>
            </a:r>
            <a:endParaRPr lang="en-US" sz="1700" dirty="0"/>
          </a:p>
          <a:p>
            <a:pPr indent="0" marL="0">
              <a:buNone/>
            </a:pPr>
            <a:r>
              <a:rPr lang="en-US" sz="1700" dirty="0">
                <a:solidFill>
                  <a:srgbClr val="9BBCD6"/>
                </a:solidFill>
                <a:latin typeface="Calibri" pitchFamily="34" charset="0"/>
                <a:ea typeface="Calibri" pitchFamily="34" charset="-122"/>
                <a:cs typeface="Calibri" pitchFamily="34" charset="-120"/>
              </a:rPr>
              <a:t>&amp; Velsanet Alignment Mapping</a:t>
            </a:r>
            <a:endParaRPr lang="en-US" sz="1700" dirty="0"/>
          </a:p>
        </p:txBody>
      </p:sp>
      <p:sp>
        <p:nvSpPr>
          <p:cNvPr id="7" name="Text 5"/>
          <p:cNvSpPr/>
          <p:nvPr/>
        </p:nvSpPr>
        <p:spPr>
          <a:xfrm>
            <a:off x="4572000" y="914400"/>
            <a:ext cx="7132320" cy="457200"/>
          </a:xfrm>
          <a:prstGeom prst="rect">
            <a:avLst/>
          </a:prstGeom>
          <a:noFill/>
          <a:ln/>
        </p:spPr>
        <p:txBody>
          <a:bodyPr wrap="square" rtlCol="0" anchor="ctr"/>
          <a:lstStyle/>
          <a:p>
            <a:pPr indent="0" marL="0">
              <a:buNone/>
            </a:pPr>
            <a:r>
              <a:rPr lang="en-US" sz="1300" b="1" dirty="0">
                <a:solidFill>
                  <a:srgbClr val="0B7A8C"/>
                </a:solidFill>
                <a:latin typeface="Calibri" pitchFamily="34" charset="0"/>
                <a:ea typeface="Calibri" pitchFamily="34" charset="-122"/>
                <a:cs typeface="Calibri" pitchFamily="34" charset="-120"/>
              </a:rPr>
              <a:t>Source Papers (Martin Maier, INRS)</a:t>
            </a:r>
            <a:endParaRPr lang="en-US" sz="1300" dirty="0"/>
          </a:p>
        </p:txBody>
      </p:sp>
      <p:sp>
        <p:nvSpPr>
          <p:cNvPr id="8" name="Shape 6"/>
          <p:cNvSpPr/>
          <p:nvPr/>
        </p:nvSpPr>
        <p:spPr>
          <a:xfrm>
            <a:off x="4572000" y="1508760"/>
            <a:ext cx="7132320" cy="822960"/>
          </a:xfrm>
          <a:prstGeom prst="rect">
            <a:avLst/>
          </a:prstGeom>
          <a:solidFill>
            <a:srgbClr val="102040"/>
          </a:solidFill>
          <a:ln/>
          <a:effectLst>
            <a:outerShdw sx="100000" sy="100000" kx="0" ky="0" algn="bl" rotWithShape="0" blurRad="101600" dist="38100" dir="8100000">
              <a:srgbClr val="000000">
                <a:alpha val="12000"/>
              </a:srgbClr>
            </a:outerShdw>
          </a:effectLst>
        </p:spPr>
      </p:sp>
      <p:sp>
        <p:nvSpPr>
          <p:cNvPr id="9" name="Text 7"/>
          <p:cNvSpPr/>
          <p:nvPr/>
        </p:nvSpPr>
        <p:spPr>
          <a:xfrm>
            <a:off x="4709160" y="1581912"/>
            <a:ext cx="685800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JOCN 2026</a:t>
            </a:r>
            <a:endParaRPr lang="en-US" sz="1200" dirty="0"/>
          </a:p>
        </p:txBody>
      </p:sp>
      <p:sp>
        <p:nvSpPr>
          <p:cNvPr id="10" name="Text 8"/>
          <p:cNvSpPr/>
          <p:nvPr/>
        </p:nvSpPr>
        <p:spPr>
          <a:xfrm>
            <a:off x="4709160" y="1892808"/>
            <a:ext cx="6858000" cy="320040"/>
          </a:xfrm>
          <a:prstGeom prst="rect">
            <a:avLst/>
          </a:prstGeom>
          <a:noFill/>
          <a:ln/>
        </p:spPr>
        <p:txBody>
          <a:bodyPr wrap="square" rtlCol="0" anchor="ctr"/>
          <a:lstStyle/>
          <a:p>
            <a:pPr indent="0" marL="0">
              <a:buNone/>
            </a:pPr>
            <a:r>
              <a:rPr lang="en-US" sz="1000" i="1" dirty="0">
                <a:solidFill>
                  <a:srgbClr val="7AAFD4"/>
                </a:solidFill>
                <a:latin typeface="Calibri" pitchFamily="34" charset="0"/>
                <a:ea typeface="Calibri" pitchFamily="34" charset="-122"/>
                <a:cs typeface="Calibri" pitchFamily="34" charset="-120"/>
              </a:rPr>
              <a:t>From AI to Active Inference — The Key to True AI &amp; 6G World Brain</a:t>
            </a:r>
            <a:endParaRPr lang="en-US" sz="1000" dirty="0"/>
          </a:p>
        </p:txBody>
      </p:sp>
      <p:sp>
        <p:nvSpPr>
          <p:cNvPr id="11" name="Shape 9"/>
          <p:cNvSpPr/>
          <p:nvPr/>
        </p:nvSpPr>
        <p:spPr>
          <a:xfrm>
            <a:off x="4572000" y="2514600"/>
            <a:ext cx="7132320" cy="822960"/>
          </a:xfrm>
          <a:prstGeom prst="rect">
            <a:avLst/>
          </a:prstGeom>
          <a:solidFill>
            <a:srgbClr val="102040"/>
          </a:solidFill>
          <a:ln/>
          <a:effectLst>
            <a:outerShdw sx="100000" sy="100000" kx="0" ky="0" algn="bl" rotWithShape="0" blurRad="101600" dist="38100" dir="8100000">
              <a:srgbClr val="000000">
                <a:alpha val="12000"/>
              </a:srgbClr>
            </a:outerShdw>
          </a:effectLst>
        </p:spPr>
      </p:sp>
      <p:sp>
        <p:nvSpPr>
          <p:cNvPr id="12" name="Text 10"/>
          <p:cNvSpPr/>
          <p:nvPr/>
        </p:nvSpPr>
        <p:spPr>
          <a:xfrm>
            <a:off x="4709160" y="2587752"/>
            <a:ext cx="685800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INFOCOM EIN Workshop</a:t>
            </a:r>
            <a:endParaRPr lang="en-US" sz="1200" dirty="0"/>
          </a:p>
        </p:txBody>
      </p:sp>
      <p:sp>
        <p:nvSpPr>
          <p:cNvPr id="13" name="Text 11"/>
          <p:cNvSpPr/>
          <p:nvPr/>
        </p:nvSpPr>
        <p:spPr>
          <a:xfrm>
            <a:off x="4709160" y="2898648"/>
            <a:ext cx="6858000" cy="320040"/>
          </a:xfrm>
          <a:prstGeom prst="rect">
            <a:avLst/>
          </a:prstGeom>
          <a:noFill/>
          <a:ln/>
        </p:spPr>
        <p:txBody>
          <a:bodyPr wrap="square" rtlCol="0" anchor="ctr"/>
          <a:lstStyle/>
          <a:p>
            <a:pPr indent="0" marL="0">
              <a:buNone/>
            </a:pPr>
            <a:r>
              <a:rPr lang="en-US" sz="1000" i="1" dirty="0">
                <a:solidFill>
                  <a:srgbClr val="7AAFD4"/>
                </a:solidFill>
                <a:latin typeface="Calibri" pitchFamily="34" charset="0"/>
                <a:ea typeface="Calibri" pitchFamily="34" charset="-122"/>
                <a:cs typeface="Calibri" pitchFamily="34" charset="-120"/>
              </a:rPr>
              <a:t>Reinventing the Sacred — Back to Early-Day Internet Pioneers</a:t>
            </a:r>
            <a:endParaRPr lang="en-US" sz="1000" dirty="0"/>
          </a:p>
        </p:txBody>
      </p:sp>
      <p:sp>
        <p:nvSpPr>
          <p:cNvPr id="14" name="Shape 12"/>
          <p:cNvSpPr/>
          <p:nvPr/>
        </p:nvSpPr>
        <p:spPr>
          <a:xfrm>
            <a:off x="4572000" y="3520440"/>
            <a:ext cx="7132320" cy="822960"/>
          </a:xfrm>
          <a:prstGeom prst="rect">
            <a:avLst/>
          </a:prstGeom>
          <a:solidFill>
            <a:srgbClr val="102040"/>
          </a:solidFill>
          <a:ln/>
          <a:effectLst>
            <a:outerShdw sx="100000" sy="100000" kx="0" ky="0" algn="bl" rotWithShape="0" blurRad="101600" dist="38100" dir="8100000">
              <a:srgbClr val="000000">
                <a:alpha val="12000"/>
              </a:srgbClr>
            </a:outerShdw>
          </a:effectLst>
        </p:spPr>
      </p:sp>
      <p:sp>
        <p:nvSpPr>
          <p:cNvPr id="15" name="Text 13"/>
          <p:cNvSpPr/>
          <p:nvPr/>
        </p:nvSpPr>
        <p:spPr>
          <a:xfrm>
            <a:off x="4709160" y="3593592"/>
            <a:ext cx="685800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IEEE IS (submitted)</a:t>
            </a:r>
            <a:endParaRPr lang="en-US" sz="1200" dirty="0"/>
          </a:p>
        </p:txBody>
      </p:sp>
      <p:sp>
        <p:nvSpPr>
          <p:cNvPr id="16" name="Text 14"/>
          <p:cNvSpPr/>
          <p:nvPr/>
        </p:nvSpPr>
        <p:spPr>
          <a:xfrm>
            <a:off x="4709160" y="3904488"/>
            <a:ext cx="6858000" cy="320040"/>
          </a:xfrm>
          <a:prstGeom prst="rect">
            <a:avLst/>
          </a:prstGeom>
          <a:noFill/>
          <a:ln/>
        </p:spPr>
        <p:txBody>
          <a:bodyPr wrap="square" rtlCol="0" anchor="ctr"/>
          <a:lstStyle/>
          <a:p>
            <a:pPr indent="0" marL="0">
              <a:buNone/>
            </a:pPr>
            <a:r>
              <a:rPr lang="en-US" sz="1000" i="1" dirty="0">
                <a:solidFill>
                  <a:srgbClr val="7AAFD4"/>
                </a:solidFill>
                <a:latin typeface="Calibri" pitchFamily="34" charset="0"/>
                <a:ea typeface="Calibri" pitchFamily="34" charset="-122"/>
                <a:cs typeface="Calibri" pitchFamily="34" charset="-120"/>
              </a:rPr>
              <a:t>AGI-Native 6G Networks — Are Psychoactives the New Frontier?</a:t>
            </a:r>
            <a:endParaRPr lang="en-US" sz="1000" dirty="0"/>
          </a:p>
        </p:txBody>
      </p:sp>
      <p:sp>
        <p:nvSpPr>
          <p:cNvPr id="17" name="Text 15"/>
          <p:cNvSpPr/>
          <p:nvPr/>
        </p:nvSpPr>
        <p:spPr>
          <a:xfrm>
            <a:off x="4572000" y="6217920"/>
            <a:ext cx="7132320" cy="365760"/>
          </a:xfrm>
          <a:prstGeom prst="rect">
            <a:avLst/>
          </a:prstGeom>
          <a:noFill/>
          <a:ln/>
        </p:spPr>
        <p:txBody>
          <a:bodyPr wrap="square" rtlCol="0" anchor="ctr"/>
          <a:lstStyle/>
          <a:p>
            <a:pPr algn="r" indent="0" marL="0">
              <a:buNone/>
            </a:pPr>
            <a:r>
              <a:rPr lang="en-US" sz="1000" dirty="0">
                <a:solidFill>
                  <a:srgbClr val="4A6A9A"/>
                </a:solidFill>
                <a:latin typeface="Calibri" pitchFamily="34" charset="0"/>
                <a:ea typeface="Calibri" pitchFamily="34" charset="-122"/>
                <a:cs typeface="Calibri" pitchFamily="34" charset="-120"/>
              </a:rPr>
              <a:t>Changho Song × Martin Maier  |  Velsanet Architecture Group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365760" y="182880"/>
            <a:ext cx="11430000" cy="502920"/>
          </a:xfrm>
          <a:prstGeom prst="rect">
            <a:avLst/>
          </a:prstGeom>
          <a:noFill/>
          <a:ln/>
        </p:spPr>
        <p:txBody>
          <a:bodyPr wrap="square" rtlCol="0" anchor="ctr"/>
          <a:lstStyle/>
          <a:p>
            <a:pPr indent="0" marL="0">
              <a:buNone/>
            </a:pPr>
            <a:r>
              <a:rPr lang="en-US" sz="2200" b="1" dirty="0">
                <a:solidFill>
                  <a:srgbClr val="0D1B3E"/>
                </a:solidFill>
                <a:latin typeface="Calibri" pitchFamily="34" charset="0"/>
                <a:ea typeface="Calibri" pitchFamily="34" charset="-122"/>
                <a:cs typeface="Calibri" pitchFamily="34" charset="-120"/>
              </a:rPr>
              <a:t>Martin Maier — Key Concept Map</a:t>
            </a:r>
            <a:endParaRPr lang="en-US" sz="2200" dirty="0"/>
          </a:p>
        </p:txBody>
      </p:sp>
      <p:sp>
        <p:nvSpPr>
          <p:cNvPr id="3" name="Text 1"/>
          <p:cNvSpPr/>
          <p:nvPr/>
        </p:nvSpPr>
        <p:spPr>
          <a:xfrm>
            <a:off x="365760" y="685800"/>
            <a:ext cx="11430000" cy="320040"/>
          </a:xfrm>
          <a:prstGeom prst="rect">
            <a:avLst/>
          </a:prstGeom>
          <a:noFill/>
          <a:ln/>
        </p:spPr>
        <p:txBody>
          <a:bodyPr wrap="square" rtlCol="0" anchor="ctr"/>
          <a:lstStyle/>
          <a:p>
            <a:pPr indent="0" marL="0">
              <a:buNone/>
            </a:pPr>
            <a:r>
              <a:rPr lang="en-US" sz="1200" i="1" dirty="0">
                <a:solidFill>
                  <a:srgbClr val="6B7A8D"/>
                </a:solidFill>
                <a:latin typeface="Calibri" pitchFamily="34" charset="0"/>
                <a:ea typeface="Calibri" pitchFamily="34" charset="-122"/>
                <a:cs typeface="Calibri" pitchFamily="34" charset="-120"/>
              </a:rPr>
              <a:t>48 core concepts extracted from 5 source files, organized into 6 thematic clusters</a:t>
            </a:r>
            <a:endParaRPr lang="en-US" sz="1200" dirty="0"/>
          </a:p>
        </p:txBody>
      </p:sp>
      <p:sp>
        <p:nvSpPr>
          <p:cNvPr id="4" name="Shape 2"/>
          <p:cNvSpPr/>
          <p:nvPr/>
        </p:nvSpPr>
        <p:spPr>
          <a:xfrm>
            <a:off x="274320" y="1097280"/>
            <a:ext cx="3566160" cy="347472"/>
          </a:xfrm>
          <a:prstGeom prst="rect">
            <a:avLst/>
          </a:prstGeom>
          <a:solidFill>
            <a:srgbClr val="1A3A6C"/>
          </a:solidFill>
          <a:ln/>
        </p:spPr>
      </p:sp>
      <p:sp>
        <p:nvSpPr>
          <p:cNvPr id="5" name="Text 3"/>
          <p:cNvSpPr/>
          <p:nvPr/>
        </p:nvSpPr>
        <p:spPr>
          <a:xfrm>
            <a:off x="365760" y="1133856"/>
            <a:ext cx="33832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① Cognition &amp; Brain Paradigm</a:t>
            </a:r>
            <a:endParaRPr lang="en-US" sz="1100" dirty="0"/>
          </a:p>
        </p:txBody>
      </p:sp>
      <p:sp>
        <p:nvSpPr>
          <p:cNvPr id="6" name="Shape 4"/>
          <p:cNvSpPr/>
          <p:nvPr/>
        </p:nvSpPr>
        <p:spPr>
          <a:xfrm>
            <a:off x="274320" y="1444752"/>
            <a:ext cx="3566160" cy="193852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5"/>
          <p:cNvSpPr/>
          <p:nvPr/>
        </p:nvSpPr>
        <p:spPr>
          <a:xfrm>
            <a:off x="384048" y="1499616"/>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Active Inference</a:t>
            </a:r>
            <a:endParaRPr lang="en-US" sz="950" dirty="0"/>
          </a:p>
        </p:txBody>
      </p:sp>
      <p:sp>
        <p:nvSpPr>
          <p:cNvPr id="8" name="Text 6"/>
          <p:cNvSpPr/>
          <p:nvPr/>
        </p:nvSpPr>
        <p:spPr>
          <a:xfrm>
            <a:off x="384048" y="1732788"/>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Free-Energy Principle (FEP)</a:t>
            </a:r>
            <a:endParaRPr lang="en-US" sz="950" dirty="0"/>
          </a:p>
        </p:txBody>
      </p:sp>
      <p:sp>
        <p:nvSpPr>
          <p:cNvPr id="9" name="Text 7"/>
          <p:cNvSpPr/>
          <p:nvPr/>
        </p:nvSpPr>
        <p:spPr>
          <a:xfrm>
            <a:off x="384048" y="1965960"/>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Inside-Out Brain Paradigm</a:t>
            </a:r>
            <a:endParaRPr lang="en-US" sz="950" dirty="0"/>
          </a:p>
        </p:txBody>
      </p:sp>
      <p:sp>
        <p:nvSpPr>
          <p:cNvPr id="10" name="Text 8"/>
          <p:cNvSpPr/>
          <p:nvPr/>
        </p:nvSpPr>
        <p:spPr>
          <a:xfrm>
            <a:off x="384048" y="2199132"/>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Predictive Brain / World Model</a:t>
            </a:r>
            <a:endParaRPr lang="en-US" sz="950" dirty="0"/>
          </a:p>
        </p:txBody>
      </p:sp>
      <p:sp>
        <p:nvSpPr>
          <p:cNvPr id="11" name="Text 9"/>
          <p:cNvSpPr/>
          <p:nvPr/>
        </p:nvSpPr>
        <p:spPr>
          <a:xfrm>
            <a:off x="384048" y="2432304"/>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Bayesian Inference</a:t>
            </a:r>
            <a:endParaRPr lang="en-US" sz="950" dirty="0"/>
          </a:p>
        </p:txBody>
      </p:sp>
      <p:sp>
        <p:nvSpPr>
          <p:cNvPr id="12" name="Text 10"/>
          <p:cNvSpPr/>
          <p:nvPr/>
        </p:nvSpPr>
        <p:spPr>
          <a:xfrm>
            <a:off x="384048" y="2665476"/>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Generative Model</a:t>
            </a:r>
            <a:endParaRPr lang="en-US" sz="950" dirty="0"/>
          </a:p>
        </p:txBody>
      </p:sp>
      <p:sp>
        <p:nvSpPr>
          <p:cNvPr id="13" name="Text 11"/>
          <p:cNvSpPr/>
          <p:nvPr/>
        </p:nvSpPr>
        <p:spPr>
          <a:xfrm>
            <a:off x="384048" y="2898648"/>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Action-Perception Loop</a:t>
            </a:r>
            <a:endParaRPr lang="en-US" sz="950" dirty="0"/>
          </a:p>
        </p:txBody>
      </p:sp>
      <p:sp>
        <p:nvSpPr>
          <p:cNvPr id="14" name="Text 12"/>
          <p:cNvSpPr/>
          <p:nvPr/>
        </p:nvSpPr>
        <p:spPr>
          <a:xfrm>
            <a:off x="384048" y="3131820"/>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Lifelong Learning (LL)</a:t>
            </a:r>
            <a:endParaRPr lang="en-US" sz="950" dirty="0"/>
          </a:p>
        </p:txBody>
      </p:sp>
      <p:sp>
        <p:nvSpPr>
          <p:cNvPr id="15" name="Shape 13"/>
          <p:cNvSpPr/>
          <p:nvPr/>
        </p:nvSpPr>
        <p:spPr>
          <a:xfrm>
            <a:off x="4114800" y="1097280"/>
            <a:ext cx="3566160" cy="347472"/>
          </a:xfrm>
          <a:prstGeom prst="rect">
            <a:avLst/>
          </a:prstGeom>
          <a:solidFill>
            <a:srgbClr val="0B7A8C"/>
          </a:solidFill>
          <a:ln/>
        </p:spPr>
      </p:sp>
      <p:sp>
        <p:nvSpPr>
          <p:cNvPr id="16" name="Text 14"/>
          <p:cNvSpPr/>
          <p:nvPr/>
        </p:nvSpPr>
        <p:spPr>
          <a:xfrm>
            <a:off x="4206240" y="1133856"/>
            <a:ext cx="33832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② AI Evolution Direction</a:t>
            </a:r>
            <a:endParaRPr lang="en-US" sz="1100" dirty="0"/>
          </a:p>
        </p:txBody>
      </p:sp>
      <p:sp>
        <p:nvSpPr>
          <p:cNvPr id="17" name="Shape 15"/>
          <p:cNvSpPr/>
          <p:nvPr/>
        </p:nvSpPr>
        <p:spPr>
          <a:xfrm>
            <a:off x="4114800" y="1444752"/>
            <a:ext cx="3566160" cy="193852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Text 16"/>
          <p:cNvSpPr/>
          <p:nvPr/>
        </p:nvSpPr>
        <p:spPr>
          <a:xfrm>
            <a:off x="4224528" y="1499616"/>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True AI (Less Artificial, More Intelligent)</a:t>
            </a:r>
            <a:endParaRPr lang="en-US" sz="950" dirty="0"/>
          </a:p>
        </p:txBody>
      </p:sp>
      <p:sp>
        <p:nvSpPr>
          <p:cNvPr id="19" name="Text 17"/>
          <p:cNvSpPr/>
          <p:nvPr/>
        </p:nvSpPr>
        <p:spPr>
          <a:xfrm>
            <a:off x="4224528" y="1732788"/>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NeuroAI</a:t>
            </a:r>
            <a:endParaRPr lang="en-US" sz="950" dirty="0"/>
          </a:p>
        </p:txBody>
      </p:sp>
      <p:sp>
        <p:nvSpPr>
          <p:cNvPr id="20" name="Text 18"/>
          <p:cNvSpPr/>
          <p:nvPr/>
        </p:nvSpPr>
        <p:spPr>
          <a:xfrm>
            <a:off x="4224528" y="1965960"/>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AGI / ASI</a:t>
            </a:r>
            <a:endParaRPr lang="en-US" sz="950" dirty="0"/>
          </a:p>
        </p:txBody>
      </p:sp>
      <p:sp>
        <p:nvSpPr>
          <p:cNvPr id="21" name="Text 19"/>
          <p:cNvSpPr/>
          <p:nvPr/>
        </p:nvSpPr>
        <p:spPr>
          <a:xfrm>
            <a:off x="4224528" y="2199132"/>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Embodied AI</a:t>
            </a:r>
            <a:endParaRPr lang="en-US" sz="950" dirty="0"/>
          </a:p>
        </p:txBody>
      </p:sp>
      <p:sp>
        <p:nvSpPr>
          <p:cNvPr id="22" name="Text 20"/>
          <p:cNvSpPr/>
          <p:nvPr/>
        </p:nvSpPr>
        <p:spPr>
          <a:xfrm>
            <a:off x="4224528" y="2432304"/>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Enactive AI</a:t>
            </a:r>
            <a:endParaRPr lang="en-US" sz="950" dirty="0"/>
          </a:p>
        </p:txBody>
      </p:sp>
      <p:sp>
        <p:nvSpPr>
          <p:cNvPr id="23" name="Text 21"/>
          <p:cNvSpPr/>
          <p:nvPr/>
        </p:nvSpPr>
        <p:spPr>
          <a:xfrm>
            <a:off x="4224528" y="2665476"/>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Agentic AI</a:t>
            </a:r>
            <a:endParaRPr lang="en-US" sz="950" dirty="0"/>
          </a:p>
        </p:txBody>
      </p:sp>
      <p:sp>
        <p:nvSpPr>
          <p:cNvPr id="24" name="Text 22"/>
          <p:cNvSpPr/>
          <p:nvPr/>
        </p:nvSpPr>
        <p:spPr>
          <a:xfrm>
            <a:off x="4224528" y="2898648"/>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Human-AI Interaction</a:t>
            </a:r>
            <a:endParaRPr lang="en-US" sz="950" dirty="0"/>
          </a:p>
        </p:txBody>
      </p:sp>
      <p:sp>
        <p:nvSpPr>
          <p:cNvPr id="25" name="Text 23"/>
          <p:cNvSpPr/>
          <p:nvPr/>
        </p:nvSpPr>
        <p:spPr>
          <a:xfrm>
            <a:off x="4224528" y="3131820"/>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Intelligence Amplification (IA)</a:t>
            </a:r>
            <a:endParaRPr lang="en-US" sz="950" dirty="0"/>
          </a:p>
        </p:txBody>
      </p:sp>
      <p:sp>
        <p:nvSpPr>
          <p:cNvPr id="26" name="Shape 24"/>
          <p:cNvSpPr/>
          <p:nvPr/>
        </p:nvSpPr>
        <p:spPr>
          <a:xfrm>
            <a:off x="7955280" y="1097280"/>
            <a:ext cx="3931920" cy="347472"/>
          </a:xfrm>
          <a:prstGeom prst="rect">
            <a:avLst/>
          </a:prstGeom>
          <a:solidFill>
            <a:srgbClr val="1A6E3A"/>
          </a:solidFill>
          <a:ln/>
        </p:spPr>
      </p:sp>
      <p:sp>
        <p:nvSpPr>
          <p:cNvPr id="27" name="Text 25"/>
          <p:cNvSpPr/>
          <p:nvPr/>
        </p:nvSpPr>
        <p:spPr>
          <a:xfrm>
            <a:off x="8046720" y="1133856"/>
            <a:ext cx="374904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③ Biological Inspiration</a:t>
            </a:r>
            <a:endParaRPr lang="en-US" sz="1100" dirty="0"/>
          </a:p>
        </p:txBody>
      </p:sp>
      <p:sp>
        <p:nvSpPr>
          <p:cNvPr id="28" name="Shape 26"/>
          <p:cNvSpPr/>
          <p:nvPr/>
        </p:nvSpPr>
        <p:spPr>
          <a:xfrm>
            <a:off x="7955280" y="1444752"/>
            <a:ext cx="3931920" cy="193852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9" name="Text 27"/>
          <p:cNvSpPr/>
          <p:nvPr/>
        </p:nvSpPr>
        <p:spPr>
          <a:xfrm>
            <a:off x="8065008" y="1499616"/>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Mycorrhizal Networks</a:t>
            </a:r>
            <a:endParaRPr lang="en-US" sz="950" dirty="0"/>
          </a:p>
        </p:txBody>
      </p:sp>
      <p:sp>
        <p:nvSpPr>
          <p:cNvPr id="30" name="Text 28"/>
          <p:cNvSpPr/>
          <p:nvPr/>
        </p:nvSpPr>
        <p:spPr>
          <a:xfrm>
            <a:off x="8065008" y="1732788"/>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Root-Brain Hypothesis</a:t>
            </a:r>
            <a:endParaRPr lang="en-US" sz="950" dirty="0"/>
          </a:p>
        </p:txBody>
      </p:sp>
      <p:sp>
        <p:nvSpPr>
          <p:cNvPr id="31" name="Text 29"/>
          <p:cNvSpPr/>
          <p:nvPr/>
        </p:nvSpPr>
        <p:spPr>
          <a:xfrm>
            <a:off x="8065008" y="1965960"/>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Cyberfungi</a:t>
            </a:r>
            <a:endParaRPr lang="en-US" sz="950" dirty="0"/>
          </a:p>
        </p:txBody>
      </p:sp>
      <p:sp>
        <p:nvSpPr>
          <p:cNvPr id="32" name="Text 30"/>
          <p:cNvSpPr/>
          <p:nvPr/>
        </p:nvSpPr>
        <p:spPr>
          <a:xfrm>
            <a:off x="8065008" y="2199132"/>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Symbiogenesis / Symbiomimicry</a:t>
            </a:r>
            <a:endParaRPr lang="en-US" sz="950" dirty="0"/>
          </a:p>
        </p:txBody>
      </p:sp>
      <p:sp>
        <p:nvSpPr>
          <p:cNvPr id="33" name="Text 31"/>
          <p:cNvSpPr/>
          <p:nvPr/>
        </p:nvSpPr>
        <p:spPr>
          <a:xfrm>
            <a:off x="8065008" y="2432304"/>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Hyphae / Mycelium</a:t>
            </a:r>
            <a:endParaRPr lang="en-US" sz="950" dirty="0"/>
          </a:p>
        </p:txBody>
      </p:sp>
      <p:sp>
        <p:nvSpPr>
          <p:cNvPr id="34" name="Text 32"/>
          <p:cNvSpPr/>
          <p:nvPr/>
        </p:nvSpPr>
        <p:spPr>
          <a:xfrm>
            <a:off x="8065008" y="2665476"/>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Wood-Wide Web</a:t>
            </a:r>
            <a:endParaRPr lang="en-US" sz="950" dirty="0"/>
          </a:p>
        </p:txBody>
      </p:sp>
      <p:sp>
        <p:nvSpPr>
          <p:cNvPr id="35" name="Text 33"/>
          <p:cNvSpPr/>
          <p:nvPr/>
        </p:nvSpPr>
        <p:spPr>
          <a:xfrm>
            <a:off x="8065008" y="2898648"/>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Metamorphic Agents</a:t>
            </a:r>
            <a:endParaRPr lang="en-US" sz="950" dirty="0"/>
          </a:p>
        </p:txBody>
      </p:sp>
      <p:sp>
        <p:nvSpPr>
          <p:cNvPr id="36" name="Text 34"/>
          <p:cNvSpPr/>
          <p:nvPr/>
        </p:nvSpPr>
        <p:spPr>
          <a:xfrm>
            <a:off x="8065008" y="3131820"/>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Negative Entropy</a:t>
            </a:r>
            <a:endParaRPr lang="en-US" sz="950" dirty="0"/>
          </a:p>
        </p:txBody>
      </p:sp>
      <p:sp>
        <p:nvSpPr>
          <p:cNvPr id="37" name="Shape 35"/>
          <p:cNvSpPr/>
          <p:nvPr/>
        </p:nvSpPr>
        <p:spPr>
          <a:xfrm>
            <a:off x="274320" y="3566160"/>
            <a:ext cx="3566160" cy="347472"/>
          </a:xfrm>
          <a:prstGeom prst="rect">
            <a:avLst/>
          </a:prstGeom>
          <a:solidFill>
            <a:srgbClr val="5A3080"/>
          </a:solidFill>
          <a:ln/>
        </p:spPr>
      </p:sp>
      <p:sp>
        <p:nvSpPr>
          <p:cNvPr id="38" name="Text 36"/>
          <p:cNvSpPr/>
          <p:nvPr/>
        </p:nvSpPr>
        <p:spPr>
          <a:xfrm>
            <a:off x="365760" y="3602736"/>
            <a:ext cx="33832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④ Mathematical &amp; Physical Basis</a:t>
            </a:r>
            <a:endParaRPr lang="en-US" sz="1100" dirty="0"/>
          </a:p>
        </p:txBody>
      </p:sp>
      <p:sp>
        <p:nvSpPr>
          <p:cNvPr id="39" name="Shape 37"/>
          <p:cNvSpPr/>
          <p:nvPr/>
        </p:nvSpPr>
        <p:spPr>
          <a:xfrm>
            <a:off x="274320" y="3913632"/>
            <a:ext cx="3566160" cy="193852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0" name="Text 38"/>
          <p:cNvSpPr/>
          <p:nvPr/>
        </p:nvSpPr>
        <p:spPr>
          <a:xfrm>
            <a:off x="384048" y="3968496"/>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Markov Blanket</a:t>
            </a:r>
            <a:endParaRPr lang="en-US" sz="950" dirty="0"/>
          </a:p>
        </p:txBody>
      </p:sp>
      <p:sp>
        <p:nvSpPr>
          <p:cNvPr id="41" name="Text 39"/>
          <p:cNvSpPr/>
          <p:nvPr/>
        </p:nvSpPr>
        <p:spPr>
          <a:xfrm>
            <a:off x="384048" y="4201668"/>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POMDP</a:t>
            </a:r>
            <a:endParaRPr lang="en-US" sz="950" dirty="0"/>
          </a:p>
        </p:txBody>
      </p:sp>
      <p:sp>
        <p:nvSpPr>
          <p:cNvPr id="42" name="Text 40"/>
          <p:cNvSpPr/>
          <p:nvPr/>
        </p:nvSpPr>
        <p:spPr>
          <a:xfrm>
            <a:off x="384048" y="4434840"/>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Variational Free Energy F</a:t>
            </a:r>
            <a:endParaRPr lang="en-US" sz="950" dirty="0"/>
          </a:p>
        </p:txBody>
      </p:sp>
      <p:sp>
        <p:nvSpPr>
          <p:cNvPr id="43" name="Text 41"/>
          <p:cNvSpPr/>
          <p:nvPr/>
        </p:nvSpPr>
        <p:spPr>
          <a:xfrm>
            <a:off x="384048" y="4668012"/>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Expected Free Energy G</a:t>
            </a:r>
            <a:endParaRPr lang="en-US" sz="950" dirty="0"/>
          </a:p>
        </p:txBody>
      </p:sp>
      <p:sp>
        <p:nvSpPr>
          <p:cNvPr id="44" name="Text 42"/>
          <p:cNvSpPr/>
          <p:nvPr/>
        </p:nvSpPr>
        <p:spPr>
          <a:xfrm>
            <a:off x="384048" y="4901184"/>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KL Divergence</a:t>
            </a:r>
            <a:endParaRPr lang="en-US" sz="950" dirty="0"/>
          </a:p>
        </p:txBody>
      </p:sp>
      <p:sp>
        <p:nvSpPr>
          <p:cNvPr id="45" name="Text 43"/>
          <p:cNvSpPr/>
          <p:nvPr/>
        </p:nvSpPr>
        <p:spPr>
          <a:xfrm>
            <a:off x="384048" y="5134356"/>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Self-Evidencing</a:t>
            </a:r>
            <a:endParaRPr lang="en-US" sz="950" dirty="0"/>
          </a:p>
        </p:txBody>
      </p:sp>
      <p:sp>
        <p:nvSpPr>
          <p:cNvPr id="46" name="Text 44"/>
          <p:cNvSpPr/>
          <p:nvPr/>
        </p:nvSpPr>
        <p:spPr>
          <a:xfrm>
            <a:off x="384048" y="5367528"/>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Entropy / Surprisal</a:t>
            </a:r>
            <a:endParaRPr lang="en-US" sz="950" dirty="0"/>
          </a:p>
        </p:txBody>
      </p:sp>
      <p:sp>
        <p:nvSpPr>
          <p:cNvPr id="47" name="Text 45"/>
          <p:cNvSpPr/>
          <p:nvPr/>
        </p:nvSpPr>
        <p:spPr>
          <a:xfrm>
            <a:off x="384048" y="5600700"/>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Hamiltonian Principle</a:t>
            </a:r>
            <a:endParaRPr lang="en-US" sz="950" dirty="0"/>
          </a:p>
        </p:txBody>
      </p:sp>
      <p:sp>
        <p:nvSpPr>
          <p:cNvPr id="48" name="Shape 46"/>
          <p:cNvSpPr/>
          <p:nvPr/>
        </p:nvSpPr>
        <p:spPr>
          <a:xfrm>
            <a:off x="4114800" y="3566160"/>
            <a:ext cx="3566160" cy="347472"/>
          </a:xfrm>
          <a:prstGeom prst="rect">
            <a:avLst/>
          </a:prstGeom>
          <a:solidFill>
            <a:srgbClr val="7A3010"/>
          </a:solidFill>
          <a:ln/>
        </p:spPr>
      </p:sp>
      <p:sp>
        <p:nvSpPr>
          <p:cNvPr id="49" name="Text 47"/>
          <p:cNvSpPr/>
          <p:nvPr/>
        </p:nvSpPr>
        <p:spPr>
          <a:xfrm>
            <a:off x="4206240" y="3602736"/>
            <a:ext cx="33832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⑤ Network &amp; 6G</a:t>
            </a:r>
            <a:endParaRPr lang="en-US" sz="1100" dirty="0"/>
          </a:p>
        </p:txBody>
      </p:sp>
      <p:sp>
        <p:nvSpPr>
          <p:cNvPr id="50" name="Shape 48"/>
          <p:cNvSpPr/>
          <p:nvPr/>
        </p:nvSpPr>
        <p:spPr>
          <a:xfrm>
            <a:off x="4114800" y="3913632"/>
            <a:ext cx="3566160" cy="193852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1" name="Text 49"/>
          <p:cNvSpPr/>
          <p:nvPr/>
        </p:nvSpPr>
        <p:spPr>
          <a:xfrm>
            <a:off x="4224528" y="3968496"/>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6G World Brain</a:t>
            </a:r>
            <a:endParaRPr lang="en-US" sz="950" dirty="0"/>
          </a:p>
        </p:txBody>
      </p:sp>
      <p:sp>
        <p:nvSpPr>
          <p:cNvPr id="52" name="Text 50"/>
          <p:cNvSpPr/>
          <p:nvPr/>
        </p:nvSpPr>
        <p:spPr>
          <a:xfrm>
            <a:off x="4224528" y="4201668"/>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Net4AI vs AI4Net</a:t>
            </a:r>
            <a:endParaRPr lang="en-US" sz="950" dirty="0"/>
          </a:p>
        </p:txBody>
      </p:sp>
      <p:sp>
        <p:nvSpPr>
          <p:cNvPr id="53" name="Text 51"/>
          <p:cNvSpPr/>
          <p:nvPr/>
        </p:nvSpPr>
        <p:spPr>
          <a:xfrm>
            <a:off x="4224528" y="4434840"/>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AI-Native 6G</a:t>
            </a:r>
            <a:endParaRPr lang="en-US" sz="950" dirty="0"/>
          </a:p>
        </p:txBody>
      </p:sp>
      <p:sp>
        <p:nvSpPr>
          <p:cNvPr id="54" name="Text 52"/>
          <p:cNvSpPr/>
          <p:nvPr/>
        </p:nvSpPr>
        <p:spPr>
          <a:xfrm>
            <a:off x="4224528" y="4668012"/>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ISAC (Integrated Sensing &amp; Comm.)</a:t>
            </a:r>
            <a:endParaRPr lang="en-US" sz="950" dirty="0"/>
          </a:p>
        </p:txBody>
      </p:sp>
      <p:sp>
        <p:nvSpPr>
          <p:cNvPr id="55" name="Text 53"/>
          <p:cNvSpPr/>
          <p:nvPr/>
        </p:nvSpPr>
        <p:spPr>
          <a:xfrm>
            <a:off x="4224528" y="4901184"/>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Phygital Environment</a:t>
            </a:r>
            <a:endParaRPr lang="en-US" sz="950" dirty="0"/>
          </a:p>
        </p:txBody>
      </p:sp>
      <p:sp>
        <p:nvSpPr>
          <p:cNvPr id="56" name="Text 54"/>
          <p:cNvSpPr/>
          <p:nvPr/>
        </p:nvSpPr>
        <p:spPr>
          <a:xfrm>
            <a:off x="4224528" y="5134356"/>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Cyber-Physical World</a:t>
            </a:r>
            <a:endParaRPr lang="en-US" sz="950" dirty="0"/>
          </a:p>
        </p:txBody>
      </p:sp>
      <p:sp>
        <p:nvSpPr>
          <p:cNvPr id="57" name="Text 55"/>
          <p:cNvSpPr/>
          <p:nvPr/>
        </p:nvSpPr>
        <p:spPr>
          <a:xfrm>
            <a:off x="4224528" y="5367528"/>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Point Alpha / Point Omega</a:t>
            </a:r>
            <a:endParaRPr lang="en-US" sz="950" dirty="0"/>
          </a:p>
        </p:txBody>
      </p:sp>
      <p:sp>
        <p:nvSpPr>
          <p:cNvPr id="58" name="Text 56"/>
          <p:cNvSpPr/>
          <p:nvPr/>
        </p:nvSpPr>
        <p:spPr>
          <a:xfrm>
            <a:off x="4224528" y="5600700"/>
            <a:ext cx="334670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Homo Technicus</a:t>
            </a:r>
            <a:endParaRPr lang="en-US" sz="950" dirty="0"/>
          </a:p>
        </p:txBody>
      </p:sp>
      <p:sp>
        <p:nvSpPr>
          <p:cNvPr id="59" name="Shape 57"/>
          <p:cNvSpPr/>
          <p:nvPr/>
        </p:nvSpPr>
        <p:spPr>
          <a:xfrm>
            <a:off x="7955280" y="3566160"/>
            <a:ext cx="3931920" cy="347472"/>
          </a:xfrm>
          <a:prstGeom prst="rect">
            <a:avLst/>
          </a:prstGeom>
          <a:solidFill>
            <a:srgbClr val="1A5A40"/>
          </a:solidFill>
          <a:ln/>
        </p:spPr>
      </p:sp>
      <p:sp>
        <p:nvSpPr>
          <p:cNvPr id="60" name="Text 58"/>
          <p:cNvSpPr/>
          <p:nvPr/>
        </p:nvSpPr>
        <p:spPr>
          <a:xfrm>
            <a:off x="8046720" y="3602736"/>
            <a:ext cx="374904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⑥ Social &amp; Philosophical</a:t>
            </a:r>
            <a:endParaRPr lang="en-US" sz="1100" dirty="0"/>
          </a:p>
        </p:txBody>
      </p:sp>
      <p:sp>
        <p:nvSpPr>
          <p:cNvPr id="61" name="Shape 59"/>
          <p:cNvSpPr/>
          <p:nvPr/>
        </p:nvSpPr>
        <p:spPr>
          <a:xfrm>
            <a:off x="7955280" y="3913632"/>
            <a:ext cx="3931920" cy="193852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2" name="Text 60"/>
          <p:cNvSpPr/>
          <p:nvPr/>
        </p:nvSpPr>
        <p:spPr>
          <a:xfrm>
            <a:off x="8065008" y="3968496"/>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Interbeing</a:t>
            </a:r>
            <a:endParaRPr lang="en-US" sz="950" dirty="0"/>
          </a:p>
        </p:txBody>
      </p:sp>
      <p:sp>
        <p:nvSpPr>
          <p:cNvPr id="63" name="Text 61"/>
          <p:cNvSpPr/>
          <p:nvPr/>
        </p:nvSpPr>
        <p:spPr>
          <a:xfrm>
            <a:off x="8065008" y="4201668"/>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Circular Causality / Teleology</a:t>
            </a:r>
            <a:endParaRPr lang="en-US" sz="950" dirty="0"/>
          </a:p>
        </p:txBody>
      </p:sp>
      <p:sp>
        <p:nvSpPr>
          <p:cNvPr id="64" name="Text 62"/>
          <p:cNvSpPr/>
          <p:nvPr/>
        </p:nvSpPr>
        <p:spPr>
          <a:xfrm>
            <a:off x="8065008" y="4434840"/>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Human Hive Mind</a:t>
            </a:r>
            <a:endParaRPr lang="en-US" sz="950" dirty="0"/>
          </a:p>
        </p:txBody>
      </p:sp>
      <p:sp>
        <p:nvSpPr>
          <p:cNvPr id="65" name="Text 63"/>
          <p:cNvSpPr/>
          <p:nvPr/>
        </p:nvSpPr>
        <p:spPr>
          <a:xfrm>
            <a:off x="8065008" y="4668012"/>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Psychoactives / REBUS</a:t>
            </a:r>
            <a:endParaRPr lang="en-US" sz="950" dirty="0"/>
          </a:p>
        </p:txBody>
      </p:sp>
      <p:sp>
        <p:nvSpPr>
          <p:cNvPr id="66" name="Text 64"/>
          <p:cNvSpPr/>
          <p:nvPr/>
        </p:nvSpPr>
        <p:spPr>
          <a:xfrm>
            <a:off x="8065008" y="4901184"/>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Dark-Room Problem</a:t>
            </a:r>
            <a:endParaRPr lang="en-US" sz="950" dirty="0"/>
          </a:p>
        </p:txBody>
      </p:sp>
      <p:sp>
        <p:nvSpPr>
          <p:cNvPr id="67" name="Text 65"/>
          <p:cNvSpPr/>
          <p:nvPr/>
        </p:nvSpPr>
        <p:spPr>
          <a:xfrm>
            <a:off x="8065008" y="5134356"/>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Quantum Biology</a:t>
            </a:r>
            <a:endParaRPr lang="en-US" sz="950" dirty="0"/>
          </a:p>
        </p:txBody>
      </p:sp>
      <p:sp>
        <p:nvSpPr>
          <p:cNvPr id="68" name="Text 66"/>
          <p:cNvSpPr/>
          <p:nvPr/>
        </p:nvSpPr>
        <p:spPr>
          <a:xfrm>
            <a:off x="8065008" y="5367528"/>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Social Contagion</a:t>
            </a:r>
            <a:endParaRPr lang="en-US" sz="950" dirty="0"/>
          </a:p>
        </p:txBody>
      </p:sp>
      <p:sp>
        <p:nvSpPr>
          <p:cNvPr id="69" name="Text 67"/>
          <p:cNvSpPr/>
          <p:nvPr/>
        </p:nvSpPr>
        <p:spPr>
          <a:xfrm>
            <a:off x="8065008" y="5600700"/>
            <a:ext cx="3712464" cy="237744"/>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 Teleological Tokens</a:t>
            </a:r>
            <a:endParaRPr lang="en-US" sz="950" dirty="0"/>
          </a:p>
        </p:txBody>
      </p:sp>
      <p:sp>
        <p:nvSpPr>
          <p:cNvPr id="70" name="Text 68"/>
          <p:cNvSpPr/>
          <p:nvPr/>
        </p:nvSpPr>
        <p:spPr>
          <a:xfrm>
            <a:off x="274320" y="6492240"/>
            <a:ext cx="11612880" cy="274320"/>
          </a:xfrm>
          <a:prstGeom prst="rect">
            <a:avLst/>
          </a:prstGeom>
          <a:noFill/>
          <a:ln/>
        </p:spPr>
        <p:txBody>
          <a:bodyPr wrap="square" rtlCol="0" anchor="ctr"/>
          <a:lstStyle/>
          <a:p>
            <a:pPr algn="r" indent="0" marL="0">
              <a:buNone/>
            </a:pPr>
            <a:r>
              <a:rPr lang="en-US" sz="900" i="1" dirty="0">
                <a:solidFill>
                  <a:srgbClr val="8899BB"/>
                </a:solidFill>
                <a:latin typeface="Calibri" pitchFamily="34" charset="0"/>
                <a:ea typeface="Calibri" pitchFamily="34" charset="-122"/>
                <a:cs typeface="Calibri" pitchFamily="34" charset="-120"/>
              </a:rPr>
              <a:t>Martin Maier (INRS) | JOCN 2026, INFOCOM EIN Workshop, IEEE IS submitted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365760" y="137160"/>
            <a:ext cx="11430000" cy="457200"/>
          </a:xfrm>
          <a:prstGeom prst="rect">
            <a:avLst/>
          </a:prstGeom>
          <a:noFill/>
          <a:ln/>
        </p:spPr>
        <p:txBody>
          <a:bodyPr wrap="square" rtlCol="0" anchor="ctr"/>
          <a:lstStyle/>
          <a:p>
            <a:pPr indent="0" marL="0">
              <a:buNone/>
            </a:pPr>
            <a:r>
              <a:rPr lang="en-US" sz="2000" b="1" dirty="0">
                <a:solidFill>
                  <a:srgbClr val="0D1B3E"/>
                </a:solidFill>
                <a:latin typeface="Calibri" pitchFamily="34" charset="0"/>
                <a:ea typeface="Calibri" pitchFamily="34" charset="-122"/>
                <a:cs typeface="Calibri" pitchFamily="34" charset="-120"/>
              </a:rPr>
              <a:t>Key Concept ①  Active Inference &amp; Free-Energy Principle</a:t>
            </a:r>
            <a:endParaRPr lang="en-US" sz="2000" dirty="0"/>
          </a:p>
        </p:txBody>
      </p:sp>
      <p:sp>
        <p:nvSpPr>
          <p:cNvPr id="3" name="Shape 1"/>
          <p:cNvSpPr/>
          <p:nvPr/>
        </p:nvSpPr>
        <p:spPr>
          <a:xfrm>
            <a:off x="274320" y="685800"/>
            <a:ext cx="73152" cy="1005840"/>
          </a:xfrm>
          <a:prstGeom prst="rect">
            <a:avLst/>
          </a:prstGeom>
          <a:solidFill>
            <a:srgbClr val="1A3A6C"/>
          </a:solidFill>
          <a:ln/>
        </p:spPr>
      </p:sp>
      <p:sp>
        <p:nvSpPr>
          <p:cNvPr id="4" name="Text 2"/>
          <p:cNvSpPr/>
          <p:nvPr/>
        </p:nvSpPr>
        <p:spPr>
          <a:xfrm>
            <a:off x="457200" y="731520"/>
            <a:ext cx="5303520" cy="320040"/>
          </a:xfrm>
          <a:prstGeom prst="rect">
            <a:avLst/>
          </a:prstGeom>
          <a:noFill/>
          <a:ln/>
        </p:spPr>
        <p:txBody>
          <a:bodyPr wrap="square" rtlCol="0" anchor="ctr"/>
          <a:lstStyle/>
          <a:p>
            <a:pPr indent="0" marL="0">
              <a:buNone/>
            </a:pPr>
            <a:r>
              <a:rPr lang="en-US" sz="1200" b="1" dirty="0">
                <a:solidFill>
                  <a:srgbClr val="1A3A6C"/>
                </a:solidFill>
                <a:latin typeface="Calibri" pitchFamily="34" charset="0"/>
                <a:ea typeface="Calibri" pitchFamily="34" charset="-122"/>
                <a:cs typeface="Calibri" pitchFamily="34" charset="-120"/>
              </a:rPr>
              <a:t>Active Inference</a:t>
            </a:r>
            <a:endParaRPr lang="en-US" sz="1200" dirty="0"/>
          </a:p>
        </p:txBody>
      </p:sp>
      <p:sp>
        <p:nvSpPr>
          <p:cNvPr id="5" name="Text 3"/>
          <p:cNvSpPr/>
          <p:nvPr/>
        </p:nvSpPr>
        <p:spPr>
          <a:xfrm>
            <a:off x="457200" y="1033272"/>
            <a:ext cx="5303520" cy="658368"/>
          </a:xfrm>
          <a:prstGeom prst="rect">
            <a:avLst/>
          </a:prstGeom>
          <a:noFill/>
          <a:ln/>
        </p:spPr>
        <p:txBody>
          <a:bodyPr wrap="square" rtlCol="0" anchor="ctr"/>
          <a:lstStyle/>
          <a:p>
            <a:pPr indent="0" marL="0">
              <a:buNone/>
            </a:pPr>
            <a:r>
              <a:rPr lang="en-US" sz="1000" dirty="0">
                <a:solidFill>
                  <a:srgbClr val="0D1B3E"/>
                </a:solidFill>
                <a:latin typeface="Calibri" pitchFamily="34" charset="0"/>
                <a:ea typeface="Calibri" pitchFamily="34" charset="-122"/>
                <a:cs typeface="Calibri" pitchFamily="34" charset="-120"/>
              </a:rPr>
              <a:t>A theory in which the brain does not 'process' data but 'predicts' the world and learns by minimizing prediction errors. Developed by Karl Friston from first principles of statistical physics. Considered the key to resolving core AI limitations in training, learning, and explainability.</a:t>
            </a:r>
            <a:endParaRPr lang="en-US" sz="1000" dirty="0"/>
          </a:p>
        </p:txBody>
      </p:sp>
      <p:sp>
        <p:nvSpPr>
          <p:cNvPr id="6" name="Shape 4"/>
          <p:cNvSpPr/>
          <p:nvPr/>
        </p:nvSpPr>
        <p:spPr>
          <a:xfrm>
            <a:off x="274320" y="1874520"/>
            <a:ext cx="73152" cy="1005840"/>
          </a:xfrm>
          <a:prstGeom prst="rect">
            <a:avLst/>
          </a:prstGeom>
          <a:solidFill>
            <a:srgbClr val="0B7A8C"/>
          </a:solidFill>
          <a:ln/>
        </p:spPr>
      </p:sp>
      <p:sp>
        <p:nvSpPr>
          <p:cNvPr id="7" name="Text 5"/>
          <p:cNvSpPr/>
          <p:nvPr/>
        </p:nvSpPr>
        <p:spPr>
          <a:xfrm>
            <a:off x="457200" y="1920240"/>
            <a:ext cx="5303520" cy="320040"/>
          </a:xfrm>
          <a:prstGeom prst="rect">
            <a:avLst/>
          </a:prstGeom>
          <a:noFill/>
          <a:ln/>
        </p:spPr>
        <p:txBody>
          <a:bodyPr wrap="square" rtlCol="0" anchor="ctr"/>
          <a:lstStyle/>
          <a:p>
            <a:pPr indent="0" marL="0">
              <a:buNone/>
            </a:pPr>
            <a:r>
              <a:rPr lang="en-US" sz="1200" b="1" dirty="0">
                <a:solidFill>
                  <a:srgbClr val="0B7A8C"/>
                </a:solidFill>
                <a:latin typeface="Calibri" pitchFamily="34" charset="0"/>
                <a:ea typeface="Calibri" pitchFamily="34" charset="-122"/>
                <a:cs typeface="Calibri" pitchFamily="34" charset="-120"/>
              </a:rPr>
              <a:t>Free-Energy Principle (FEP)</a:t>
            </a:r>
            <a:endParaRPr lang="en-US" sz="1200" dirty="0"/>
          </a:p>
        </p:txBody>
      </p:sp>
      <p:sp>
        <p:nvSpPr>
          <p:cNvPr id="8" name="Text 6"/>
          <p:cNvSpPr/>
          <p:nvPr/>
        </p:nvSpPr>
        <p:spPr>
          <a:xfrm>
            <a:off x="457200" y="2221992"/>
            <a:ext cx="5303520" cy="658368"/>
          </a:xfrm>
          <a:prstGeom prst="rect">
            <a:avLst/>
          </a:prstGeom>
          <a:noFill/>
          <a:ln/>
        </p:spPr>
        <p:txBody>
          <a:bodyPr wrap="square" rtlCol="0" anchor="ctr"/>
          <a:lstStyle/>
          <a:p>
            <a:pPr indent="0" marL="0">
              <a:buNone/>
            </a:pPr>
            <a:r>
              <a:rPr lang="en-US" sz="1000" dirty="0">
                <a:solidFill>
                  <a:srgbClr val="0D1B3E"/>
                </a:solidFill>
                <a:latin typeface="Calibri" pitchFamily="34" charset="0"/>
                <a:ea typeface="Calibri" pitchFamily="34" charset="-122"/>
                <a:cs typeface="Calibri" pitchFamily="34" charset="-120"/>
              </a:rPr>
              <a:t>A mathematical principle stating that living systems survive by minimizing 'Surprise.' Explains how organisms resist entropy increase (disorder = death). Expressed as Variational Free Energy F (present) and Expected Free Energy G (future).</a:t>
            </a:r>
            <a:endParaRPr lang="en-US" sz="1000" dirty="0"/>
          </a:p>
        </p:txBody>
      </p:sp>
      <p:sp>
        <p:nvSpPr>
          <p:cNvPr id="9" name="Shape 7"/>
          <p:cNvSpPr/>
          <p:nvPr/>
        </p:nvSpPr>
        <p:spPr>
          <a:xfrm>
            <a:off x="274320" y="3063240"/>
            <a:ext cx="73152" cy="1005840"/>
          </a:xfrm>
          <a:prstGeom prst="rect">
            <a:avLst/>
          </a:prstGeom>
          <a:solidFill>
            <a:srgbClr val="5A3080"/>
          </a:solidFill>
          <a:ln/>
        </p:spPr>
      </p:sp>
      <p:sp>
        <p:nvSpPr>
          <p:cNvPr id="10" name="Text 8"/>
          <p:cNvSpPr/>
          <p:nvPr/>
        </p:nvSpPr>
        <p:spPr>
          <a:xfrm>
            <a:off x="457200" y="3108960"/>
            <a:ext cx="5303520" cy="320040"/>
          </a:xfrm>
          <a:prstGeom prst="rect">
            <a:avLst/>
          </a:prstGeom>
          <a:noFill/>
          <a:ln/>
        </p:spPr>
        <p:txBody>
          <a:bodyPr wrap="square" rtlCol="0" anchor="ctr"/>
          <a:lstStyle/>
          <a:p>
            <a:pPr indent="0" marL="0">
              <a:buNone/>
            </a:pPr>
            <a:r>
              <a:rPr lang="en-US" sz="1200" b="1" dirty="0">
                <a:solidFill>
                  <a:srgbClr val="5A3080"/>
                </a:solidFill>
                <a:latin typeface="Calibri" pitchFamily="34" charset="0"/>
                <a:ea typeface="Calibri" pitchFamily="34" charset="-122"/>
                <a:cs typeface="Calibri" pitchFamily="34" charset="-120"/>
              </a:rPr>
              <a:t>Markov Blanket</a:t>
            </a:r>
            <a:endParaRPr lang="en-US" sz="1200" dirty="0"/>
          </a:p>
        </p:txBody>
      </p:sp>
      <p:sp>
        <p:nvSpPr>
          <p:cNvPr id="11" name="Text 9"/>
          <p:cNvSpPr/>
          <p:nvPr/>
        </p:nvSpPr>
        <p:spPr>
          <a:xfrm>
            <a:off x="457200" y="3410712"/>
            <a:ext cx="5303520" cy="658368"/>
          </a:xfrm>
          <a:prstGeom prst="rect">
            <a:avLst/>
          </a:prstGeom>
          <a:noFill/>
          <a:ln/>
        </p:spPr>
        <p:txBody>
          <a:bodyPr wrap="square" rtlCol="0" anchor="ctr"/>
          <a:lstStyle/>
          <a:p>
            <a:pPr indent="0" marL="0">
              <a:buNone/>
            </a:pPr>
            <a:r>
              <a:rPr lang="en-US" sz="1000" dirty="0">
                <a:solidFill>
                  <a:srgbClr val="0D1B3E"/>
                </a:solidFill>
                <a:latin typeface="Calibri" pitchFamily="34" charset="0"/>
                <a:ea typeface="Calibri" pitchFamily="34" charset="-122"/>
                <a:cs typeface="Calibri" pitchFamily="34" charset="-120"/>
              </a:rPr>
              <a:t>Mathematically defines the interface between an AI agent and its environment, consisting of action states (u) and perception states (y). Without a Markov blanket, an agent dissolves into the environment (= maximum entropy = death).</a:t>
            </a:r>
            <a:endParaRPr lang="en-US" sz="1000" dirty="0"/>
          </a:p>
        </p:txBody>
      </p:sp>
      <p:sp>
        <p:nvSpPr>
          <p:cNvPr id="12" name="Shape 10"/>
          <p:cNvSpPr/>
          <p:nvPr/>
        </p:nvSpPr>
        <p:spPr>
          <a:xfrm>
            <a:off x="274320" y="4251960"/>
            <a:ext cx="73152" cy="1005840"/>
          </a:xfrm>
          <a:prstGeom prst="rect">
            <a:avLst/>
          </a:prstGeom>
          <a:solidFill>
            <a:srgbClr val="1A6E3A"/>
          </a:solidFill>
          <a:ln/>
        </p:spPr>
      </p:sp>
      <p:sp>
        <p:nvSpPr>
          <p:cNvPr id="13" name="Text 11"/>
          <p:cNvSpPr/>
          <p:nvPr/>
        </p:nvSpPr>
        <p:spPr>
          <a:xfrm>
            <a:off x="457200" y="4297680"/>
            <a:ext cx="5303520" cy="320040"/>
          </a:xfrm>
          <a:prstGeom prst="rect">
            <a:avLst/>
          </a:prstGeom>
          <a:noFill/>
          <a:ln/>
        </p:spPr>
        <p:txBody>
          <a:bodyPr wrap="square" rtlCol="0" anchor="ctr"/>
          <a:lstStyle/>
          <a:p>
            <a:pPr indent="0" marL="0">
              <a:buNone/>
            </a:pPr>
            <a:r>
              <a:rPr lang="en-US" sz="1200" b="1" dirty="0">
                <a:solidFill>
                  <a:srgbClr val="1A6E3A"/>
                </a:solidFill>
                <a:latin typeface="Calibri" pitchFamily="34" charset="0"/>
                <a:ea typeface="Calibri" pitchFamily="34" charset="-122"/>
                <a:cs typeface="Calibri" pitchFamily="34" charset="-120"/>
              </a:rPr>
              <a:t>Generative Model vs. Generative Process</a:t>
            </a:r>
            <a:endParaRPr lang="en-US" sz="1200" dirty="0"/>
          </a:p>
        </p:txBody>
      </p:sp>
      <p:sp>
        <p:nvSpPr>
          <p:cNvPr id="14" name="Text 12"/>
          <p:cNvSpPr/>
          <p:nvPr/>
        </p:nvSpPr>
        <p:spPr>
          <a:xfrm>
            <a:off x="457200" y="4599432"/>
            <a:ext cx="5303520" cy="658368"/>
          </a:xfrm>
          <a:prstGeom prst="rect">
            <a:avLst/>
          </a:prstGeom>
          <a:noFill/>
          <a:ln/>
        </p:spPr>
        <p:txBody>
          <a:bodyPr wrap="square" rtlCol="0" anchor="ctr"/>
          <a:lstStyle/>
          <a:p>
            <a:pPr indent="0" marL="0">
              <a:buNone/>
            </a:pPr>
            <a:r>
              <a:rPr lang="en-US" sz="1000" dirty="0">
                <a:solidFill>
                  <a:srgbClr val="0D1B3E"/>
                </a:solidFill>
                <a:latin typeface="Calibri" pitchFamily="34" charset="0"/>
                <a:ea typeface="Calibri" pitchFamily="34" charset="-122"/>
                <a:cs typeface="Calibri" pitchFamily="34" charset="-120"/>
              </a:rPr>
              <a:t>Generative Process: the actual dynamics of the external world. Generative Model: the agent's internal simulation of the world. The central challenge of Active Inference: finding the model that best matches the process.</a:t>
            </a:r>
            <a:endParaRPr lang="en-US" sz="1000" dirty="0"/>
          </a:p>
        </p:txBody>
      </p:sp>
      <p:sp>
        <p:nvSpPr>
          <p:cNvPr id="15" name="Shape 13"/>
          <p:cNvSpPr/>
          <p:nvPr/>
        </p:nvSpPr>
        <p:spPr>
          <a:xfrm>
            <a:off x="274320" y="5440680"/>
            <a:ext cx="73152" cy="1005840"/>
          </a:xfrm>
          <a:prstGeom prst="rect">
            <a:avLst/>
          </a:prstGeom>
          <a:solidFill>
            <a:srgbClr val="7A3010"/>
          </a:solidFill>
          <a:ln/>
        </p:spPr>
      </p:sp>
      <p:sp>
        <p:nvSpPr>
          <p:cNvPr id="16" name="Text 14"/>
          <p:cNvSpPr/>
          <p:nvPr/>
        </p:nvSpPr>
        <p:spPr>
          <a:xfrm>
            <a:off x="457200" y="5486400"/>
            <a:ext cx="5303520" cy="320040"/>
          </a:xfrm>
          <a:prstGeom prst="rect">
            <a:avLst/>
          </a:prstGeom>
          <a:noFill/>
          <a:ln/>
        </p:spPr>
        <p:txBody>
          <a:bodyPr wrap="square" rtlCol="0" anchor="ctr"/>
          <a:lstStyle/>
          <a:p>
            <a:pPr indent="0" marL="0">
              <a:buNone/>
            </a:pPr>
            <a:r>
              <a:rPr lang="en-US" sz="1200" b="1" dirty="0">
                <a:solidFill>
                  <a:srgbClr val="7A3010"/>
                </a:solidFill>
                <a:latin typeface="Calibri" pitchFamily="34" charset="0"/>
                <a:ea typeface="Calibri" pitchFamily="34" charset="-122"/>
                <a:cs typeface="Calibri" pitchFamily="34" charset="-120"/>
              </a:rPr>
              <a:t>Action-Perception Loop</a:t>
            </a:r>
            <a:endParaRPr lang="en-US" sz="1200" dirty="0"/>
          </a:p>
        </p:txBody>
      </p:sp>
      <p:sp>
        <p:nvSpPr>
          <p:cNvPr id="17" name="Text 15"/>
          <p:cNvSpPr/>
          <p:nvPr/>
        </p:nvSpPr>
        <p:spPr>
          <a:xfrm>
            <a:off x="457200" y="5788152"/>
            <a:ext cx="5303520" cy="658368"/>
          </a:xfrm>
          <a:prstGeom prst="rect">
            <a:avLst/>
          </a:prstGeom>
          <a:noFill/>
          <a:ln/>
        </p:spPr>
        <p:txBody>
          <a:bodyPr wrap="square" rtlCol="0" anchor="ctr"/>
          <a:lstStyle/>
          <a:p>
            <a:pPr indent="0" marL="0">
              <a:buNone/>
            </a:pPr>
            <a:r>
              <a:rPr lang="en-US" sz="1000" dirty="0">
                <a:solidFill>
                  <a:srgbClr val="0D1B3E"/>
                </a:solidFill>
                <a:latin typeface="Calibri" pitchFamily="34" charset="0"/>
                <a:ea typeface="Calibri" pitchFamily="34" charset="-122"/>
                <a:cs typeface="Calibri" pitchFamily="34" charset="-120"/>
              </a:rPr>
              <a:t>Living organisms achieve Lifelong Learning through continuous interaction cycles with their environment — a capability completely absent in today's AI. Studied in robotics since the 1990s.</a:t>
            </a:r>
            <a:endParaRPr lang="en-US" sz="1000" dirty="0"/>
          </a:p>
        </p:txBody>
      </p:sp>
      <p:sp>
        <p:nvSpPr>
          <p:cNvPr id="18" name="Shape 16"/>
          <p:cNvSpPr/>
          <p:nvPr/>
        </p:nvSpPr>
        <p:spPr>
          <a:xfrm>
            <a:off x="6400800" y="594360"/>
            <a:ext cx="5486400" cy="347472"/>
          </a:xfrm>
          <a:prstGeom prst="rect">
            <a:avLst/>
          </a:prstGeom>
          <a:solidFill>
            <a:srgbClr val="0D1B3E"/>
          </a:solidFill>
          <a:ln/>
        </p:spPr>
      </p:sp>
      <p:sp>
        <p:nvSpPr>
          <p:cNvPr id="19" name="Text 17"/>
          <p:cNvSpPr/>
          <p:nvPr/>
        </p:nvSpPr>
        <p:spPr>
          <a:xfrm>
            <a:off x="6400800" y="594360"/>
            <a:ext cx="54864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Velsanet Whitepaper Alignment</a:t>
            </a:r>
            <a:endParaRPr lang="en-US" sz="1200" dirty="0"/>
          </a:p>
        </p:txBody>
      </p:sp>
      <p:sp>
        <p:nvSpPr>
          <p:cNvPr id="20" name="Shape 18"/>
          <p:cNvSpPr/>
          <p:nvPr/>
        </p:nvSpPr>
        <p:spPr>
          <a:xfrm>
            <a:off x="6400800" y="1024128"/>
            <a:ext cx="5486400" cy="1024128"/>
          </a:xfrm>
          <a:prstGeom prst="rect">
            <a:avLst/>
          </a:prstGeom>
          <a:solidFill>
            <a:srgbClr val="F8FAFF"/>
          </a:solidFill>
          <a:ln/>
          <a:effectLst>
            <a:outerShdw sx="100000" sy="100000" kx="0" ky="0" algn="bl" rotWithShape="0" blurRad="101600" dist="38100" dir="8100000">
              <a:srgbClr val="000000">
                <a:alpha val="12000"/>
              </a:srgbClr>
            </a:outerShdw>
          </a:effectLst>
        </p:spPr>
      </p:sp>
      <p:sp>
        <p:nvSpPr>
          <p:cNvPr id="21" name="Text 19"/>
          <p:cNvSpPr/>
          <p:nvPr/>
        </p:nvSpPr>
        <p:spPr>
          <a:xfrm>
            <a:off x="6492240" y="1088136"/>
            <a:ext cx="3657600" cy="256032"/>
          </a:xfrm>
          <a:prstGeom prst="rect">
            <a:avLst/>
          </a:prstGeom>
          <a:noFill/>
          <a:ln/>
        </p:spPr>
        <p:txBody>
          <a:bodyPr wrap="square" rtlCol="0" anchor="ctr"/>
          <a:lstStyle/>
          <a:p>
            <a:pPr indent="0" marL="0">
              <a:buNone/>
            </a:pPr>
            <a:r>
              <a:rPr lang="en-US" sz="1050" b="1" dirty="0">
                <a:solidFill>
                  <a:srgbClr val="1A3A6C"/>
                </a:solidFill>
                <a:latin typeface="Calibri" pitchFamily="34" charset="0"/>
                <a:ea typeface="Calibri" pitchFamily="34" charset="-122"/>
                <a:cs typeface="Calibri" pitchFamily="34" charset="-120"/>
              </a:rPr>
              <a:t>WP #08 AI Architecture</a:t>
            </a:r>
            <a:endParaRPr lang="en-US" sz="1050" dirty="0"/>
          </a:p>
        </p:txBody>
      </p:sp>
      <p:sp>
        <p:nvSpPr>
          <p:cNvPr id="22" name="Shape 20"/>
          <p:cNvSpPr/>
          <p:nvPr/>
        </p:nvSpPr>
        <p:spPr>
          <a:xfrm>
            <a:off x="10149840" y="1088136"/>
            <a:ext cx="1600200" cy="237744"/>
          </a:xfrm>
          <a:prstGeom prst="roundRect">
            <a:avLst>
              <a:gd name="adj" fmla="val 11538"/>
            </a:avLst>
          </a:prstGeom>
          <a:solidFill>
            <a:srgbClr val="1A4E20"/>
          </a:solidFill>
          <a:ln/>
        </p:spPr>
      </p:sp>
      <p:sp>
        <p:nvSpPr>
          <p:cNvPr id="23" name="Text 21"/>
          <p:cNvSpPr/>
          <p:nvPr/>
        </p:nvSpPr>
        <p:spPr>
          <a:xfrm>
            <a:off x="10149840" y="1088136"/>
            <a:ext cx="16002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Full Alignment</a:t>
            </a:r>
            <a:endParaRPr lang="en-US" sz="850" dirty="0"/>
          </a:p>
        </p:txBody>
      </p:sp>
      <p:sp>
        <p:nvSpPr>
          <p:cNvPr id="24" name="Text 22"/>
          <p:cNvSpPr/>
          <p:nvPr/>
        </p:nvSpPr>
        <p:spPr>
          <a:xfrm>
            <a:off x="6492240" y="1371600"/>
            <a:ext cx="5303520" cy="594360"/>
          </a:xfrm>
          <a:prstGeom prst="rect">
            <a:avLst/>
          </a:prstGeom>
          <a:noFill/>
          <a:ln/>
        </p:spPr>
        <p:txBody>
          <a:bodyPr wrap="square" rtlCol="0" anchor="ctr"/>
          <a:lstStyle/>
          <a:p>
            <a:pPr indent="0" marL="0">
              <a:buNone/>
            </a:pPr>
            <a:r>
              <a:rPr lang="en-US" sz="950" dirty="0">
                <a:solidFill>
                  <a:srgbClr val="2A3A5A"/>
                </a:solidFill>
                <a:latin typeface="Calibri" pitchFamily="34" charset="0"/>
                <a:ea typeface="Calibri" pitchFamily="34" charset="-122"/>
                <a:cs typeface="Calibri" pitchFamily="34" charset="-120"/>
              </a:rPr>
              <a:t>PAI/AAI/AsAI 3-layer structure is identical to Active Inference's hierarchical nested Markov Blanket architecture. Each layer operates as an independent free-energy minimizing agent.</a:t>
            </a:r>
            <a:endParaRPr lang="en-US" sz="950" dirty="0"/>
          </a:p>
        </p:txBody>
      </p:sp>
      <p:sp>
        <p:nvSpPr>
          <p:cNvPr id="25" name="Shape 23"/>
          <p:cNvSpPr/>
          <p:nvPr/>
        </p:nvSpPr>
        <p:spPr>
          <a:xfrm>
            <a:off x="6400800" y="2139696"/>
            <a:ext cx="5486400" cy="1024128"/>
          </a:xfrm>
          <a:prstGeom prst="rect">
            <a:avLst/>
          </a:prstGeom>
          <a:solidFill>
            <a:srgbClr val="F8FAFF"/>
          </a:solidFill>
          <a:ln/>
          <a:effectLst>
            <a:outerShdw sx="100000" sy="100000" kx="0" ky="0" algn="bl" rotWithShape="0" blurRad="101600" dist="38100" dir="8100000">
              <a:srgbClr val="000000">
                <a:alpha val="12000"/>
              </a:srgbClr>
            </a:outerShdw>
          </a:effectLst>
        </p:spPr>
      </p:sp>
      <p:sp>
        <p:nvSpPr>
          <p:cNvPr id="26" name="Text 24"/>
          <p:cNvSpPr/>
          <p:nvPr/>
        </p:nvSpPr>
        <p:spPr>
          <a:xfrm>
            <a:off x="6492240" y="2203704"/>
            <a:ext cx="3657600" cy="256032"/>
          </a:xfrm>
          <a:prstGeom prst="rect">
            <a:avLst/>
          </a:prstGeom>
          <a:noFill/>
          <a:ln/>
        </p:spPr>
        <p:txBody>
          <a:bodyPr wrap="square" rtlCol="0" anchor="ctr"/>
          <a:lstStyle/>
          <a:p>
            <a:pPr indent="0" marL="0">
              <a:buNone/>
            </a:pPr>
            <a:r>
              <a:rPr lang="en-US" sz="1050" b="1" dirty="0">
                <a:solidFill>
                  <a:srgbClr val="1A3A6C"/>
                </a:solidFill>
                <a:latin typeface="Calibri" pitchFamily="34" charset="0"/>
                <a:ea typeface="Calibri" pitchFamily="34" charset="-122"/>
                <a:cs typeface="Calibri" pitchFamily="34" charset="-120"/>
              </a:rPr>
              <a:t>WP #09 Three-Layer AI System</a:t>
            </a:r>
            <a:endParaRPr lang="en-US" sz="1050" dirty="0"/>
          </a:p>
        </p:txBody>
      </p:sp>
      <p:sp>
        <p:nvSpPr>
          <p:cNvPr id="27" name="Shape 25"/>
          <p:cNvSpPr/>
          <p:nvPr/>
        </p:nvSpPr>
        <p:spPr>
          <a:xfrm>
            <a:off x="10149840" y="2203704"/>
            <a:ext cx="1600200" cy="237744"/>
          </a:xfrm>
          <a:prstGeom prst="roundRect">
            <a:avLst>
              <a:gd name="adj" fmla="val 11538"/>
            </a:avLst>
          </a:prstGeom>
          <a:solidFill>
            <a:srgbClr val="1A4E20"/>
          </a:solidFill>
          <a:ln/>
        </p:spPr>
      </p:sp>
      <p:sp>
        <p:nvSpPr>
          <p:cNvPr id="28" name="Text 26"/>
          <p:cNvSpPr/>
          <p:nvPr/>
        </p:nvSpPr>
        <p:spPr>
          <a:xfrm>
            <a:off x="10149840" y="2203704"/>
            <a:ext cx="16002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Full Alignment</a:t>
            </a:r>
            <a:endParaRPr lang="en-US" sz="850" dirty="0"/>
          </a:p>
        </p:txBody>
      </p:sp>
      <p:sp>
        <p:nvSpPr>
          <p:cNvPr id="29" name="Text 27"/>
          <p:cNvSpPr/>
          <p:nvPr/>
        </p:nvSpPr>
        <p:spPr>
          <a:xfrm>
            <a:off x="6492240" y="2487168"/>
            <a:ext cx="5303520" cy="594360"/>
          </a:xfrm>
          <a:prstGeom prst="rect">
            <a:avLst/>
          </a:prstGeom>
          <a:noFill/>
          <a:ln/>
        </p:spPr>
        <p:txBody>
          <a:bodyPr wrap="square" rtlCol="0" anchor="ctr"/>
          <a:lstStyle/>
          <a:p>
            <a:pPr indent="0" marL="0">
              <a:buNone/>
            </a:pPr>
            <a:r>
              <a:rPr lang="en-US" sz="950" dirty="0">
                <a:solidFill>
                  <a:srgbClr val="2A3A5A"/>
                </a:solidFill>
                <a:latin typeface="Calibri" pitchFamily="34" charset="0"/>
                <a:ea typeface="Calibri" pitchFamily="34" charset="-122"/>
                <a:cs typeface="Calibri" pitchFamily="34" charset="-120"/>
              </a:rPr>
              <a:t>PAI's SEU-based experience accumulation = Active Inference's Generative Model construction process. The transition from experience to cognition mirrors the FEP framework.</a:t>
            </a:r>
            <a:endParaRPr lang="en-US" sz="950" dirty="0"/>
          </a:p>
        </p:txBody>
      </p:sp>
      <p:sp>
        <p:nvSpPr>
          <p:cNvPr id="30" name="Shape 28"/>
          <p:cNvSpPr/>
          <p:nvPr/>
        </p:nvSpPr>
        <p:spPr>
          <a:xfrm>
            <a:off x="6400800" y="3255264"/>
            <a:ext cx="5486400" cy="1024128"/>
          </a:xfrm>
          <a:prstGeom prst="rect">
            <a:avLst/>
          </a:prstGeom>
          <a:solidFill>
            <a:srgbClr val="F8FAFF"/>
          </a:solidFill>
          <a:ln/>
          <a:effectLst>
            <a:outerShdw sx="100000" sy="100000" kx="0" ky="0" algn="bl" rotWithShape="0" blurRad="101600" dist="38100" dir="8100000">
              <a:srgbClr val="000000">
                <a:alpha val="12000"/>
              </a:srgbClr>
            </a:outerShdw>
          </a:effectLst>
        </p:spPr>
      </p:sp>
      <p:sp>
        <p:nvSpPr>
          <p:cNvPr id="31" name="Text 29"/>
          <p:cNvSpPr/>
          <p:nvPr/>
        </p:nvSpPr>
        <p:spPr>
          <a:xfrm>
            <a:off x="6492240" y="3319272"/>
            <a:ext cx="3657600" cy="256032"/>
          </a:xfrm>
          <a:prstGeom prst="rect">
            <a:avLst/>
          </a:prstGeom>
          <a:noFill/>
          <a:ln/>
        </p:spPr>
        <p:txBody>
          <a:bodyPr wrap="square" rtlCol="0" anchor="ctr"/>
          <a:lstStyle/>
          <a:p>
            <a:pPr indent="0" marL="0">
              <a:buNone/>
            </a:pPr>
            <a:r>
              <a:rPr lang="en-US" sz="1050" b="1" dirty="0">
                <a:solidFill>
                  <a:srgbClr val="1A3A6C"/>
                </a:solidFill>
                <a:latin typeface="Calibri" pitchFamily="34" charset="0"/>
                <a:ea typeface="Calibri" pitchFamily="34" charset="-122"/>
                <a:cs typeface="Calibri" pitchFamily="34" charset="-120"/>
              </a:rPr>
              <a:t>WP #19 Cognition Cube System</a:t>
            </a:r>
            <a:endParaRPr lang="en-US" sz="1050" dirty="0"/>
          </a:p>
        </p:txBody>
      </p:sp>
      <p:sp>
        <p:nvSpPr>
          <p:cNvPr id="32" name="Shape 30"/>
          <p:cNvSpPr/>
          <p:nvPr/>
        </p:nvSpPr>
        <p:spPr>
          <a:xfrm>
            <a:off x="10149840" y="3319272"/>
            <a:ext cx="1600200" cy="237744"/>
          </a:xfrm>
          <a:prstGeom prst="roundRect">
            <a:avLst>
              <a:gd name="adj" fmla="val 11538"/>
            </a:avLst>
          </a:prstGeom>
          <a:solidFill>
            <a:srgbClr val="1A4E20"/>
          </a:solidFill>
          <a:ln/>
        </p:spPr>
      </p:sp>
      <p:sp>
        <p:nvSpPr>
          <p:cNvPr id="33" name="Text 31"/>
          <p:cNvSpPr/>
          <p:nvPr/>
        </p:nvSpPr>
        <p:spPr>
          <a:xfrm>
            <a:off x="10149840" y="3319272"/>
            <a:ext cx="16002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Core Alignment</a:t>
            </a:r>
            <a:endParaRPr lang="en-US" sz="850" dirty="0"/>
          </a:p>
        </p:txBody>
      </p:sp>
      <p:sp>
        <p:nvSpPr>
          <p:cNvPr id="34" name="Text 32"/>
          <p:cNvSpPr/>
          <p:nvPr/>
        </p:nvSpPr>
        <p:spPr>
          <a:xfrm>
            <a:off x="6492240" y="3602736"/>
            <a:ext cx="5303520" cy="594360"/>
          </a:xfrm>
          <a:prstGeom prst="rect">
            <a:avLst/>
          </a:prstGeom>
          <a:noFill/>
          <a:ln/>
        </p:spPr>
        <p:txBody>
          <a:bodyPr wrap="square" rtlCol="0" anchor="ctr"/>
          <a:lstStyle/>
          <a:p>
            <a:pPr indent="0" marL="0">
              <a:buNone/>
            </a:pPr>
            <a:r>
              <a:rPr lang="en-US" sz="950" dirty="0">
                <a:solidFill>
                  <a:srgbClr val="2A3A5A"/>
                </a:solidFill>
                <a:latin typeface="Calibri" pitchFamily="34" charset="0"/>
                <a:ea typeface="Calibri" pitchFamily="34" charset="-122"/>
                <a:cs typeface="Calibri" pitchFamily="34" charset="-120"/>
              </a:rPr>
              <a:t>SEU (Signal Experience Unit) = the minimal experiential unit that Maier describes as 'a child learning with only a few experiences.' T/C/I/E 4 axes = structural implementation of the Action-Perception Loop.</a:t>
            </a:r>
            <a:endParaRPr lang="en-US" sz="950" dirty="0"/>
          </a:p>
        </p:txBody>
      </p:sp>
      <p:sp>
        <p:nvSpPr>
          <p:cNvPr id="35" name="Shape 33"/>
          <p:cNvSpPr/>
          <p:nvPr/>
        </p:nvSpPr>
        <p:spPr>
          <a:xfrm>
            <a:off x="6400800" y="4370832"/>
            <a:ext cx="5486400" cy="1024128"/>
          </a:xfrm>
          <a:prstGeom prst="rect">
            <a:avLst/>
          </a:prstGeom>
          <a:solidFill>
            <a:srgbClr val="F8FAFF"/>
          </a:solidFill>
          <a:ln/>
          <a:effectLst>
            <a:outerShdw sx="100000" sy="100000" kx="0" ky="0" algn="bl" rotWithShape="0" blurRad="101600" dist="38100" dir="8100000">
              <a:srgbClr val="000000">
                <a:alpha val="12000"/>
              </a:srgbClr>
            </a:outerShdw>
          </a:effectLst>
        </p:spPr>
      </p:sp>
      <p:sp>
        <p:nvSpPr>
          <p:cNvPr id="36" name="Text 34"/>
          <p:cNvSpPr/>
          <p:nvPr/>
        </p:nvSpPr>
        <p:spPr>
          <a:xfrm>
            <a:off x="6492240" y="4434840"/>
            <a:ext cx="3657600" cy="256032"/>
          </a:xfrm>
          <a:prstGeom prst="rect">
            <a:avLst/>
          </a:prstGeom>
          <a:noFill/>
          <a:ln/>
        </p:spPr>
        <p:txBody>
          <a:bodyPr wrap="square" rtlCol="0" anchor="ctr"/>
          <a:lstStyle/>
          <a:p>
            <a:pPr indent="0" marL="0">
              <a:buNone/>
            </a:pPr>
            <a:r>
              <a:rPr lang="en-US" sz="1050" b="1" dirty="0">
                <a:solidFill>
                  <a:srgbClr val="1A3A6C"/>
                </a:solidFill>
                <a:latin typeface="Calibri" pitchFamily="34" charset="0"/>
                <a:ea typeface="Calibri" pitchFamily="34" charset="-122"/>
                <a:cs typeface="Calibri" pitchFamily="34" charset="-120"/>
              </a:rPr>
              <a:t>WP #06 Multimodal-to-Cube Memory</a:t>
            </a:r>
            <a:endParaRPr lang="en-US" sz="1050" dirty="0"/>
          </a:p>
        </p:txBody>
      </p:sp>
      <p:sp>
        <p:nvSpPr>
          <p:cNvPr id="37" name="Shape 35"/>
          <p:cNvSpPr/>
          <p:nvPr/>
        </p:nvSpPr>
        <p:spPr>
          <a:xfrm>
            <a:off x="10149840" y="4434840"/>
            <a:ext cx="1600200" cy="237744"/>
          </a:xfrm>
          <a:prstGeom prst="roundRect">
            <a:avLst>
              <a:gd name="adj" fmla="val 11538"/>
            </a:avLst>
          </a:prstGeom>
          <a:solidFill>
            <a:srgbClr val="1A4E20"/>
          </a:solidFill>
          <a:ln/>
        </p:spPr>
      </p:sp>
      <p:sp>
        <p:nvSpPr>
          <p:cNvPr id="38" name="Text 36"/>
          <p:cNvSpPr/>
          <p:nvPr/>
        </p:nvSpPr>
        <p:spPr>
          <a:xfrm>
            <a:off x="10149840" y="4434840"/>
            <a:ext cx="16002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Alignment</a:t>
            </a:r>
            <a:endParaRPr lang="en-US" sz="850" dirty="0"/>
          </a:p>
        </p:txBody>
      </p:sp>
      <p:sp>
        <p:nvSpPr>
          <p:cNvPr id="39" name="Text 37"/>
          <p:cNvSpPr/>
          <p:nvPr/>
        </p:nvSpPr>
        <p:spPr>
          <a:xfrm>
            <a:off x="6492240" y="4718304"/>
            <a:ext cx="5303520" cy="594360"/>
          </a:xfrm>
          <a:prstGeom prst="rect">
            <a:avLst/>
          </a:prstGeom>
          <a:noFill/>
          <a:ln/>
        </p:spPr>
        <p:txBody>
          <a:bodyPr wrap="square" rtlCol="0" anchor="ctr"/>
          <a:lstStyle/>
          <a:p>
            <a:pPr indent="0" marL="0">
              <a:buNone/>
            </a:pPr>
            <a:r>
              <a:rPr lang="en-US" sz="950" dirty="0">
                <a:solidFill>
                  <a:srgbClr val="2A3A5A"/>
                </a:solidFill>
                <a:latin typeface="Calibri" pitchFamily="34" charset="0"/>
                <a:ea typeface="Calibri" pitchFamily="34" charset="-122"/>
                <a:cs typeface="Calibri" pitchFamily="34" charset="-120"/>
              </a:rPr>
              <a:t>Raw Memory Layer (immutable storage) = Generative Process preservation. Cube Memory Layer = semantic indexing of the Generative Model.</a:t>
            </a:r>
            <a:endParaRPr lang="en-US" sz="950" dirty="0"/>
          </a:p>
        </p:txBody>
      </p:sp>
      <p:sp>
        <p:nvSpPr>
          <p:cNvPr id="40" name="Shape 38"/>
          <p:cNvSpPr/>
          <p:nvPr/>
        </p:nvSpPr>
        <p:spPr>
          <a:xfrm>
            <a:off x="6400800" y="5486400"/>
            <a:ext cx="5486400" cy="1024128"/>
          </a:xfrm>
          <a:prstGeom prst="rect">
            <a:avLst/>
          </a:prstGeom>
          <a:solidFill>
            <a:srgbClr val="F8FAFF"/>
          </a:solidFill>
          <a:ln/>
          <a:effectLst>
            <a:outerShdw sx="100000" sy="100000" kx="0" ky="0" algn="bl" rotWithShape="0" blurRad="101600" dist="38100" dir="8100000">
              <a:srgbClr val="000000">
                <a:alpha val="12000"/>
              </a:srgbClr>
            </a:outerShdw>
          </a:effectLst>
        </p:spPr>
      </p:sp>
      <p:sp>
        <p:nvSpPr>
          <p:cNvPr id="41" name="Text 39"/>
          <p:cNvSpPr/>
          <p:nvPr/>
        </p:nvSpPr>
        <p:spPr>
          <a:xfrm>
            <a:off x="6492240" y="5550408"/>
            <a:ext cx="3657600" cy="256032"/>
          </a:xfrm>
          <a:prstGeom prst="rect">
            <a:avLst/>
          </a:prstGeom>
          <a:noFill/>
          <a:ln/>
        </p:spPr>
        <p:txBody>
          <a:bodyPr wrap="square" rtlCol="0" anchor="ctr"/>
          <a:lstStyle/>
          <a:p>
            <a:pPr indent="0" marL="0">
              <a:buNone/>
            </a:pPr>
            <a:r>
              <a:rPr lang="en-US" sz="1050" b="1" dirty="0">
                <a:solidFill>
                  <a:srgbClr val="1A3A6C"/>
                </a:solidFill>
                <a:latin typeface="Calibri" pitchFamily="34" charset="0"/>
                <a:ea typeface="Calibri" pitchFamily="34" charset="-122"/>
                <a:cs typeface="Calibri" pitchFamily="34" charset="-120"/>
              </a:rPr>
              <a:t>WP #01 Network Architecture</a:t>
            </a:r>
            <a:endParaRPr lang="en-US" sz="1050" dirty="0"/>
          </a:p>
        </p:txBody>
      </p:sp>
      <p:sp>
        <p:nvSpPr>
          <p:cNvPr id="42" name="Shape 40"/>
          <p:cNvSpPr/>
          <p:nvPr/>
        </p:nvSpPr>
        <p:spPr>
          <a:xfrm>
            <a:off x="10149840" y="5550408"/>
            <a:ext cx="1600200" cy="237744"/>
          </a:xfrm>
          <a:prstGeom prst="roundRect">
            <a:avLst>
              <a:gd name="adj" fmla="val 11538"/>
            </a:avLst>
          </a:prstGeom>
          <a:solidFill>
            <a:srgbClr val="5A3010"/>
          </a:solidFill>
          <a:ln/>
        </p:spPr>
      </p:sp>
      <p:sp>
        <p:nvSpPr>
          <p:cNvPr id="43" name="Text 41"/>
          <p:cNvSpPr/>
          <p:nvPr/>
        </p:nvSpPr>
        <p:spPr>
          <a:xfrm>
            <a:off x="10149840" y="5550408"/>
            <a:ext cx="16002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Conceptual Alignment</a:t>
            </a:r>
            <a:endParaRPr lang="en-US" sz="850" dirty="0"/>
          </a:p>
        </p:txBody>
      </p:sp>
      <p:sp>
        <p:nvSpPr>
          <p:cNvPr id="44" name="Text 42"/>
          <p:cNvSpPr/>
          <p:nvPr/>
        </p:nvSpPr>
        <p:spPr>
          <a:xfrm>
            <a:off x="6492240" y="5833872"/>
            <a:ext cx="5303520" cy="594360"/>
          </a:xfrm>
          <a:prstGeom prst="rect">
            <a:avLst/>
          </a:prstGeom>
          <a:noFill/>
          <a:ln/>
        </p:spPr>
        <p:txBody>
          <a:bodyPr wrap="square" rtlCol="0" anchor="ctr"/>
          <a:lstStyle/>
          <a:p>
            <a:pPr indent="0" marL="0">
              <a:buNone/>
            </a:pPr>
            <a:r>
              <a:rPr lang="en-US" sz="950" dirty="0">
                <a:solidFill>
                  <a:srgbClr val="2A3A5A"/>
                </a:solidFill>
                <a:latin typeface="Calibri" pitchFamily="34" charset="0"/>
                <a:ea typeface="Calibri" pitchFamily="34" charset="-122"/>
                <a:cs typeface="Calibri" pitchFamily="34" charset="-120"/>
              </a:rPr>
              <a:t>Shares the Net4AI philosophy: AI embedded in the network structure itself, not as an external overlay — identical to Maier's Active Inference vision.</a:t>
            </a:r>
            <a:endParaRPr lang="en-US" sz="950" dirty="0"/>
          </a:p>
        </p:txBody>
      </p:sp>
      <p:sp>
        <p:nvSpPr>
          <p:cNvPr id="45" name="Text 43"/>
          <p:cNvSpPr/>
          <p:nvPr/>
        </p:nvSpPr>
        <p:spPr>
          <a:xfrm>
            <a:off x="274320" y="6492240"/>
            <a:ext cx="11612880" cy="274320"/>
          </a:xfrm>
          <a:prstGeom prst="rect">
            <a:avLst/>
          </a:prstGeom>
          <a:noFill/>
          <a:ln/>
        </p:spPr>
        <p:txBody>
          <a:bodyPr wrap="square" rtlCol="0" anchor="ctr"/>
          <a:lstStyle/>
          <a:p>
            <a:pPr algn="r" indent="0" marL="0">
              <a:buNone/>
            </a:pPr>
            <a:r>
              <a:rPr lang="en-US" sz="900" i="1" dirty="0">
                <a:solidFill>
                  <a:srgbClr val="8899BB"/>
                </a:solidFill>
                <a:latin typeface="Calibri" pitchFamily="34" charset="0"/>
                <a:ea typeface="Calibri" pitchFamily="34" charset="-122"/>
                <a:cs typeface="Calibri" pitchFamily="34" charset="-120"/>
              </a:rPr>
              <a:t>Source: Maier, JOCN 2026; Maier et al., IEEE IS submitted | Velsanet WP #06, #08, #09, #19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365760" y="137160"/>
            <a:ext cx="11430000" cy="457200"/>
          </a:xfrm>
          <a:prstGeom prst="rect">
            <a:avLst/>
          </a:prstGeom>
          <a:noFill/>
          <a:ln/>
        </p:spPr>
        <p:txBody>
          <a:bodyPr wrap="square" rtlCol="0" anchor="ctr"/>
          <a:lstStyle/>
          <a:p>
            <a:pPr indent="0" marL="0">
              <a:buNone/>
            </a:pPr>
            <a:r>
              <a:rPr lang="en-US" sz="2000" b="1" dirty="0">
                <a:solidFill>
                  <a:srgbClr val="0D1B3E"/>
                </a:solidFill>
                <a:latin typeface="Calibri" pitchFamily="34" charset="0"/>
                <a:ea typeface="Calibri" pitchFamily="34" charset="-122"/>
                <a:cs typeface="Calibri" pitchFamily="34" charset="-120"/>
              </a:rPr>
              <a:t>Key Concept ②  6G World Brain &amp; Embodied / Enactive AI</a:t>
            </a:r>
            <a:endParaRPr lang="en-US" sz="2000" dirty="0"/>
          </a:p>
        </p:txBody>
      </p:sp>
      <p:sp>
        <p:nvSpPr>
          <p:cNvPr id="3" name="Shape 1"/>
          <p:cNvSpPr/>
          <p:nvPr/>
        </p:nvSpPr>
        <p:spPr>
          <a:xfrm>
            <a:off x="365760" y="731520"/>
            <a:ext cx="2286000" cy="1371600"/>
          </a:xfrm>
          <a:prstGeom prst="rect">
            <a:avLst/>
          </a:prstGeom>
          <a:solidFill>
            <a:srgbClr val="3A5A8A"/>
          </a:solidFill>
          <a:ln/>
          <a:effectLst>
            <a:outerShdw sx="100000" sy="100000" kx="0" ky="0" algn="bl" rotWithShape="0" blurRad="101600" dist="38100" dir="8100000">
              <a:srgbClr val="000000">
                <a:alpha val="12000"/>
              </a:srgbClr>
            </a:outerShdw>
          </a:effectLst>
        </p:spPr>
      </p:sp>
      <p:sp>
        <p:nvSpPr>
          <p:cNvPr id="4" name="Text 2"/>
          <p:cNvSpPr/>
          <p:nvPr/>
        </p:nvSpPr>
        <p:spPr>
          <a:xfrm>
            <a:off x="457200" y="822960"/>
            <a:ext cx="210312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AI4Net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(5G Era)</a:t>
            </a:r>
            <a:endParaRPr lang="en-US" sz="1200" dirty="0"/>
          </a:p>
        </p:txBody>
      </p:sp>
      <p:sp>
        <p:nvSpPr>
          <p:cNvPr id="5" name="Text 3"/>
          <p:cNvSpPr/>
          <p:nvPr/>
        </p:nvSpPr>
        <p:spPr>
          <a:xfrm>
            <a:off x="457200" y="1417320"/>
            <a:ext cx="2103120" cy="594360"/>
          </a:xfrm>
          <a:prstGeom prst="rect">
            <a:avLst/>
          </a:prstGeom>
          <a:noFill/>
          <a:ln/>
        </p:spPr>
        <p:txBody>
          <a:bodyPr wrap="square" rtlCol="0" anchor="ctr"/>
          <a:lstStyle/>
          <a:p>
            <a:pPr algn="ctr" indent="0" marL="0">
              <a:buNone/>
            </a:pPr>
            <a:r>
              <a:rPr lang="en-US" sz="950" dirty="0">
                <a:solidFill>
                  <a:srgbClr val="CCE0FF"/>
                </a:solidFill>
                <a:latin typeface="Calibri" pitchFamily="34" charset="0"/>
                <a:ea typeface="Calibri" pitchFamily="34" charset="-122"/>
                <a:cs typeface="Calibri" pitchFamily="34" charset="-120"/>
              </a:rPr>
              <a:t>AI as a tool</a:t>
            </a:r>
            <a:endParaRPr lang="en-US" sz="950" dirty="0"/>
          </a:p>
          <a:p>
            <a:pPr algn="ctr" indent="0" marL="0">
              <a:buNone/>
            </a:pPr>
            <a:r>
              <a:rPr lang="en-US" sz="950" dirty="0">
                <a:solidFill>
                  <a:srgbClr val="CCE0FF"/>
                </a:solidFill>
                <a:latin typeface="Calibri" pitchFamily="34" charset="0"/>
                <a:ea typeface="Calibri" pitchFamily="34" charset="-122"/>
                <a:cs typeface="Calibri" pitchFamily="34" charset="-120"/>
              </a:rPr>
              <a:t>for network optimization</a:t>
            </a:r>
            <a:endParaRPr lang="en-US" sz="950" dirty="0"/>
          </a:p>
        </p:txBody>
      </p:sp>
      <p:sp>
        <p:nvSpPr>
          <p:cNvPr id="6" name="Shape 4"/>
          <p:cNvSpPr/>
          <p:nvPr/>
        </p:nvSpPr>
        <p:spPr>
          <a:xfrm>
            <a:off x="2651760" y="1417320"/>
            <a:ext cx="640080" cy="0"/>
          </a:xfrm>
          <a:prstGeom prst="line">
            <a:avLst/>
          </a:prstGeom>
          <a:noFill/>
          <a:ln w="25400">
            <a:solidFill>
              <a:srgbClr val="D0D8E4"/>
            </a:solidFill>
            <a:prstDash val="solid"/>
          </a:ln>
        </p:spPr>
      </p:sp>
      <p:sp>
        <p:nvSpPr>
          <p:cNvPr id="7" name="Text 5"/>
          <p:cNvSpPr/>
          <p:nvPr/>
        </p:nvSpPr>
        <p:spPr>
          <a:xfrm>
            <a:off x="2971800" y="1280160"/>
            <a:ext cx="320040" cy="320040"/>
          </a:xfrm>
          <a:prstGeom prst="rect">
            <a:avLst/>
          </a:prstGeom>
          <a:noFill/>
          <a:ln/>
        </p:spPr>
        <p:txBody>
          <a:bodyPr wrap="square" rtlCol="0" anchor="ctr"/>
          <a:lstStyle/>
          <a:p>
            <a:pPr indent="0" marL="0">
              <a:buNone/>
            </a:pPr>
            <a:r>
              <a:rPr lang="en-US" sz="1400" dirty="0">
                <a:solidFill>
                  <a:srgbClr val="D0D8E4"/>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2926080" y="731520"/>
            <a:ext cx="2286000" cy="1371600"/>
          </a:xfrm>
          <a:prstGeom prst="rect">
            <a:avLst/>
          </a:prstGeom>
          <a:solidFill>
            <a:srgbClr val="0B7A8C"/>
          </a:solidFill>
          <a:ln/>
          <a:effectLst>
            <a:outerShdw sx="100000" sy="100000" kx="0" ky="0" algn="bl" rotWithShape="0" blurRad="101600" dist="38100" dir="8100000">
              <a:srgbClr val="000000">
                <a:alpha val="12000"/>
              </a:srgbClr>
            </a:outerShdw>
          </a:effectLst>
        </p:spPr>
      </p:sp>
      <p:sp>
        <p:nvSpPr>
          <p:cNvPr id="9" name="Text 7"/>
          <p:cNvSpPr/>
          <p:nvPr/>
        </p:nvSpPr>
        <p:spPr>
          <a:xfrm>
            <a:off x="3017520" y="822960"/>
            <a:ext cx="210312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Net4AI</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(6G Era)</a:t>
            </a:r>
            <a:endParaRPr lang="en-US" sz="1200" dirty="0"/>
          </a:p>
        </p:txBody>
      </p:sp>
      <p:sp>
        <p:nvSpPr>
          <p:cNvPr id="10" name="Text 8"/>
          <p:cNvSpPr/>
          <p:nvPr/>
        </p:nvSpPr>
        <p:spPr>
          <a:xfrm>
            <a:off x="3017520" y="1417320"/>
            <a:ext cx="2103120" cy="594360"/>
          </a:xfrm>
          <a:prstGeom prst="rect">
            <a:avLst/>
          </a:prstGeom>
          <a:noFill/>
          <a:ln/>
        </p:spPr>
        <p:txBody>
          <a:bodyPr wrap="square" rtlCol="0" anchor="ctr"/>
          <a:lstStyle/>
          <a:p>
            <a:pPr algn="ctr" indent="0" marL="0">
              <a:buNone/>
            </a:pPr>
            <a:r>
              <a:rPr lang="en-US" sz="950" dirty="0">
                <a:solidFill>
                  <a:srgbClr val="CCE0FF"/>
                </a:solidFill>
                <a:latin typeface="Calibri" pitchFamily="34" charset="0"/>
                <a:ea typeface="Calibri" pitchFamily="34" charset="-122"/>
                <a:cs typeface="Calibri" pitchFamily="34" charset="-120"/>
              </a:rPr>
              <a:t>Network as</a:t>
            </a:r>
            <a:endParaRPr lang="en-US" sz="950" dirty="0"/>
          </a:p>
          <a:p>
            <a:pPr algn="ctr" indent="0" marL="0">
              <a:buNone/>
            </a:pPr>
            <a:r>
              <a:rPr lang="en-US" sz="950" dirty="0">
                <a:solidFill>
                  <a:srgbClr val="CCE0FF"/>
                </a:solidFill>
                <a:latin typeface="Calibri" pitchFamily="34" charset="0"/>
                <a:ea typeface="Calibri" pitchFamily="34" charset="-122"/>
                <a:cs typeface="Calibri" pitchFamily="34" charset="-120"/>
              </a:rPr>
              <a:t>infrastructure for AI</a:t>
            </a:r>
            <a:endParaRPr lang="en-US" sz="950" dirty="0"/>
          </a:p>
        </p:txBody>
      </p:sp>
      <p:sp>
        <p:nvSpPr>
          <p:cNvPr id="11" name="Shape 9"/>
          <p:cNvSpPr/>
          <p:nvPr/>
        </p:nvSpPr>
        <p:spPr>
          <a:xfrm>
            <a:off x="5212080" y="1417320"/>
            <a:ext cx="640080" cy="0"/>
          </a:xfrm>
          <a:prstGeom prst="line">
            <a:avLst/>
          </a:prstGeom>
          <a:noFill/>
          <a:ln w="25400">
            <a:solidFill>
              <a:srgbClr val="D0D8E4"/>
            </a:solidFill>
            <a:prstDash val="solid"/>
          </a:ln>
        </p:spPr>
      </p:sp>
      <p:sp>
        <p:nvSpPr>
          <p:cNvPr id="12" name="Text 10"/>
          <p:cNvSpPr/>
          <p:nvPr/>
        </p:nvSpPr>
        <p:spPr>
          <a:xfrm>
            <a:off x="5532120" y="1280160"/>
            <a:ext cx="320040" cy="320040"/>
          </a:xfrm>
          <a:prstGeom prst="rect">
            <a:avLst/>
          </a:prstGeom>
          <a:noFill/>
          <a:ln/>
        </p:spPr>
        <p:txBody>
          <a:bodyPr wrap="square" rtlCol="0" anchor="ctr"/>
          <a:lstStyle/>
          <a:p>
            <a:pPr indent="0" marL="0">
              <a:buNone/>
            </a:pPr>
            <a:r>
              <a:rPr lang="en-US" sz="1400" dirty="0">
                <a:solidFill>
                  <a:srgbClr val="D0D8E4"/>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5486400" y="731520"/>
            <a:ext cx="2286000" cy="1371600"/>
          </a:xfrm>
          <a:prstGeom prst="rect">
            <a:avLst/>
          </a:prstGeom>
          <a:solidFill>
            <a:srgbClr val="1A6E3A"/>
          </a:solidFill>
          <a:ln/>
          <a:effectLst>
            <a:outerShdw sx="100000" sy="100000" kx="0" ky="0" algn="bl" rotWithShape="0" blurRad="101600" dist="38100" dir="8100000">
              <a:srgbClr val="000000">
                <a:alpha val="12000"/>
              </a:srgbClr>
            </a:outerShdw>
          </a:effectLst>
        </p:spPr>
      </p:sp>
      <p:sp>
        <p:nvSpPr>
          <p:cNvPr id="14" name="Text 12"/>
          <p:cNvSpPr/>
          <p:nvPr/>
        </p:nvSpPr>
        <p:spPr>
          <a:xfrm>
            <a:off x="5577840" y="822960"/>
            <a:ext cx="210312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AI-Native 6G</a:t>
            </a:r>
            <a:endParaRPr lang="en-US" sz="1200" dirty="0"/>
          </a:p>
        </p:txBody>
      </p:sp>
      <p:sp>
        <p:nvSpPr>
          <p:cNvPr id="15" name="Text 13"/>
          <p:cNvSpPr/>
          <p:nvPr/>
        </p:nvSpPr>
        <p:spPr>
          <a:xfrm>
            <a:off x="5577840" y="1417320"/>
            <a:ext cx="2103120" cy="594360"/>
          </a:xfrm>
          <a:prstGeom prst="rect">
            <a:avLst/>
          </a:prstGeom>
          <a:noFill/>
          <a:ln/>
        </p:spPr>
        <p:txBody>
          <a:bodyPr wrap="square" rtlCol="0" anchor="ctr"/>
          <a:lstStyle/>
          <a:p>
            <a:pPr algn="ctr" indent="0" marL="0">
              <a:buNone/>
            </a:pPr>
            <a:r>
              <a:rPr lang="en-US" sz="950" dirty="0">
                <a:solidFill>
                  <a:srgbClr val="CCE0FF"/>
                </a:solidFill>
                <a:latin typeface="Calibri" pitchFamily="34" charset="0"/>
                <a:ea typeface="Calibri" pitchFamily="34" charset="-122"/>
                <a:cs typeface="Calibri" pitchFamily="34" charset="-120"/>
              </a:rPr>
              <a:t>AI embedded</a:t>
            </a:r>
            <a:endParaRPr lang="en-US" sz="950" dirty="0"/>
          </a:p>
          <a:p>
            <a:pPr algn="ctr" indent="0" marL="0">
              <a:buNone/>
            </a:pPr>
            <a:r>
              <a:rPr lang="en-US" sz="950" dirty="0">
                <a:solidFill>
                  <a:srgbClr val="CCE0FF"/>
                </a:solidFill>
                <a:latin typeface="Calibri" pitchFamily="34" charset="0"/>
                <a:ea typeface="Calibri" pitchFamily="34" charset="-122"/>
                <a:cs typeface="Calibri" pitchFamily="34" charset="-120"/>
              </a:rPr>
              <a:t>within network structure</a:t>
            </a:r>
            <a:endParaRPr lang="en-US" sz="950" dirty="0"/>
          </a:p>
        </p:txBody>
      </p:sp>
      <p:sp>
        <p:nvSpPr>
          <p:cNvPr id="16" name="Shape 14"/>
          <p:cNvSpPr/>
          <p:nvPr/>
        </p:nvSpPr>
        <p:spPr>
          <a:xfrm>
            <a:off x="7772400" y="1417320"/>
            <a:ext cx="640080" cy="0"/>
          </a:xfrm>
          <a:prstGeom prst="line">
            <a:avLst/>
          </a:prstGeom>
          <a:noFill/>
          <a:ln w="25400">
            <a:solidFill>
              <a:srgbClr val="D0D8E4"/>
            </a:solidFill>
            <a:prstDash val="solid"/>
          </a:ln>
        </p:spPr>
      </p:sp>
      <p:sp>
        <p:nvSpPr>
          <p:cNvPr id="17" name="Text 15"/>
          <p:cNvSpPr/>
          <p:nvPr/>
        </p:nvSpPr>
        <p:spPr>
          <a:xfrm>
            <a:off x="8092440" y="1280160"/>
            <a:ext cx="320040" cy="320040"/>
          </a:xfrm>
          <a:prstGeom prst="rect">
            <a:avLst/>
          </a:prstGeom>
          <a:noFill/>
          <a:ln/>
        </p:spPr>
        <p:txBody>
          <a:bodyPr wrap="square" rtlCol="0" anchor="ctr"/>
          <a:lstStyle/>
          <a:p>
            <a:pPr indent="0" marL="0">
              <a:buNone/>
            </a:pPr>
            <a:r>
              <a:rPr lang="en-US" sz="1400" dirty="0">
                <a:solidFill>
                  <a:srgbClr val="D0D8E4"/>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8046720" y="731520"/>
            <a:ext cx="2286000" cy="1371600"/>
          </a:xfrm>
          <a:prstGeom prst="rect">
            <a:avLst/>
          </a:prstGeom>
          <a:solidFill>
            <a:srgbClr val="6A1A3A"/>
          </a:solidFill>
          <a:ln/>
          <a:effectLst>
            <a:outerShdw sx="100000" sy="100000" kx="0" ky="0" algn="bl" rotWithShape="0" blurRad="101600" dist="38100" dir="8100000">
              <a:srgbClr val="000000">
                <a:alpha val="12000"/>
              </a:srgbClr>
            </a:outerShdw>
          </a:effectLst>
        </p:spPr>
      </p:sp>
      <p:sp>
        <p:nvSpPr>
          <p:cNvPr id="19" name="Text 17"/>
          <p:cNvSpPr/>
          <p:nvPr/>
        </p:nvSpPr>
        <p:spPr>
          <a:xfrm>
            <a:off x="8138160" y="822960"/>
            <a:ext cx="210312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6G World Brain</a:t>
            </a:r>
            <a:endParaRPr lang="en-US" sz="1200" dirty="0"/>
          </a:p>
        </p:txBody>
      </p:sp>
      <p:sp>
        <p:nvSpPr>
          <p:cNvPr id="20" name="Text 18"/>
          <p:cNvSpPr/>
          <p:nvPr/>
        </p:nvSpPr>
        <p:spPr>
          <a:xfrm>
            <a:off x="8138160" y="1417320"/>
            <a:ext cx="2103120" cy="594360"/>
          </a:xfrm>
          <a:prstGeom prst="rect">
            <a:avLst/>
          </a:prstGeom>
          <a:noFill/>
          <a:ln/>
        </p:spPr>
        <p:txBody>
          <a:bodyPr wrap="square" rtlCol="0" anchor="ctr"/>
          <a:lstStyle/>
          <a:p>
            <a:pPr algn="ctr" indent="0" marL="0">
              <a:buNone/>
            </a:pPr>
            <a:r>
              <a:rPr lang="en-US" sz="950" dirty="0">
                <a:solidFill>
                  <a:srgbClr val="CCE0FF"/>
                </a:solidFill>
                <a:latin typeface="Calibri" pitchFamily="34" charset="0"/>
                <a:ea typeface="Calibri" pitchFamily="34" charset="-122"/>
                <a:cs typeface="Calibri" pitchFamily="34" charset="-120"/>
              </a:rPr>
              <a:t>Earth as one</a:t>
            </a:r>
            <a:endParaRPr lang="en-US" sz="950" dirty="0"/>
          </a:p>
          <a:p>
            <a:pPr algn="ctr" indent="0" marL="0">
              <a:buNone/>
            </a:pPr>
            <a:r>
              <a:rPr lang="en-US" sz="950" dirty="0">
                <a:solidFill>
                  <a:srgbClr val="CCE0FF"/>
                </a:solidFill>
                <a:latin typeface="Calibri" pitchFamily="34" charset="0"/>
                <a:ea typeface="Calibri" pitchFamily="34" charset="-122"/>
                <a:cs typeface="Calibri" pitchFamily="34" charset="-120"/>
              </a:rPr>
              <a:t>living intelligent brain</a:t>
            </a:r>
            <a:endParaRPr lang="en-US" sz="950" dirty="0"/>
          </a:p>
        </p:txBody>
      </p:sp>
      <p:sp>
        <p:nvSpPr>
          <p:cNvPr id="21" name="Shape 19"/>
          <p:cNvSpPr/>
          <p:nvPr/>
        </p:nvSpPr>
        <p:spPr>
          <a:xfrm>
            <a:off x="274320" y="2331720"/>
            <a:ext cx="3749040" cy="320040"/>
          </a:xfrm>
          <a:prstGeom prst="rect">
            <a:avLst/>
          </a:prstGeom>
          <a:solidFill>
            <a:srgbClr val="1A3A6C"/>
          </a:solidFill>
          <a:ln/>
        </p:spPr>
      </p:sp>
      <p:sp>
        <p:nvSpPr>
          <p:cNvPr id="22" name="Text 20"/>
          <p:cNvSpPr/>
          <p:nvPr/>
        </p:nvSpPr>
        <p:spPr>
          <a:xfrm>
            <a:off x="365760" y="2359152"/>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Embodied AI</a:t>
            </a:r>
            <a:endParaRPr lang="en-US" sz="1100" dirty="0"/>
          </a:p>
        </p:txBody>
      </p:sp>
      <p:sp>
        <p:nvSpPr>
          <p:cNvPr id="23" name="Shape 21"/>
          <p:cNvSpPr/>
          <p:nvPr/>
        </p:nvSpPr>
        <p:spPr>
          <a:xfrm>
            <a:off x="274320" y="2651760"/>
            <a:ext cx="374904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Text 22"/>
          <p:cNvSpPr/>
          <p:nvPr/>
        </p:nvSpPr>
        <p:spPr>
          <a:xfrm>
            <a:off x="384048" y="2715768"/>
            <a:ext cx="3529584" cy="13716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AI that directly interacts with the physical environment via sensory grounding. Transcends purely computational existence. 6G ISAC is the enabling technology.</a:t>
            </a:r>
            <a:endParaRPr lang="en-US" sz="950" dirty="0"/>
          </a:p>
        </p:txBody>
      </p:sp>
      <p:sp>
        <p:nvSpPr>
          <p:cNvPr id="25" name="Shape 23"/>
          <p:cNvSpPr/>
          <p:nvPr/>
        </p:nvSpPr>
        <p:spPr>
          <a:xfrm>
            <a:off x="4206240" y="2331720"/>
            <a:ext cx="3749040" cy="320040"/>
          </a:xfrm>
          <a:prstGeom prst="rect">
            <a:avLst/>
          </a:prstGeom>
          <a:solidFill>
            <a:srgbClr val="0B7A8C"/>
          </a:solidFill>
          <a:ln/>
        </p:spPr>
      </p:sp>
      <p:sp>
        <p:nvSpPr>
          <p:cNvPr id="26" name="Text 24"/>
          <p:cNvSpPr/>
          <p:nvPr/>
        </p:nvSpPr>
        <p:spPr>
          <a:xfrm>
            <a:off x="4297680" y="2359152"/>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Enactive AI</a:t>
            </a:r>
            <a:endParaRPr lang="en-US" sz="1100" dirty="0"/>
          </a:p>
        </p:txBody>
      </p:sp>
      <p:sp>
        <p:nvSpPr>
          <p:cNvPr id="27" name="Shape 25"/>
          <p:cNvSpPr/>
          <p:nvPr/>
        </p:nvSpPr>
        <p:spPr>
          <a:xfrm>
            <a:off x="4206240" y="2651760"/>
            <a:ext cx="374904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8" name="Text 26"/>
          <p:cNvSpPr/>
          <p:nvPr/>
        </p:nvSpPr>
        <p:spPr>
          <a:xfrm>
            <a:off x="4315968" y="2715768"/>
            <a:ext cx="3529584" cy="13716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AI that learns by changing the environment through action and receiving feedback. Transition from passive inference to active agency. Cyberfungi is its biological embodiment.</a:t>
            </a:r>
            <a:endParaRPr lang="en-US" sz="950" dirty="0"/>
          </a:p>
        </p:txBody>
      </p:sp>
      <p:sp>
        <p:nvSpPr>
          <p:cNvPr id="29" name="Shape 27"/>
          <p:cNvSpPr/>
          <p:nvPr/>
        </p:nvSpPr>
        <p:spPr>
          <a:xfrm>
            <a:off x="8138160" y="2331720"/>
            <a:ext cx="3749040" cy="320040"/>
          </a:xfrm>
          <a:prstGeom prst="rect">
            <a:avLst/>
          </a:prstGeom>
          <a:solidFill>
            <a:srgbClr val="5A3080"/>
          </a:solidFill>
          <a:ln/>
        </p:spPr>
      </p:sp>
      <p:sp>
        <p:nvSpPr>
          <p:cNvPr id="30" name="Text 28"/>
          <p:cNvSpPr/>
          <p:nvPr/>
        </p:nvSpPr>
        <p:spPr>
          <a:xfrm>
            <a:off x="8229600" y="2359152"/>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Homo Technicus</a:t>
            </a:r>
            <a:endParaRPr lang="en-US" sz="1100" dirty="0"/>
          </a:p>
        </p:txBody>
      </p:sp>
      <p:sp>
        <p:nvSpPr>
          <p:cNvPr id="31" name="Shape 29"/>
          <p:cNvSpPr/>
          <p:nvPr/>
        </p:nvSpPr>
        <p:spPr>
          <a:xfrm>
            <a:off x="8138160" y="2651760"/>
            <a:ext cx="374904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Text 30"/>
          <p:cNvSpPr/>
          <p:nvPr/>
        </p:nvSpPr>
        <p:spPr>
          <a:xfrm>
            <a:off x="8247888" y="2715768"/>
            <a:ext cx="3529584" cy="13716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Future human species evolving in symbiosis with AI. A metamorphic agent that knits its own socio-technological cocoon. Human Strategy: weak human + machine + better process &gt; strong AI.</a:t>
            </a:r>
            <a:endParaRPr lang="en-US" sz="950" dirty="0"/>
          </a:p>
        </p:txBody>
      </p:sp>
      <p:sp>
        <p:nvSpPr>
          <p:cNvPr id="33" name="Shape 31"/>
          <p:cNvSpPr/>
          <p:nvPr/>
        </p:nvSpPr>
        <p:spPr>
          <a:xfrm>
            <a:off x="274320" y="4297680"/>
            <a:ext cx="3749040" cy="320040"/>
          </a:xfrm>
          <a:prstGeom prst="rect">
            <a:avLst/>
          </a:prstGeom>
          <a:solidFill>
            <a:srgbClr val="1A5A40"/>
          </a:solidFill>
          <a:ln/>
        </p:spPr>
      </p:sp>
      <p:sp>
        <p:nvSpPr>
          <p:cNvPr id="34" name="Text 32"/>
          <p:cNvSpPr/>
          <p:nvPr/>
        </p:nvSpPr>
        <p:spPr>
          <a:xfrm>
            <a:off x="365760" y="4325112"/>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Interbeing</a:t>
            </a:r>
            <a:endParaRPr lang="en-US" sz="1100" dirty="0"/>
          </a:p>
        </p:txBody>
      </p:sp>
      <p:sp>
        <p:nvSpPr>
          <p:cNvPr id="35" name="Shape 33"/>
          <p:cNvSpPr/>
          <p:nvPr/>
        </p:nvSpPr>
        <p:spPr>
          <a:xfrm>
            <a:off x="274320" y="4617720"/>
            <a:ext cx="374904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6" name="Text 34"/>
          <p:cNvSpPr/>
          <p:nvPr/>
        </p:nvSpPr>
        <p:spPr>
          <a:xfrm>
            <a:off x="384048" y="4681728"/>
            <a:ext cx="3529584" cy="13716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Portmanteau of Inter(net) + Human Being. Technical realization of Buddhist mutual interdependence (Thich Nhat Hanh). Co-evolution of humans and AI in the cyber-physical ecosystem.</a:t>
            </a:r>
            <a:endParaRPr lang="en-US" sz="950" dirty="0"/>
          </a:p>
        </p:txBody>
      </p:sp>
      <p:sp>
        <p:nvSpPr>
          <p:cNvPr id="37" name="Shape 35"/>
          <p:cNvSpPr/>
          <p:nvPr/>
        </p:nvSpPr>
        <p:spPr>
          <a:xfrm>
            <a:off x="4206240" y="4297680"/>
            <a:ext cx="3749040" cy="320040"/>
          </a:xfrm>
          <a:prstGeom prst="rect">
            <a:avLst/>
          </a:prstGeom>
          <a:solidFill>
            <a:srgbClr val="1A6E3A"/>
          </a:solidFill>
          <a:ln/>
        </p:spPr>
      </p:sp>
      <p:sp>
        <p:nvSpPr>
          <p:cNvPr id="38" name="Text 36"/>
          <p:cNvSpPr/>
          <p:nvPr/>
        </p:nvSpPr>
        <p:spPr>
          <a:xfrm>
            <a:off x="4297680" y="4325112"/>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Cyberfungi</a:t>
            </a:r>
            <a:endParaRPr lang="en-US" sz="1100" dirty="0"/>
          </a:p>
        </p:txBody>
      </p:sp>
      <p:sp>
        <p:nvSpPr>
          <p:cNvPr id="39" name="Shape 37"/>
          <p:cNvSpPr/>
          <p:nvPr/>
        </p:nvSpPr>
        <p:spPr>
          <a:xfrm>
            <a:off x="4206240" y="4617720"/>
            <a:ext cx="374904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0" name="Text 38"/>
          <p:cNvSpPr/>
          <p:nvPr/>
        </p:nvSpPr>
        <p:spPr>
          <a:xfrm>
            <a:off x="4315968" y="4681728"/>
            <a:ext cx="3529584" cy="13716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Digital Active Inference agents modeled on mycorrhizal networks. Uses DDPM to alternate exploration (entropy increase) and fusion (reverse-time entropy). Early embodiment of enactive AI.</a:t>
            </a:r>
            <a:endParaRPr lang="en-US" sz="950" dirty="0"/>
          </a:p>
        </p:txBody>
      </p:sp>
      <p:sp>
        <p:nvSpPr>
          <p:cNvPr id="41" name="Shape 39"/>
          <p:cNvSpPr/>
          <p:nvPr/>
        </p:nvSpPr>
        <p:spPr>
          <a:xfrm>
            <a:off x="8138160" y="4297680"/>
            <a:ext cx="3749040" cy="320040"/>
          </a:xfrm>
          <a:prstGeom prst="rect">
            <a:avLst/>
          </a:prstGeom>
          <a:solidFill>
            <a:srgbClr val="7A3010"/>
          </a:solidFill>
          <a:ln/>
        </p:spPr>
      </p:sp>
      <p:sp>
        <p:nvSpPr>
          <p:cNvPr id="42" name="Text 40"/>
          <p:cNvSpPr/>
          <p:nvPr/>
        </p:nvSpPr>
        <p:spPr>
          <a:xfrm>
            <a:off x="8229600" y="4325112"/>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ISAC</a:t>
            </a:r>
            <a:endParaRPr lang="en-US" sz="1100" dirty="0"/>
          </a:p>
        </p:txBody>
      </p:sp>
      <p:sp>
        <p:nvSpPr>
          <p:cNvPr id="43" name="Shape 41"/>
          <p:cNvSpPr/>
          <p:nvPr/>
        </p:nvSpPr>
        <p:spPr>
          <a:xfrm>
            <a:off x="8138160" y="4617720"/>
            <a:ext cx="374904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4" name="Text 42"/>
          <p:cNvSpPr/>
          <p:nvPr/>
        </p:nvSpPr>
        <p:spPr>
          <a:xfrm>
            <a:off x="8247888" y="4681728"/>
            <a:ext cx="3529584" cy="13716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Integrated Sensing And Communications. 6G unification of communication and sensing on the same hardware. Core technology enabling the global Action-Perception Loop.</a:t>
            </a:r>
            <a:endParaRPr lang="en-US" sz="950" dirty="0"/>
          </a:p>
        </p:txBody>
      </p:sp>
      <p:sp>
        <p:nvSpPr>
          <p:cNvPr id="45" name="Shape 43"/>
          <p:cNvSpPr/>
          <p:nvPr/>
        </p:nvSpPr>
        <p:spPr>
          <a:xfrm>
            <a:off x="274320" y="6263640"/>
            <a:ext cx="11612880" cy="411480"/>
          </a:xfrm>
          <a:prstGeom prst="rect">
            <a:avLst/>
          </a:prstGeom>
          <a:solidFill>
            <a:srgbClr val="0D1B3E"/>
          </a:solidFill>
          <a:ln/>
        </p:spPr>
      </p:sp>
      <p:sp>
        <p:nvSpPr>
          <p:cNvPr id="46" name="Text 44"/>
          <p:cNvSpPr/>
          <p:nvPr/>
        </p:nvSpPr>
        <p:spPr>
          <a:xfrm>
            <a:off x="365760" y="6281928"/>
            <a:ext cx="11430000" cy="347472"/>
          </a:xfrm>
          <a:prstGeom prst="rect">
            <a:avLst/>
          </a:prstGeom>
          <a:noFill/>
          <a:ln/>
        </p:spPr>
        <p:txBody>
          <a:bodyPr wrap="square" rtlCol="0" anchor="ctr"/>
          <a:lstStyle/>
          <a:p>
            <a:pPr algn="ctr" indent="0" marL="0">
              <a:buNone/>
            </a:pPr>
            <a:r>
              <a:rPr lang="en-US" sz="950" dirty="0">
                <a:solidFill>
                  <a:srgbClr val="9BBCD6"/>
                </a:solidFill>
                <a:latin typeface="Calibri" pitchFamily="34" charset="0"/>
                <a:ea typeface="Calibri" pitchFamily="34" charset="-122"/>
                <a:cs typeface="Calibri" pitchFamily="34" charset="-120"/>
              </a:rPr>
              <a:t>Velsanet Alignment: WP#01 (Network Architecture) • WP#09 (PAI/AAI/AsAI) • WP#19 (Cognition Cube = structural implementation of Embodied AI) • WP#22 (H6-Based 6G RAN = physical foundation of AI-Native 6G)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3E"/>
        </a:solidFill>
      </p:bgPr>
    </p:bg>
    <p:spTree>
      <p:nvGrpSpPr>
        <p:cNvPr id="1" name=""/>
        <p:cNvGrpSpPr/>
        <p:nvPr/>
      </p:nvGrpSpPr>
      <p:grpSpPr>
        <a:xfrm>
          <a:off x="0" y="0"/>
          <a:ext cx="0" cy="0"/>
          <a:chOff x="0" y="0"/>
          <a:chExt cx="0" cy="0"/>
        </a:xfrm>
      </p:grpSpPr>
      <p:sp>
        <p:nvSpPr>
          <p:cNvPr id="2" name="Text 0"/>
          <p:cNvSpPr/>
          <p:nvPr/>
        </p:nvSpPr>
        <p:spPr>
          <a:xfrm>
            <a:off x="365760" y="137160"/>
            <a:ext cx="1143000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Key Concept ③  Learning from Nature — Mycorrhizal Networks &amp; Evolutionary Wisdom</a:t>
            </a:r>
            <a:endParaRPr lang="en-US" sz="1900" dirty="0"/>
          </a:p>
        </p:txBody>
      </p:sp>
      <p:sp>
        <p:nvSpPr>
          <p:cNvPr id="3" name="Shape 1"/>
          <p:cNvSpPr/>
          <p:nvPr/>
        </p:nvSpPr>
        <p:spPr>
          <a:xfrm>
            <a:off x="274320" y="731520"/>
            <a:ext cx="3749040" cy="548640"/>
          </a:xfrm>
          <a:prstGeom prst="rect">
            <a:avLst/>
          </a:prstGeom>
          <a:solidFill>
            <a:srgbClr val="1A4E20"/>
          </a:solidFill>
          <a:ln/>
        </p:spPr>
      </p:sp>
      <p:sp>
        <p:nvSpPr>
          <p:cNvPr id="4" name="Text 2"/>
          <p:cNvSpPr/>
          <p:nvPr/>
        </p:nvSpPr>
        <p:spPr>
          <a:xfrm>
            <a:off x="365760" y="758952"/>
            <a:ext cx="3566160" cy="49377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Mycorrhizal Networks</a:t>
            </a:r>
            <a:endParaRPr lang="en-US" sz="1100" dirty="0"/>
          </a:p>
        </p:txBody>
      </p:sp>
      <p:sp>
        <p:nvSpPr>
          <p:cNvPr id="5" name="Text 3"/>
          <p:cNvSpPr/>
          <p:nvPr/>
        </p:nvSpPr>
        <p:spPr>
          <a:xfrm>
            <a:off x="365760" y="1371600"/>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Earth's largest living organism — underground fungal networks in forests</a:t>
            </a:r>
            <a:endParaRPr lang="en-US" sz="1000" dirty="0"/>
          </a:p>
        </p:txBody>
      </p:sp>
      <p:sp>
        <p:nvSpPr>
          <p:cNvPr id="6" name="Text 4"/>
          <p:cNvSpPr/>
          <p:nvPr/>
        </p:nvSpPr>
        <p:spPr>
          <a:xfrm>
            <a:off x="365760" y="2176272"/>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Exploration (Branching) → resource discovery → Fusion (Fusing) = Entropy ↑↓</a:t>
            </a:r>
            <a:endParaRPr lang="en-US" sz="1000" dirty="0"/>
          </a:p>
        </p:txBody>
      </p:sp>
      <p:sp>
        <p:nvSpPr>
          <p:cNvPr id="7" name="Text 5"/>
          <p:cNvSpPr/>
          <p:nvPr/>
        </p:nvSpPr>
        <p:spPr>
          <a:xfrm>
            <a:off x="365760" y="2980944"/>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Mushrooms: how fungi embody themselves in the physical world</a:t>
            </a:r>
            <a:endParaRPr lang="en-US" sz="1000" dirty="0"/>
          </a:p>
        </p:txBody>
      </p:sp>
      <p:sp>
        <p:nvSpPr>
          <p:cNvPr id="8" name="Text 6"/>
          <p:cNvSpPr/>
          <p:nvPr/>
        </p:nvSpPr>
        <p:spPr>
          <a:xfrm>
            <a:off x="365760" y="3785616"/>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Wood-Wide Web: connects tree roots like active fiber-optic cables</a:t>
            </a:r>
            <a:endParaRPr lang="en-US" sz="1000" dirty="0"/>
          </a:p>
        </p:txBody>
      </p:sp>
      <p:sp>
        <p:nvSpPr>
          <p:cNvPr id="9" name="Text 7"/>
          <p:cNvSpPr/>
          <p:nvPr/>
        </p:nvSpPr>
        <p:spPr>
          <a:xfrm>
            <a:off x="365760" y="4590288"/>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Maier's DDPM model mathematically mimics this structure</a:t>
            </a:r>
            <a:endParaRPr lang="en-US" sz="1000" dirty="0"/>
          </a:p>
        </p:txBody>
      </p:sp>
      <p:sp>
        <p:nvSpPr>
          <p:cNvPr id="10" name="Shape 8"/>
          <p:cNvSpPr/>
          <p:nvPr/>
        </p:nvSpPr>
        <p:spPr>
          <a:xfrm>
            <a:off x="274320" y="5394960"/>
            <a:ext cx="3749040" cy="1188720"/>
          </a:xfrm>
          <a:prstGeom prst="rect">
            <a:avLst/>
          </a:prstGeom>
          <a:solidFill>
            <a:srgbClr val="0A1830"/>
          </a:solidFill>
          <a:ln/>
        </p:spPr>
      </p:sp>
      <p:sp>
        <p:nvSpPr>
          <p:cNvPr id="11" name="Shape 9"/>
          <p:cNvSpPr/>
          <p:nvPr/>
        </p:nvSpPr>
        <p:spPr>
          <a:xfrm>
            <a:off x="274320" y="5394960"/>
            <a:ext cx="54864" cy="1188720"/>
          </a:xfrm>
          <a:prstGeom prst="rect">
            <a:avLst/>
          </a:prstGeom>
          <a:solidFill>
            <a:srgbClr val="C47B00"/>
          </a:solidFill>
          <a:ln/>
        </p:spPr>
      </p:sp>
      <p:sp>
        <p:nvSpPr>
          <p:cNvPr id="12" name="Text 10"/>
          <p:cNvSpPr/>
          <p:nvPr/>
        </p:nvSpPr>
        <p:spPr>
          <a:xfrm>
            <a:off x="411480" y="5440680"/>
            <a:ext cx="3474720" cy="256032"/>
          </a:xfrm>
          <a:prstGeom prst="rect">
            <a:avLst/>
          </a:prstGeom>
          <a:noFill/>
          <a:ln/>
        </p:spPr>
        <p:txBody>
          <a:bodyPr wrap="square" rtlCol="0" anchor="ctr"/>
          <a:lstStyle/>
          <a:p>
            <a:pPr indent="0" marL="0">
              <a:buNone/>
            </a:pPr>
            <a:r>
              <a:rPr lang="en-US" sz="900" b="1" dirty="0">
                <a:solidFill>
                  <a:srgbClr val="C47B00"/>
                </a:solidFill>
                <a:latin typeface="Calibri" pitchFamily="34" charset="0"/>
                <a:ea typeface="Calibri" pitchFamily="34" charset="-122"/>
                <a:cs typeface="Calibri" pitchFamily="34" charset="-120"/>
              </a:rPr>
              <a:t>Velsanet Connection</a:t>
            </a:r>
            <a:endParaRPr lang="en-US" sz="900" dirty="0"/>
          </a:p>
        </p:txBody>
      </p:sp>
      <p:sp>
        <p:nvSpPr>
          <p:cNvPr id="13" name="Text 11"/>
          <p:cNvSpPr/>
          <p:nvPr/>
        </p:nvSpPr>
        <p:spPr>
          <a:xfrm>
            <a:off x="411480" y="5687568"/>
            <a:ext cx="3474720" cy="822960"/>
          </a:xfrm>
          <a:prstGeom prst="rect">
            <a:avLst/>
          </a:prstGeom>
          <a:noFill/>
          <a:ln/>
        </p:spPr>
        <p:txBody>
          <a:bodyPr wrap="square" rtlCol="0" anchor="ctr"/>
          <a:lstStyle/>
          <a:p>
            <a:pPr indent="0" marL="0">
              <a:buNone/>
            </a:pPr>
            <a:r>
              <a:rPr lang="en-US" sz="900" dirty="0">
                <a:solidFill>
                  <a:srgbClr val="9BBCD6"/>
                </a:solidFill>
                <a:latin typeface="Calibri" pitchFamily="34" charset="0"/>
                <a:ea typeface="Calibri" pitchFamily="34" charset="-122"/>
                <a:cs typeface="Calibri" pitchFamily="34" charset="-120"/>
              </a:rPr>
              <a:t>WP#12 Foundation Architecture polyhedral network topology = mycorrhizal decentralized self-organization structure</a:t>
            </a:r>
            <a:endParaRPr lang="en-US" sz="900" dirty="0"/>
          </a:p>
        </p:txBody>
      </p:sp>
      <p:sp>
        <p:nvSpPr>
          <p:cNvPr id="14" name="Shape 12"/>
          <p:cNvSpPr/>
          <p:nvPr/>
        </p:nvSpPr>
        <p:spPr>
          <a:xfrm>
            <a:off x="4206240" y="731520"/>
            <a:ext cx="3749040" cy="548640"/>
          </a:xfrm>
          <a:prstGeom prst="rect">
            <a:avLst/>
          </a:prstGeom>
          <a:solidFill>
            <a:srgbClr val="1A3A6E"/>
          </a:solidFill>
          <a:ln/>
        </p:spPr>
      </p:sp>
      <p:sp>
        <p:nvSpPr>
          <p:cNvPr id="15" name="Text 13"/>
          <p:cNvSpPr/>
          <p:nvPr/>
        </p:nvSpPr>
        <p:spPr>
          <a:xfrm>
            <a:off x="4297680" y="758952"/>
            <a:ext cx="3566160" cy="49377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Root-Brain Hypothesis</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(Darwin, 1880)</a:t>
            </a:r>
            <a:endParaRPr lang="en-US" sz="1100" dirty="0"/>
          </a:p>
        </p:txBody>
      </p:sp>
      <p:sp>
        <p:nvSpPr>
          <p:cNvPr id="16" name="Text 14"/>
          <p:cNvSpPr/>
          <p:nvPr/>
        </p:nvSpPr>
        <p:spPr>
          <a:xfrm>
            <a:off x="4297680" y="1371600"/>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Proposed by Charles &amp; Francis Darwin; forgotten until 2005</a:t>
            </a:r>
            <a:endParaRPr lang="en-US" sz="1000" dirty="0"/>
          </a:p>
        </p:txBody>
      </p:sp>
      <p:sp>
        <p:nvSpPr>
          <p:cNvPr id="17" name="Text 15"/>
          <p:cNvSpPr/>
          <p:nvPr/>
        </p:nvSpPr>
        <p:spPr>
          <a:xfrm>
            <a:off x="4297680" y="2176272"/>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Root apices of plants = sensory-motor circuit similar to a brain</a:t>
            </a:r>
            <a:endParaRPr lang="en-US" sz="1000" dirty="0"/>
          </a:p>
        </p:txBody>
      </p:sp>
      <p:sp>
        <p:nvSpPr>
          <p:cNvPr id="18" name="Text 16"/>
          <p:cNvSpPr/>
          <p:nvPr/>
        </p:nvSpPr>
        <p:spPr>
          <a:xfrm>
            <a:off x="4297680" y="2980944"/>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Active problem-solving behavior without a brain (= Active Inference)</a:t>
            </a:r>
            <a:endParaRPr lang="en-US" sz="1000" dirty="0"/>
          </a:p>
        </p:txBody>
      </p:sp>
      <p:sp>
        <p:nvSpPr>
          <p:cNvPr id="19" name="Text 17"/>
          <p:cNvSpPr/>
          <p:nvPr/>
        </p:nvSpPr>
        <p:spPr>
          <a:xfrm>
            <a:off x="4297680" y="3785616"/>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Ancient evolutionary strategy for exploring cognitive space</a:t>
            </a:r>
            <a:endParaRPr lang="en-US" sz="1000" dirty="0"/>
          </a:p>
        </p:txBody>
      </p:sp>
      <p:sp>
        <p:nvSpPr>
          <p:cNvPr id="20" name="Text 18"/>
          <p:cNvSpPr/>
          <p:nvPr/>
        </p:nvSpPr>
        <p:spPr>
          <a:xfrm>
            <a:off x="4297680" y="4590288"/>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Basis for applying FEP to species without brains</a:t>
            </a:r>
            <a:endParaRPr lang="en-US" sz="1000" dirty="0"/>
          </a:p>
        </p:txBody>
      </p:sp>
      <p:sp>
        <p:nvSpPr>
          <p:cNvPr id="21" name="Shape 19"/>
          <p:cNvSpPr/>
          <p:nvPr/>
        </p:nvSpPr>
        <p:spPr>
          <a:xfrm>
            <a:off x="4206240" y="5394960"/>
            <a:ext cx="3749040" cy="1188720"/>
          </a:xfrm>
          <a:prstGeom prst="rect">
            <a:avLst/>
          </a:prstGeom>
          <a:solidFill>
            <a:srgbClr val="0A1830"/>
          </a:solidFill>
          <a:ln/>
        </p:spPr>
      </p:sp>
      <p:sp>
        <p:nvSpPr>
          <p:cNvPr id="22" name="Shape 20"/>
          <p:cNvSpPr/>
          <p:nvPr/>
        </p:nvSpPr>
        <p:spPr>
          <a:xfrm>
            <a:off x="4206240" y="5394960"/>
            <a:ext cx="54864" cy="1188720"/>
          </a:xfrm>
          <a:prstGeom prst="rect">
            <a:avLst/>
          </a:prstGeom>
          <a:solidFill>
            <a:srgbClr val="C47B00"/>
          </a:solidFill>
          <a:ln/>
        </p:spPr>
      </p:sp>
      <p:sp>
        <p:nvSpPr>
          <p:cNvPr id="23" name="Text 21"/>
          <p:cNvSpPr/>
          <p:nvPr/>
        </p:nvSpPr>
        <p:spPr>
          <a:xfrm>
            <a:off x="4343400" y="5440680"/>
            <a:ext cx="3474720" cy="256032"/>
          </a:xfrm>
          <a:prstGeom prst="rect">
            <a:avLst/>
          </a:prstGeom>
          <a:noFill/>
          <a:ln/>
        </p:spPr>
        <p:txBody>
          <a:bodyPr wrap="square" rtlCol="0" anchor="ctr"/>
          <a:lstStyle/>
          <a:p>
            <a:pPr indent="0" marL="0">
              <a:buNone/>
            </a:pPr>
            <a:r>
              <a:rPr lang="en-US" sz="900" b="1" dirty="0">
                <a:solidFill>
                  <a:srgbClr val="C47B00"/>
                </a:solidFill>
                <a:latin typeface="Calibri" pitchFamily="34" charset="0"/>
                <a:ea typeface="Calibri" pitchFamily="34" charset="-122"/>
                <a:cs typeface="Calibri" pitchFamily="34" charset="-120"/>
              </a:rPr>
              <a:t>Velsanet Connection</a:t>
            </a:r>
            <a:endParaRPr lang="en-US" sz="900" dirty="0"/>
          </a:p>
        </p:txBody>
      </p:sp>
      <p:sp>
        <p:nvSpPr>
          <p:cNvPr id="24" name="Text 22"/>
          <p:cNvSpPr/>
          <p:nvPr/>
        </p:nvSpPr>
        <p:spPr>
          <a:xfrm>
            <a:off x="4343400" y="5687568"/>
            <a:ext cx="3474720" cy="822960"/>
          </a:xfrm>
          <a:prstGeom prst="rect">
            <a:avLst/>
          </a:prstGeom>
          <a:noFill/>
          <a:ln/>
        </p:spPr>
        <p:txBody>
          <a:bodyPr wrap="square" rtlCol="0" anchor="ctr"/>
          <a:lstStyle/>
          <a:p>
            <a:pPr indent="0" marL="0">
              <a:buNone/>
            </a:pPr>
            <a:r>
              <a:rPr lang="en-US" sz="900" dirty="0">
                <a:solidFill>
                  <a:srgbClr val="9BBCD6"/>
                </a:solidFill>
                <a:latin typeface="Calibri" pitchFamily="34" charset="0"/>
                <a:ea typeface="Calibri" pitchFamily="34" charset="-122"/>
                <a:cs typeface="Calibri" pitchFamily="34" charset="-120"/>
              </a:rPr>
              <a:t>WP#07 Mathematical Framework Q7 Hypercube = multi-dimensional cognitive space exploration — conceptual alignment</a:t>
            </a:r>
            <a:endParaRPr lang="en-US" sz="900" dirty="0"/>
          </a:p>
        </p:txBody>
      </p:sp>
      <p:sp>
        <p:nvSpPr>
          <p:cNvPr id="25" name="Shape 23"/>
          <p:cNvSpPr/>
          <p:nvPr/>
        </p:nvSpPr>
        <p:spPr>
          <a:xfrm>
            <a:off x="8138160" y="731520"/>
            <a:ext cx="3749040" cy="548640"/>
          </a:xfrm>
          <a:prstGeom prst="rect">
            <a:avLst/>
          </a:prstGeom>
          <a:solidFill>
            <a:srgbClr val="4A1A5E"/>
          </a:solidFill>
          <a:ln/>
        </p:spPr>
      </p:sp>
      <p:sp>
        <p:nvSpPr>
          <p:cNvPr id="26" name="Text 24"/>
          <p:cNvSpPr/>
          <p:nvPr/>
        </p:nvSpPr>
        <p:spPr>
          <a:xfrm>
            <a:off x="8229600" y="758952"/>
            <a:ext cx="3566160" cy="49377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Metamorphic Agents</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&amp; Negative Entropy</a:t>
            </a:r>
            <a:endParaRPr lang="en-US" sz="1100" dirty="0"/>
          </a:p>
        </p:txBody>
      </p:sp>
      <p:sp>
        <p:nvSpPr>
          <p:cNvPr id="27" name="Text 25"/>
          <p:cNvSpPr/>
          <p:nvPr/>
        </p:nvSpPr>
        <p:spPr>
          <a:xfrm>
            <a:off x="8229600" y="1371600"/>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Metamorphic agents whose Markov Blanket grows and shrinks</a:t>
            </a:r>
            <a:endParaRPr lang="en-US" sz="1000" dirty="0"/>
          </a:p>
        </p:txBody>
      </p:sp>
      <p:sp>
        <p:nvSpPr>
          <p:cNvPr id="28" name="Text 26"/>
          <p:cNvSpPr/>
          <p:nvPr/>
        </p:nvSpPr>
        <p:spPr>
          <a:xfrm>
            <a:off x="8229600" y="2176272"/>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Caterpillar → butterfly: same entity, different Markov Blanket</a:t>
            </a:r>
            <a:endParaRPr lang="en-US" sz="1000" dirty="0"/>
          </a:p>
        </p:txBody>
      </p:sp>
      <p:sp>
        <p:nvSpPr>
          <p:cNvPr id="29" name="Text 27"/>
          <p:cNvSpPr/>
          <p:nvPr/>
        </p:nvSpPr>
        <p:spPr>
          <a:xfrm>
            <a:off x="8229600" y="2980944"/>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Negative Entropy: living organisms extract order from environment</a:t>
            </a:r>
            <a:endParaRPr lang="en-US" sz="1000" dirty="0"/>
          </a:p>
        </p:txBody>
      </p:sp>
      <p:sp>
        <p:nvSpPr>
          <p:cNvPr id="30" name="Text 28"/>
          <p:cNvSpPr/>
          <p:nvPr/>
        </p:nvSpPr>
        <p:spPr>
          <a:xfrm>
            <a:off x="8229600" y="3785616"/>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Schrödinger 'What is Life?' — life = resistance to entropy</a:t>
            </a:r>
            <a:endParaRPr lang="en-US" sz="1000" dirty="0"/>
          </a:p>
        </p:txBody>
      </p:sp>
      <p:sp>
        <p:nvSpPr>
          <p:cNvPr id="31" name="Text 29"/>
          <p:cNvSpPr/>
          <p:nvPr/>
        </p:nvSpPr>
        <p:spPr>
          <a:xfrm>
            <a:off x="8229600" y="4590288"/>
            <a:ext cx="3566160" cy="73152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 Psychoactives: temporarily violate FEP to trigger creative explosion</a:t>
            </a:r>
            <a:endParaRPr lang="en-US" sz="1000" dirty="0"/>
          </a:p>
        </p:txBody>
      </p:sp>
      <p:sp>
        <p:nvSpPr>
          <p:cNvPr id="32" name="Shape 30"/>
          <p:cNvSpPr/>
          <p:nvPr/>
        </p:nvSpPr>
        <p:spPr>
          <a:xfrm>
            <a:off x="8138160" y="5394960"/>
            <a:ext cx="3749040" cy="1188720"/>
          </a:xfrm>
          <a:prstGeom prst="rect">
            <a:avLst/>
          </a:prstGeom>
          <a:solidFill>
            <a:srgbClr val="0A1830"/>
          </a:solidFill>
          <a:ln/>
        </p:spPr>
      </p:sp>
      <p:sp>
        <p:nvSpPr>
          <p:cNvPr id="33" name="Shape 31"/>
          <p:cNvSpPr/>
          <p:nvPr/>
        </p:nvSpPr>
        <p:spPr>
          <a:xfrm>
            <a:off x="8138160" y="5394960"/>
            <a:ext cx="54864" cy="1188720"/>
          </a:xfrm>
          <a:prstGeom prst="rect">
            <a:avLst/>
          </a:prstGeom>
          <a:solidFill>
            <a:srgbClr val="C47B00"/>
          </a:solidFill>
          <a:ln/>
        </p:spPr>
      </p:sp>
      <p:sp>
        <p:nvSpPr>
          <p:cNvPr id="34" name="Text 32"/>
          <p:cNvSpPr/>
          <p:nvPr/>
        </p:nvSpPr>
        <p:spPr>
          <a:xfrm>
            <a:off x="8275320" y="5440680"/>
            <a:ext cx="3474720" cy="256032"/>
          </a:xfrm>
          <a:prstGeom prst="rect">
            <a:avLst/>
          </a:prstGeom>
          <a:noFill/>
          <a:ln/>
        </p:spPr>
        <p:txBody>
          <a:bodyPr wrap="square" rtlCol="0" anchor="ctr"/>
          <a:lstStyle/>
          <a:p>
            <a:pPr indent="0" marL="0">
              <a:buNone/>
            </a:pPr>
            <a:r>
              <a:rPr lang="en-US" sz="900" b="1" dirty="0">
                <a:solidFill>
                  <a:srgbClr val="C47B00"/>
                </a:solidFill>
                <a:latin typeface="Calibri" pitchFamily="34" charset="0"/>
                <a:ea typeface="Calibri" pitchFamily="34" charset="-122"/>
                <a:cs typeface="Calibri" pitchFamily="34" charset="-120"/>
              </a:rPr>
              <a:t>Velsanet Connection</a:t>
            </a:r>
            <a:endParaRPr lang="en-US" sz="900" dirty="0"/>
          </a:p>
        </p:txBody>
      </p:sp>
      <p:sp>
        <p:nvSpPr>
          <p:cNvPr id="35" name="Text 33"/>
          <p:cNvSpPr/>
          <p:nvPr/>
        </p:nvSpPr>
        <p:spPr>
          <a:xfrm>
            <a:off x="8275320" y="5687568"/>
            <a:ext cx="3474720" cy="822960"/>
          </a:xfrm>
          <a:prstGeom prst="rect">
            <a:avLst/>
          </a:prstGeom>
          <a:noFill/>
          <a:ln/>
        </p:spPr>
        <p:txBody>
          <a:bodyPr wrap="square" rtlCol="0" anchor="ctr"/>
          <a:lstStyle/>
          <a:p>
            <a:pPr indent="0" marL="0">
              <a:buNone/>
            </a:pPr>
            <a:r>
              <a:rPr lang="en-US" sz="900" dirty="0">
                <a:solidFill>
                  <a:srgbClr val="9BBCD6"/>
                </a:solidFill>
                <a:latin typeface="Calibri" pitchFamily="34" charset="0"/>
                <a:ea typeface="Calibri" pitchFamily="34" charset="-122"/>
                <a:cs typeface="Calibri" pitchFamily="34" charset="-120"/>
              </a:rPr>
              <a:t>WP#09 PAI→AAI→AsAI 3-stage evolution = network structural implementation of metamorphic agents</a:t>
            </a:r>
            <a:endParaRPr lang="en-US" sz="900" dirty="0"/>
          </a:p>
        </p:txBody>
      </p:sp>
      <p:sp>
        <p:nvSpPr>
          <p:cNvPr id="36" name="Text 34"/>
          <p:cNvSpPr/>
          <p:nvPr/>
        </p:nvSpPr>
        <p:spPr>
          <a:xfrm>
            <a:off x="274320" y="6492240"/>
            <a:ext cx="11612880" cy="274320"/>
          </a:xfrm>
          <a:prstGeom prst="rect">
            <a:avLst/>
          </a:prstGeom>
          <a:noFill/>
          <a:ln/>
        </p:spPr>
        <p:txBody>
          <a:bodyPr wrap="square" rtlCol="0" anchor="ctr"/>
          <a:lstStyle/>
          <a:p>
            <a:pPr algn="r" indent="0" marL="0">
              <a:buNone/>
            </a:pPr>
            <a:r>
              <a:rPr lang="en-US" sz="900" i="1" dirty="0">
                <a:solidFill>
                  <a:srgbClr val="4A6A9A"/>
                </a:solidFill>
                <a:latin typeface="Calibri" pitchFamily="34" charset="0"/>
                <a:ea typeface="Calibri" pitchFamily="34" charset="-122"/>
                <a:cs typeface="Calibri" pitchFamily="34" charset="-120"/>
              </a:rPr>
              <a:t>Maier, JOCN 2026 Section 5-6 | Conceptual isomorphism between mycorrhizal networks and Velsanet optical core architecture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365760" y="137160"/>
            <a:ext cx="11430000" cy="457200"/>
          </a:xfrm>
          <a:prstGeom prst="rect">
            <a:avLst/>
          </a:prstGeom>
          <a:noFill/>
          <a:ln/>
        </p:spPr>
        <p:txBody>
          <a:bodyPr wrap="square" rtlCol="0" anchor="ctr"/>
          <a:lstStyle/>
          <a:p>
            <a:pPr indent="0" marL="0">
              <a:buNone/>
            </a:pPr>
            <a:r>
              <a:rPr lang="en-US" sz="1900" b="1" dirty="0">
                <a:solidFill>
                  <a:srgbClr val="0D1B3E"/>
                </a:solidFill>
                <a:latin typeface="Calibri" pitchFamily="34" charset="0"/>
                <a:ea typeface="Calibri" pitchFamily="34" charset="-122"/>
                <a:cs typeface="Calibri" pitchFamily="34" charset="-120"/>
              </a:rPr>
              <a:t>Velsanet Whitepapers × Martin Maier Concepts — Comprehensive Alignment Mapping</a:t>
            </a:r>
            <a:endParaRPr lang="en-US" sz="1900" dirty="0"/>
          </a:p>
        </p:txBody>
      </p:sp>
      <p:sp>
        <p:nvSpPr>
          <p:cNvPr id="3" name="Shape 1"/>
          <p:cNvSpPr/>
          <p:nvPr/>
        </p:nvSpPr>
        <p:spPr>
          <a:xfrm>
            <a:off x="274320" y="713232"/>
            <a:ext cx="2926080" cy="320040"/>
          </a:xfrm>
          <a:prstGeom prst="rect">
            <a:avLst/>
          </a:prstGeom>
          <a:solidFill>
            <a:srgbClr val="0D1B3E"/>
          </a:solidFill>
          <a:ln/>
        </p:spPr>
      </p:sp>
      <p:sp>
        <p:nvSpPr>
          <p:cNvPr id="4" name="Text 2"/>
          <p:cNvSpPr/>
          <p:nvPr/>
        </p:nvSpPr>
        <p:spPr>
          <a:xfrm>
            <a:off x="320040" y="713232"/>
            <a:ext cx="2834640" cy="3200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Velsanet Whitepaper</a:t>
            </a:r>
            <a:endParaRPr lang="en-US" sz="1050" dirty="0"/>
          </a:p>
        </p:txBody>
      </p:sp>
      <p:sp>
        <p:nvSpPr>
          <p:cNvPr id="5" name="Shape 3"/>
          <p:cNvSpPr/>
          <p:nvPr/>
        </p:nvSpPr>
        <p:spPr>
          <a:xfrm>
            <a:off x="3246120" y="713232"/>
            <a:ext cx="2560320" cy="320040"/>
          </a:xfrm>
          <a:prstGeom prst="rect">
            <a:avLst/>
          </a:prstGeom>
          <a:solidFill>
            <a:srgbClr val="0D1B3E"/>
          </a:solidFill>
          <a:ln/>
        </p:spPr>
      </p:sp>
      <p:sp>
        <p:nvSpPr>
          <p:cNvPr id="6" name="Text 4"/>
          <p:cNvSpPr/>
          <p:nvPr/>
        </p:nvSpPr>
        <p:spPr>
          <a:xfrm>
            <a:off x="3291840" y="713232"/>
            <a:ext cx="2468880" cy="3200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Maier Concept Keyword</a:t>
            </a:r>
            <a:endParaRPr lang="en-US" sz="1050" dirty="0"/>
          </a:p>
        </p:txBody>
      </p:sp>
      <p:sp>
        <p:nvSpPr>
          <p:cNvPr id="7" name="Shape 5"/>
          <p:cNvSpPr/>
          <p:nvPr/>
        </p:nvSpPr>
        <p:spPr>
          <a:xfrm>
            <a:off x="5852160" y="713232"/>
            <a:ext cx="4389120" cy="320040"/>
          </a:xfrm>
          <a:prstGeom prst="rect">
            <a:avLst/>
          </a:prstGeom>
          <a:solidFill>
            <a:srgbClr val="0D1B3E"/>
          </a:solidFill>
          <a:ln/>
        </p:spPr>
      </p:sp>
      <p:sp>
        <p:nvSpPr>
          <p:cNvPr id="8" name="Text 6"/>
          <p:cNvSpPr/>
          <p:nvPr/>
        </p:nvSpPr>
        <p:spPr>
          <a:xfrm>
            <a:off x="5897880" y="713232"/>
            <a:ext cx="4297680" cy="3200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Alignment Detail</a:t>
            </a:r>
            <a:endParaRPr lang="en-US" sz="1050" dirty="0"/>
          </a:p>
        </p:txBody>
      </p:sp>
      <p:sp>
        <p:nvSpPr>
          <p:cNvPr id="9" name="Shape 7"/>
          <p:cNvSpPr/>
          <p:nvPr/>
        </p:nvSpPr>
        <p:spPr>
          <a:xfrm>
            <a:off x="10287000" y="713232"/>
            <a:ext cx="1463040" cy="320040"/>
          </a:xfrm>
          <a:prstGeom prst="rect">
            <a:avLst/>
          </a:prstGeom>
          <a:solidFill>
            <a:srgbClr val="0D1B3E"/>
          </a:solidFill>
          <a:ln/>
        </p:spPr>
      </p:sp>
      <p:sp>
        <p:nvSpPr>
          <p:cNvPr id="10" name="Text 8"/>
          <p:cNvSpPr/>
          <p:nvPr/>
        </p:nvSpPr>
        <p:spPr>
          <a:xfrm>
            <a:off x="10332720" y="713232"/>
            <a:ext cx="1371600" cy="3200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Degree</a:t>
            </a:r>
            <a:endParaRPr lang="en-US" sz="1050" dirty="0"/>
          </a:p>
        </p:txBody>
      </p:sp>
      <p:sp>
        <p:nvSpPr>
          <p:cNvPr id="11" name="Shape 9"/>
          <p:cNvSpPr/>
          <p:nvPr/>
        </p:nvSpPr>
        <p:spPr>
          <a:xfrm>
            <a:off x="274320" y="1078992"/>
            <a:ext cx="2926080" cy="548640"/>
          </a:xfrm>
          <a:prstGeom prst="rect">
            <a:avLst/>
          </a:prstGeom>
          <a:solidFill>
            <a:srgbClr val="FFFFFF"/>
          </a:solidFill>
          <a:ln/>
        </p:spPr>
      </p:sp>
      <p:sp>
        <p:nvSpPr>
          <p:cNvPr id="12" name="Text 10"/>
          <p:cNvSpPr/>
          <p:nvPr/>
        </p:nvSpPr>
        <p:spPr>
          <a:xfrm>
            <a:off x="347472" y="1152144"/>
            <a:ext cx="2779776" cy="457200"/>
          </a:xfrm>
          <a:prstGeom prst="rect">
            <a:avLst/>
          </a:prstGeom>
          <a:noFill/>
          <a:ln/>
        </p:spPr>
        <p:txBody>
          <a:bodyPr wrap="square" rtlCol="0" anchor="ctr"/>
          <a:lstStyle/>
          <a:p>
            <a:pPr indent="0" marL="0">
              <a:buNone/>
            </a:pPr>
            <a:r>
              <a:rPr lang="en-US" sz="950" b="1" dirty="0">
                <a:solidFill>
                  <a:srgbClr val="1A3A6C"/>
                </a:solidFill>
                <a:latin typeface="Calibri" pitchFamily="34" charset="0"/>
                <a:ea typeface="Calibri" pitchFamily="34" charset="-122"/>
                <a:cs typeface="Calibri" pitchFamily="34" charset="-120"/>
              </a:rPr>
              <a:t>WP #01 Network Architecture</a:t>
            </a:r>
            <a:endParaRPr lang="en-US" sz="950" dirty="0"/>
          </a:p>
        </p:txBody>
      </p:sp>
      <p:sp>
        <p:nvSpPr>
          <p:cNvPr id="13" name="Shape 11"/>
          <p:cNvSpPr/>
          <p:nvPr/>
        </p:nvSpPr>
        <p:spPr>
          <a:xfrm>
            <a:off x="3246120" y="1078992"/>
            <a:ext cx="2560320" cy="548640"/>
          </a:xfrm>
          <a:prstGeom prst="rect">
            <a:avLst/>
          </a:prstGeom>
          <a:solidFill>
            <a:srgbClr val="FFFFFF"/>
          </a:solidFill>
          <a:ln/>
        </p:spPr>
      </p:sp>
      <p:sp>
        <p:nvSpPr>
          <p:cNvPr id="14" name="Text 12"/>
          <p:cNvSpPr/>
          <p:nvPr/>
        </p:nvSpPr>
        <p:spPr>
          <a:xfrm>
            <a:off x="3319272" y="1152144"/>
            <a:ext cx="24140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Net4AI Paradigm</a:t>
            </a:r>
            <a:endParaRPr lang="en-US" sz="950" dirty="0"/>
          </a:p>
        </p:txBody>
      </p:sp>
      <p:sp>
        <p:nvSpPr>
          <p:cNvPr id="15" name="Shape 13"/>
          <p:cNvSpPr/>
          <p:nvPr/>
        </p:nvSpPr>
        <p:spPr>
          <a:xfrm>
            <a:off x="5852160" y="1078992"/>
            <a:ext cx="4389120" cy="548640"/>
          </a:xfrm>
          <a:prstGeom prst="rect">
            <a:avLst/>
          </a:prstGeom>
          <a:solidFill>
            <a:srgbClr val="FFFFFF"/>
          </a:solidFill>
          <a:ln/>
        </p:spPr>
      </p:sp>
      <p:sp>
        <p:nvSpPr>
          <p:cNvPr id="16" name="Text 14"/>
          <p:cNvSpPr/>
          <p:nvPr/>
        </p:nvSpPr>
        <p:spPr>
          <a:xfrm>
            <a:off x="5925312" y="1152144"/>
            <a:ext cx="42428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AI embedded in the network — rejection of overlay AI</a:t>
            </a:r>
            <a:endParaRPr lang="en-US" sz="950" dirty="0"/>
          </a:p>
        </p:txBody>
      </p:sp>
      <p:sp>
        <p:nvSpPr>
          <p:cNvPr id="17" name="Shape 15"/>
          <p:cNvSpPr/>
          <p:nvPr/>
        </p:nvSpPr>
        <p:spPr>
          <a:xfrm>
            <a:off x="10287000" y="1078992"/>
            <a:ext cx="1463040" cy="548640"/>
          </a:xfrm>
          <a:prstGeom prst="rect">
            <a:avLst/>
          </a:prstGeom>
          <a:solidFill>
            <a:srgbClr val="FFFFFF"/>
          </a:solidFill>
          <a:ln/>
        </p:spPr>
      </p:sp>
      <p:sp>
        <p:nvSpPr>
          <p:cNvPr id="18" name="Shape 16"/>
          <p:cNvSpPr/>
          <p:nvPr/>
        </p:nvSpPr>
        <p:spPr>
          <a:xfrm>
            <a:off x="10378440" y="1216152"/>
            <a:ext cx="1280160" cy="274320"/>
          </a:xfrm>
          <a:prstGeom prst="roundRect">
            <a:avLst>
              <a:gd name="adj" fmla="val 13333"/>
            </a:avLst>
          </a:prstGeom>
          <a:solidFill>
            <a:srgbClr val="1A4E20"/>
          </a:solidFill>
          <a:ln/>
        </p:spPr>
      </p:sp>
      <p:sp>
        <p:nvSpPr>
          <p:cNvPr id="19" name="Text 17"/>
          <p:cNvSpPr/>
          <p:nvPr/>
        </p:nvSpPr>
        <p:spPr>
          <a:xfrm>
            <a:off x="10378440" y="1216152"/>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Full Alignment</a:t>
            </a:r>
            <a:endParaRPr lang="en-US" sz="850" dirty="0"/>
          </a:p>
        </p:txBody>
      </p:sp>
      <p:sp>
        <p:nvSpPr>
          <p:cNvPr id="20" name="Shape 18"/>
          <p:cNvSpPr/>
          <p:nvPr/>
        </p:nvSpPr>
        <p:spPr>
          <a:xfrm>
            <a:off x="274320" y="1664208"/>
            <a:ext cx="2926080" cy="548640"/>
          </a:xfrm>
          <a:prstGeom prst="rect">
            <a:avLst/>
          </a:prstGeom>
          <a:solidFill>
            <a:srgbClr val="F0F4FA"/>
          </a:solidFill>
          <a:ln/>
        </p:spPr>
      </p:sp>
      <p:sp>
        <p:nvSpPr>
          <p:cNvPr id="21" name="Text 19"/>
          <p:cNvSpPr/>
          <p:nvPr/>
        </p:nvSpPr>
        <p:spPr>
          <a:xfrm>
            <a:off x="347472" y="1737360"/>
            <a:ext cx="2779776" cy="457200"/>
          </a:xfrm>
          <a:prstGeom prst="rect">
            <a:avLst/>
          </a:prstGeom>
          <a:noFill/>
          <a:ln/>
        </p:spPr>
        <p:txBody>
          <a:bodyPr wrap="square" rtlCol="0" anchor="ctr"/>
          <a:lstStyle/>
          <a:p>
            <a:pPr indent="0" marL="0">
              <a:buNone/>
            </a:pPr>
            <a:r>
              <a:rPr lang="en-US" sz="950" b="1" dirty="0">
                <a:solidFill>
                  <a:srgbClr val="1A3A6C"/>
                </a:solidFill>
                <a:latin typeface="Calibri" pitchFamily="34" charset="0"/>
                <a:ea typeface="Calibri" pitchFamily="34" charset="-122"/>
                <a:cs typeface="Calibri" pitchFamily="34" charset="-120"/>
              </a:rPr>
              <a:t>WP #06 Multimodal-to-Cube Memory</a:t>
            </a:r>
            <a:endParaRPr lang="en-US" sz="950" dirty="0"/>
          </a:p>
        </p:txBody>
      </p:sp>
      <p:sp>
        <p:nvSpPr>
          <p:cNvPr id="22" name="Shape 20"/>
          <p:cNvSpPr/>
          <p:nvPr/>
        </p:nvSpPr>
        <p:spPr>
          <a:xfrm>
            <a:off x="3246120" y="1664208"/>
            <a:ext cx="2560320" cy="548640"/>
          </a:xfrm>
          <a:prstGeom prst="rect">
            <a:avLst/>
          </a:prstGeom>
          <a:solidFill>
            <a:srgbClr val="F0F4FA"/>
          </a:solidFill>
          <a:ln/>
        </p:spPr>
      </p:sp>
      <p:sp>
        <p:nvSpPr>
          <p:cNvPr id="23" name="Text 21"/>
          <p:cNvSpPr/>
          <p:nvPr/>
        </p:nvSpPr>
        <p:spPr>
          <a:xfrm>
            <a:off x="3319272" y="1737360"/>
            <a:ext cx="24140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Generative Model/Process duality</a:t>
            </a:r>
            <a:endParaRPr lang="en-US" sz="950" dirty="0"/>
          </a:p>
        </p:txBody>
      </p:sp>
      <p:sp>
        <p:nvSpPr>
          <p:cNvPr id="24" name="Shape 22"/>
          <p:cNvSpPr/>
          <p:nvPr/>
        </p:nvSpPr>
        <p:spPr>
          <a:xfrm>
            <a:off x="5852160" y="1664208"/>
            <a:ext cx="4389120" cy="548640"/>
          </a:xfrm>
          <a:prstGeom prst="rect">
            <a:avLst/>
          </a:prstGeom>
          <a:solidFill>
            <a:srgbClr val="F0F4FA"/>
          </a:solidFill>
          <a:ln/>
        </p:spPr>
      </p:sp>
      <p:sp>
        <p:nvSpPr>
          <p:cNvPr id="25" name="Text 23"/>
          <p:cNvSpPr/>
          <p:nvPr/>
        </p:nvSpPr>
        <p:spPr>
          <a:xfrm>
            <a:off x="5925312" y="1737360"/>
            <a:ext cx="42428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Raw (immutable) + Cube (semantic) = Generative Process + Generative Model</a:t>
            </a:r>
            <a:endParaRPr lang="en-US" sz="950" dirty="0"/>
          </a:p>
        </p:txBody>
      </p:sp>
      <p:sp>
        <p:nvSpPr>
          <p:cNvPr id="26" name="Shape 24"/>
          <p:cNvSpPr/>
          <p:nvPr/>
        </p:nvSpPr>
        <p:spPr>
          <a:xfrm>
            <a:off x="10287000" y="1664208"/>
            <a:ext cx="1463040" cy="548640"/>
          </a:xfrm>
          <a:prstGeom prst="rect">
            <a:avLst/>
          </a:prstGeom>
          <a:solidFill>
            <a:srgbClr val="F0F4FA"/>
          </a:solidFill>
          <a:ln/>
        </p:spPr>
      </p:sp>
      <p:sp>
        <p:nvSpPr>
          <p:cNvPr id="27" name="Shape 25"/>
          <p:cNvSpPr/>
          <p:nvPr/>
        </p:nvSpPr>
        <p:spPr>
          <a:xfrm>
            <a:off x="10378440" y="1801368"/>
            <a:ext cx="1280160" cy="274320"/>
          </a:xfrm>
          <a:prstGeom prst="roundRect">
            <a:avLst>
              <a:gd name="adj" fmla="val 13333"/>
            </a:avLst>
          </a:prstGeom>
          <a:solidFill>
            <a:srgbClr val="1A4E20"/>
          </a:solidFill>
          <a:ln/>
        </p:spPr>
      </p:sp>
      <p:sp>
        <p:nvSpPr>
          <p:cNvPr id="28" name="Text 26"/>
          <p:cNvSpPr/>
          <p:nvPr/>
        </p:nvSpPr>
        <p:spPr>
          <a:xfrm>
            <a:off x="10378440" y="1801368"/>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Full Alignment</a:t>
            </a:r>
            <a:endParaRPr lang="en-US" sz="850" dirty="0"/>
          </a:p>
        </p:txBody>
      </p:sp>
      <p:sp>
        <p:nvSpPr>
          <p:cNvPr id="29" name="Shape 27"/>
          <p:cNvSpPr/>
          <p:nvPr/>
        </p:nvSpPr>
        <p:spPr>
          <a:xfrm>
            <a:off x="274320" y="2249424"/>
            <a:ext cx="2926080" cy="548640"/>
          </a:xfrm>
          <a:prstGeom prst="rect">
            <a:avLst/>
          </a:prstGeom>
          <a:solidFill>
            <a:srgbClr val="FFFFFF"/>
          </a:solidFill>
          <a:ln/>
        </p:spPr>
      </p:sp>
      <p:sp>
        <p:nvSpPr>
          <p:cNvPr id="30" name="Text 28"/>
          <p:cNvSpPr/>
          <p:nvPr/>
        </p:nvSpPr>
        <p:spPr>
          <a:xfrm>
            <a:off x="347472" y="2322576"/>
            <a:ext cx="2779776" cy="457200"/>
          </a:xfrm>
          <a:prstGeom prst="rect">
            <a:avLst/>
          </a:prstGeom>
          <a:noFill/>
          <a:ln/>
        </p:spPr>
        <p:txBody>
          <a:bodyPr wrap="square" rtlCol="0" anchor="ctr"/>
          <a:lstStyle/>
          <a:p>
            <a:pPr indent="0" marL="0">
              <a:buNone/>
            </a:pPr>
            <a:r>
              <a:rPr lang="en-US" sz="950" b="1" dirty="0">
                <a:solidFill>
                  <a:srgbClr val="1A3A6C"/>
                </a:solidFill>
                <a:latin typeface="Calibri" pitchFamily="34" charset="0"/>
                <a:ea typeface="Calibri" pitchFamily="34" charset="-122"/>
                <a:cs typeface="Calibri" pitchFamily="34" charset="-120"/>
              </a:rPr>
              <a:t>WP #07 Mathematical Framework</a:t>
            </a:r>
            <a:endParaRPr lang="en-US" sz="950" dirty="0"/>
          </a:p>
        </p:txBody>
      </p:sp>
      <p:sp>
        <p:nvSpPr>
          <p:cNvPr id="31" name="Shape 29"/>
          <p:cNvSpPr/>
          <p:nvPr/>
        </p:nvSpPr>
        <p:spPr>
          <a:xfrm>
            <a:off x="3246120" y="2249424"/>
            <a:ext cx="2560320" cy="548640"/>
          </a:xfrm>
          <a:prstGeom prst="rect">
            <a:avLst/>
          </a:prstGeom>
          <a:solidFill>
            <a:srgbClr val="FFFFFF"/>
          </a:solidFill>
          <a:ln/>
        </p:spPr>
      </p:sp>
      <p:sp>
        <p:nvSpPr>
          <p:cNvPr id="32" name="Text 30"/>
          <p:cNvSpPr/>
          <p:nvPr/>
        </p:nvSpPr>
        <p:spPr>
          <a:xfrm>
            <a:off x="3319272" y="2322576"/>
            <a:ext cx="24140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Markov Blanket mathematics</a:t>
            </a:r>
            <a:endParaRPr lang="en-US" sz="950" dirty="0"/>
          </a:p>
        </p:txBody>
      </p:sp>
      <p:sp>
        <p:nvSpPr>
          <p:cNvPr id="33" name="Shape 31"/>
          <p:cNvSpPr/>
          <p:nvPr/>
        </p:nvSpPr>
        <p:spPr>
          <a:xfrm>
            <a:off x="5852160" y="2249424"/>
            <a:ext cx="4389120" cy="548640"/>
          </a:xfrm>
          <a:prstGeom prst="rect">
            <a:avLst/>
          </a:prstGeom>
          <a:solidFill>
            <a:srgbClr val="FFFFFF"/>
          </a:solidFill>
          <a:ln/>
        </p:spPr>
      </p:sp>
      <p:sp>
        <p:nvSpPr>
          <p:cNvPr id="34" name="Text 32"/>
          <p:cNvSpPr/>
          <p:nvPr/>
        </p:nvSpPr>
        <p:spPr>
          <a:xfrm>
            <a:off x="5925312" y="2322576"/>
            <a:ext cx="42428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Q7 Hypercube = structural expression of multi-dimensional Markov Blanket</a:t>
            </a:r>
            <a:endParaRPr lang="en-US" sz="950" dirty="0"/>
          </a:p>
        </p:txBody>
      </p:sp>
      <p:sp>
        <p:nvSpPr>
          <p:cNvPr id="35" name="Shape 33"/>
          <p:cNvSpPr/>
          <p:nvPr/>
        </p:nvSpPr>
        <p:spPr>
          <a:xfrm>
            <a:off x="10287000" y="2249424"/>
            <a:ext cx="1463040" cy="548640"/>
          </a:xfrm>
          <a:prstGeom prst="rect">
            <a:avLst/>
          </a:prstGeom>
          <a:solidFill>
            <a:srgbClr val="FFFFFF"/>
          </a:solidFill>
          <a:ln/>
        </p:spPr>
      </p:sp>
      <p:sp>
        <p:nvSpPr>
          <p:cNvPr id="36" name="Shape 34"/>
          <p:cNvSpPr/>
          <p:nvPr/>
        </p:nvSpPr>
        <p:spPr>
          <a:xfrm>
            <a:off x="10378440" y="2386584"/>
            <a:ext cx="1280160" cy="274320"/>
          </a:xfrm>
          <a:prstGeom prst="roundRect">
            <a:avLst>
              <a:gd name="adj" fmla="val 13333"/>
            </a:avLst>
          </a:prstGeom>
          <a:solidFill>
            <a:srgbClr val="5A3010"/>
          </a:solidFill>
          <a:ln/>
        </p:spPr>
      </p:sp>
      <p:sp>
        <p:nvSpPr>
          <p:cNvPr id="37" name="Text 35"/>
          <p:cNvSpPr/>
          <p:nvPr/>
        </p:nvSpPr>
        <p:spPr>
          <a:xfrm>
            <a:off x="10378440" y="2386584"/>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Conceptual Alignment</a:t>
            </a:r>
            <a:endParaRPr lang="en-US" sz="850" dirty="0"/>
          </a:p>
        </p:txBody>
      </p:sp>
      <p:sp>
        <p:nvSpPr>
          <p:cNvPr id="38" name="Shape 36"/>
          <p:cNvSpPr/>
          <p:nvPr/>
        </p:nvSpPr>
        <p:spPr>
          <a:xfrm>
            <a:off x="274320" y="2834640"/>
            <a:ext cx="2926080" cy="548640"/>
          </a:xfrm>
          <a:prstGeom prst="rect">
            <a:avLst/>
          </a:prstGeom>
          <a:solidFill>
            <a:srgbClr val="F0F4FA"/>
          </a:solidFill>
          <a:ln/>
        </p:spPr>
      </p:sp>
      <p:sp>
        <p:nvSpPr>
          <p:cNvPr id="39" name="Text 37"/>
          <p:cNvSpPr/>
          <p:nvPr/>
        </p:nvSpPr>
        <p:spPr>
          <a:xfrm>
            <a:off x="347472" y="2907792"/>
            <a:ext cx="2779776" cy="457200"/>
          </a:xfrm>
          <a:prstGeom prst="rect">
            <a:avLst/>
          </a:prstGeom>
          <a:noFill/>
          <a:ln/>
        </p:spPr>
        <p:txBody>
          <a:bodyPr wrap="square" rtlCol="0" anchor="ctr"/>
          <a:lstStyle/>
          <a:p>
            <a:pPr indent="0" marL="0">
              <a:buNone/>
            </a:pPr>
            <a:r>
              <a:rPr lang="en-US" sz="950" b="1" dirty="0">
                <a:solidFill>
                  <a:srgbClr val="1A3A6C"/>
                </a:solidFill>
                <a:latin typeface="Calibri" pitchFamily="34" charset="0"/>
                <a:ea typeface="Calibri" pitchFamily="34" charset="-122"/>
                <a:cs typeface="Calibri" pitchFamily="34" charset="-120"/>
              </a:rPr>
              <a:t>WP #08 AI Architecture</a:t>
            </a:r>
            <a:endParaRPr lang="en-US" sz="950" dirty="0"/>
          </a:p>
        </p:txBody>
      </p:sp>
      <p:sp>
        <p:nvSpPr>
          <p:cNvPr id="40" name="Shape 38"/>
          <p:cNvSpPr/>
          <p:nvPr/>
        </p:nvSpPr>
        <p:spPr>
          <a:xfrm>
            <a:off x="3246120" y="2834640"/>
            <a:ext cx="2560320" cy="548640"/>
          </a:xfrm>
          <a:prstGeom prst="rect">
            <a:avLst/>
          </a:prstGeom>
          <a:solidFill>
            <a:srgbClr val="F0F4FA"/>
          </a:solidFill>
          <a:ln/>
        </p:spPr>
      </p:sp>
      <p:sp>
        <p:nvSpPr>
          <p:cNvPr id="41" name="Text 39"/>
          <p:cNvSpPr/>
          <p:nvPr/>
        </p:nvSpPr>
        <p:spPr>
          <a:xfrm>
            <a:off x="3319272" y="2907792"/>
            <a:ext cx="24140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Active Inference 3-layer hierarchy</a:t>
            </a:r>
            <a:endParaRPr lang="en-US" sz="950" dirty="0"/>
          </a:p>
        </p:txBody>
      </p:sp>
      <p:sp>
        <p:nvSpPr>
          <p:cNvPr id="42" name="Shape 40"/>
          <p:cNvSpPr/>
          <p:nvPr/>
        </p:nvSpPr>
        <p:spPr>
          <a:xfrm>
            <a:off x="5852160" y="2834640"/>
            <a:ext cx="4389120" cy="548640"/>
          </a:xfrm>
          <a:prstGeom prst="rect">
            <a:avLst/>
          </a:prstGeom>
          <a:solidFill>
            <a:srgbClr val="F0F4FA"/>
          </a:solidFill>
          <a:ln/>
        </p:spPr>
      </p:sp>
      <p:sp>
        <p:nvSpPr>
          <p:cNvPr id="43" name="Text 41"/>
          <p:cNvSpPr/>
          <p:nvPr/>
        </p:nvSpPr>
        <p:spPr>
          <a:xfrm>
            <a:off x="5925312" y="2907792"/>
            <a:ext cx="42428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PAI/AAI/AsAI = hierarchical nested Markov Blanket structure</a:t>
            </a:r>
            <a:endParaRPr lang="en-US" sz="950" dirty="0"/>
          </a:p>
        </p:txBody>
      </p:sp>
      <p:sp>
        <p:nvSpPr>
          <p:cNvPr id="44" name="Shape 42"/>
          <p:cNvSpPr/>
          <p:nvPr/>
        </p:nvSpPr>
        <p:spPr>
          <a:xfrm>
            <a:off x="10287000" y="2834640"/>
            <a:ext cx="1463040" cy="548640"/>
          </a:xfrm>
          <a:prstGeom prst="rect">
            <a:avLst/>
          </a:prstGeom>
          <a:solidFill>
            <a:srgbClr val="F0F4FA"/>
          </a:solidFill>
          <a:ln/>
        </p:spPr>
      </p:sp>
      <p:sp>
        <p:nvSpPr>
          <p:cNvPr id="45" name="Shape 43"/>
          <p:cNvSpPr/>
          <p:nvPr/>
        </p:nvSpPr>
        <p:spPr>
          <a:xfrm>
            <a:off x="10378440" y="2971800"/>
            <a:ext cx="1280160" cy="274320"/>
          </a:xfrm>
          <a:prstGeom prst="roundRect">
            <a:avLst>
              <a:gd name="adj" fmla="val 13333"/>
            </a:avLst>
          </a:prstGeom>
          <a:solidFill>
            <a:srgbClr val="1A4E20"/>
          </a:solidFill>
          <a:ln/>
        </p:spPr>
      </p:sp>
      <p:sp>
        <p:nvSpPr>
          <p:cNvPr id="46" name="Text 44"/>
          <p:cNvSpPr/>
          <p:nvPr/>
        </p:nvSpPr>
        <p:spPr>
          <a:xfrm>
            <a:off x="10378440" y="2971800"/>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Full Alignment</a:t>
            </a:r>
            <a:endParaRPr lang="en-US" sz="850" dirty="0"/>
          </a:p>
        </p:txBody>
      </p:sp>
      <p:sp>
        <p:nvSpPr>
          <p:cNvPr id="47" name="Shape 45"/>
          <p:cNvSpPr/>
          <p:nvPr/>
        </p:nvSpPr>
        <p:spPr>
          <a:xfrm>
            <a:off x="274320" y="3419856"/>
            <a:ext cx="2926080" cy="548640"/>
          </a:xfrm>
          <a:prstGeom prst="rect">
            <a:avLst/>
          </a:prstGeom>
          <a:solidFill>
            <a:srgbClr val="FFFFFF"/>
          </a:solidFill>
          <a:ln/>
        </p:spPr>
      </p:sp>
      <p:sp>
        <p:nvSpPr>
          <p:cNvPr id="48" name="Text 46"/>
          <p:cNvSpPr/>
          <p:nvPr/>
        </p:nvSpPr>
        <p:spPr>
          <a:xfrm>
            <a:off x="347472" y="3493008"/>
            <a:ext cx="2779776" cy="457200"/>
          </a:xfrm>
          <a:prstGeom prst="rect">
            <a:avLst/>
          </a:prstGeom>
          <a:noFill/>
          <a:ln/>
        </p:spPr>
        <p:txBody>
          <a:bodyPr wrap="square" rtlCol="0" anchor="ctr"/>
          <a:lstStyle/>
          <a:p>
            <a:pPr indent="0" marL="0">
              <a:buNone/>
            </a:pPr>
            <a:r>
              <a:rPr lang="en-US" sz="950" b="1" dirty="0">
                <a:solidFill>
                  <a:srgbClr val="1A3A6C"/>
                </a:solidFill>
                <a:latin typeface="Calibri" pitchFamily="34" charset="0"/>
                <a:ea typeface="Calibri" pitchFamily="34" charset="-122"/>
                <a:cs typeface="Calibri" pitchFamily="34" charset="-120"/>
              </a:rPr>
              <a:t>WP #09 Three-Layer AI System</a:t>
            </a:r>
            <a:endParaRPr lang="en-US" sz="950" dirty="0"/>
          </a:p>
        </p:txBody>
      </p:sp>
      <p:sp>
        <p:nvSpPr>
          <p:cNvPr id="49" name="Shape 47"/>
          <p:cNvSpPr/>
          <p:nvPr/>
        </p:nvSpPr>
        <p:spPr>
          <a:xfrm>
            <a:off x="3246120" y="3419856"/>
            <a:ext cx="2560320" cy="548640"/>
          </a:xfrm>
          <a:prstGeom prst="rect">
            <a:avLst/>
          </a:prstGeom>
          <a:solidFill>
            <a:srgbClr val="FFFFFF"/>
          </a:solidFill>
          <a:ln/>
        </p:spPr>
      </p:sp>
      <p:sp>
        <p:nvSpPr>
          <p:cNvPr id="50" name="Text 48"/>
          <p:cNvSpPr/>
          <p:nvPr/>
        </p:nvSpPr>
        <p:spPr>
          <a:xfrm>
            <a:off x="3319272" y="3493008"/>
            <a:ext cx="24140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Experience-based learning</a:t>
            </a:r>
            <a:endParaRPr lang="en-US" sz="950" dirty="0"/>
          </a:p>
        </p:txBody>
      </p:sp>
      <p:sp>
        <p:nvSpPr>
          <p:cNvPr id="51" name="Shape 49"/>
          <p:cNvSpPr/>
          <p:nvPr/>
        </p:nvSpPr>
        <p:spPr>
          <a:xfrm>
            <a:off x="5852160" y="3419856"/>
            <a:ext cx="4389120" cy="548640"/>
          </a:xfrm>
          <a:prstGeom prst="rect">
            <a:avLst/>
          </a:prstGeom>
          <a:solidFill>
            <a:srgbClr val="FFFFFF"/>
          </a:solidFill>
          <a:ln/>
        </p:spPr>
      </p:sp>
      <p:sp>
        <p:nvSpPr>
          <p:cNvPr id="52" name="Text 50"/>
          <p:cNvSpPr/>
          <p:nvPr/>
        </p:nvSpPr>
        <p:spPr>
          <a:xfrm>
            <a:off x="5925312" y="3493008"/>
            <a:ext cx="42428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PAI SEU accumulation = 'a child learning with a few experiences' (Maier)</a:t>
            </a:r>
            <a:endParaRPr lang="en-US" sz="950" dirty="0"/>
          </a:p>
        </p:txBody>
      </p:sp>
      <p:sp>
        <p:nvSpPr>
          <p:cNvPr id="53" name="Shape 51"/>
          <p:cNvSpPr/>
          <p:nvPr/>
        </p:nvSpPr>
        <p:spPr>
          <a:xfrm>
            <a:off x="10287000" y="3419856"/>
            <a:ext cx="1463040" cy="548640"/>
          </a:xfrm>
          <a:prstGeom prst="rect">
            <a:avLst/>
          </a:prstGeom>
          <a:solidFill>
            <a:srgbClr val="FFFFFF"/>
          </a:solidFill>
          <a:ln/>
        </p:spPr>
      </p:sp>
      <p:sp>
        <p:nvSpPr>
          <p:cNvPr id="54" name="Shape 52"/>
          <p:cNvSpPr/>
          <p:nvPr/>
        </p:nvSpPr>
        <p:spPr>
          <a:xfrm>
            <a:off x="10378440" y="3557016"/>
            <a:ext cx="1280160" cy="274320"/>
          </a:xfrm>
          <a:prstGeom prst="roundRect">
            <a:avLst>
              <a:gd name="adj" fmla="val 13333"/>
            </a:avLst>
          </a:prstGeom>
          <a:solidFill>
            <a:srgbClr val="1A4E20"/>
          </a:solidFill>
          <a:ln/>
        </p:spPr>
      </p:sp>
      <p:sp>
        <p:nvSpPr>
          <p:cNvPr id="55" name="Text 53"/>
          <p:cNvSpPr/>
          <p:nvPr/>
        </p:nvSpPr>
        <p:spPr>
          <a:xfrm>
            <a:off x="10378440" y="3557016"/>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Core Alignment</a:t>
            </a:r>
            <a:endParaRPr lang="en-US" sz="850" dirty="0"/>
          </a:p>
        </p:txBody>
      </p:sp>
      <p:sp>
        <p:nvSpPr>
          <p:cNvPr id="56" name="Shape 54"/>
          <p:cNvSpPr/>
          <p:nvPr/>
        </p:nvSpPr>
        <p:spPr>
          <a:xfrm>
            <a:off x="274320" y="4005072"/>
            <a:ext cx="2926080" cy="548640"/>
          </a:xfrm>
          <a:prstGeom prst="rect">
            <a:avLst/>
          </a:prstGeom>
          <a:solidFill>
            <a:srgbClr val="F0F4FA"/>
          </a:solidFill>
          <a:ln/>
        </p:spPr>
      </p:sp>
      <p:sp>
        <p:nvSpPr>
          <p:cNvPr id="57" name="Text 55"/>
          <p:cNvSpPr/>
          <p:nvPr/>
        </p:nvSpPr>
        <p:spPr>
          <a:xfrm>
            <a:off x="347472" y="4078224"/>
            <a:ext cx="2779776" cy="457200"/>
          </a:xfrm>
          <a:prstGeom prst="rect">
            <a:avLst/>
          </a:prstGeom>
          <a:noFill/>
          <a:ln/>
        </p:spPr>
        <p:txBody>
          <a:bodyPr wrap="square" rtlCol="0" anchor="ctr"/>
          <a:lstStyle/>
          <a:p>
            <a:pPr indent="0" marL="0">
              <a:buNone/>
            </a:pPr>
            <a:r>
              <a:rPr lang="en-US" sz="950" b="1" dirty="0">
                <a:solidFill>
                  <a:srgbClr val="1A3A6C"/>
                </a:solidFill>
                <a:latin typeface="Calibri" pitchFamily="34" charset="0"/>
                <a:ea typeface="Calibri" pitchFamily="34" charset="-122"/>
                <a:cs typeface="Calibri" pitchFamily="34" charset="-120"/>
              </a:rPr>
              <a:t>WP #19 Cognition Cube System</a:t>
            </a:r>
            <a:endParaRPr lang="en-US" sz="950" dirty="0"/>
          </a:p>
        </p:txBody>
      </p:sp>
      <p:sp>
        <p:nvSpPr>
          <p:cNvPr id="58" name="Shape 56"/>
          <p:cNvSpPr/>
          <p:nvPr/>
        </p:nvSpPr>
        <p:spPr>
          <a:xfrm>
            <a:off x="3246120" y="4005072"/>
            <a:ext cx="2560320" cy="548640"/>
          </a:xfrm>
          <a:prstGeom prst="rect">
            <a:avLst/>
          </a:prstGeom>
          <a:solidFill>
            <a:srgbClr val="F0F4FA"/>
          </a:solidFill>
          <a:ln/>
        </p:spPr>
      </p:sp>
      <p:sp>
        <p:nvSpPr>
          <p:cNvPr id="59" name="Text 57"/>
          <p:cNvSpPr/>
          <p:nvPr/>
        </p:nvSpPr>
        <p:spPr>
          <a:xfrm>
            <a:off x="3319272" y="4078224"/>
            <a:ext cx="24140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Action-Perception Loop</a:t>
            </a:r>
            <a:endParaRPr lang="en-US" sz="950" dirty="0"/>
          </a:p>
        </p:txBody>
      </p:sp>
      <p:sp>
        <p:nvSpPr>
          <p:cNvPr id="60" name="Shape 58"/>
          <p:cNvSpPr/>
          <p:nvPr/>
        </p:nvSpPr>
        <p:spPr>
          <a:xfrm>
            <a:off x="5852160" y="4005072"/>
            <a:ext cx="4389120" cy="548640"/>
          </a:xfrm>
          <a:prstGeom prst="rect">
            <a:avLst/>
          </a:prstGeom>
          <a:solidFill>
            <a:srgbClr val="F0F4FA"/>
          </a:solidFill>
          <a:ln/>
        </p:spPr>
      </p:sp>
      <p:sp>
        <p:nvSpPr>
          <p:cNvPr id="61" name="Text 59"/>
          <p:cNvSpPr/>
          <p:nvPr/>
        </p:nvSpPr>
        <p:spPr>
          <a:xfrm>
            <a:off x="5925312" y="4078224"/>
            <a:ext cx="42428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T/C/I/E 4 axes = structural implementation of FEP; I-axis = intent-centric cognition</a:t>
            </a:r>
            <a:endParaRPr lang="en-US" sz="950" dirty="0"/>
          </a:p>
        </p:txBody>
      </p:sp>
      <p:sp>
        <p:nvSpPr>
          <p:cNvPr id="62" name="Shape 60"/>
          <p:cNvSpPr/>
          <p:nvPr/>
        </p:nvSpPr>
        <p:spPr>
          <a:xfrm>
            <a:off x="10287000" y="4005072"/>
            <a:ext cx="1463040" cy="548640"/>
          </a:xfrm>
          <a:prstGeom prst="rect">
            <a:avLst/>
          </a:prstGeom>
          <a:solidFill>
            <a:srgbClr val="F0F4FA"/>
          </a:solidFill>
          <a:ln/>
        </p:spPr>
      </p:sp>
      <p:sp>
        <p:nvSpPr>
          <p:cNvPr id="63" name="Shape 61"/>
          <p:cNvSpPr/>
          <p:nvPr/>
        </p:nvSpPr>
        <p:spPr>
          <a:xfrm>
            <a:off x="10378440" y="4142232"/>
            <a:ext cx="1280160" cy="274320"/>
          </a:xfrm>
          <a:prstGeom prst="roundRect">
            <a:avLst>
              <a:gd name="adj" fmla="val 13333"/>
            </a:avLst>
          </a:prstGeom>
          <a:solidFill>
            <a:srgbClr val="1A4E20"/>
          </a:solidFill>
          <a:ln/>
        </p:spPr>
      </p:sp>
      <p:sp>
        <p:nvSpPr>
          <p:cNvPr id="64" name="Text 62"/>
          <p:cNvSpPr/>
          <p:nvPr/>
        </p:nvSpPr>
        <p:spPr>
          <a:xfrm>
            <a:off x="10378440" y="4142232"/>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Core Alignment</a:t>
            </a:r>
            <a:endParaRPr lang="en-US" sz="850" dirty="0"/>
          </a:p>
        </p:txBody>
      </p:sp>
      <p:sp>
        <p:nvSpPr>
          <p:cNvPr id="65" name="Shape 63"/>
          <p:cNvSpPr/>
          <p:nvPr/>
        </p:nvSpPr>
        <p:spPr>
          <a:xfrm>
            <a:off x="274320" y="4590288"/>
            <a:ext cx="2926080" cy="548640"/>
          </a:xfrm>
          <a:prstGeom prst="rect">
            <a:avLst/>
          </a:prstGeom>
          <a:solidFill>
            <a:srgbClr val="FFFFFF"/>
          </a:solidFill>
          <a:ln/>
        </p:spPr>
      </p:sp>
      <p:sp>
        <p:nvSpPr>
          <p:cNvPr id="66" name="Text 64"/>
          <p:cNvSpPr/>
          <p:nvPr/>
        </p:nvSpPr>
        <p:spPr>
          <a:xfrm>
            <a:off x="347472" y="4663440"/>
            <a:ext cx="2779776" cy="457200"/>
          </a:xfrm>
          <a:prstGeom prst="rect">
            <a:avLst/>
          </a:prstGeom>
          <a:noFill/>
          <a:ln/>
        </p:spPr>
        <p:txBody>
          <a:bodyPr wrap="square" rtlCol="0" anchor="ctr"/>
          <a:lstStyle/>
          <a:p>
            <a:pPr indent="0" marL="0">
              <a:buNone/>
            </a:pPr>
            <a:r>
              <a:rPr lang="en-US" sz="950" b="1" dirty="0">
                <a:solidFill>
                  <a:srgbClr val="1A3A6C"/>
                </a:solidFill>
                <a:latin typeface="Calibri" pitchFamily="34" charset="0"/>
                <a:ea typeface="Calibri" pitchFamily="34" charset="-122"/>
                <a:cs typeface="Calibri" pitchFamily="34" charset="-120"/>
              </a:rPr>
              <a:t>WP #22 H6-Based 6G RAN</a:t>
            </a:r>
            <a:endParaRPr lang="en-US" sz="950" dirty="0"/>
          </a:p>
        </p:txBody>
      </p:sp>
      <p:sp>
        <p:nvSpPr>
          <p:cNvPr id="67" name="Shape 65"/>
          <p:cNvSpPr/>
          <p:nvPr/>
        </p:nvSpPr>
        <p:spPr>
          <a:xfrm>
            <a:off x="3246120" y="4590288"/>
            <a:ext cx="2560320" cy="548640"/>
          </a:xfrm>
          <a:prstGeom prst="rect">
            <a:avLst/>
          </a:prstGeom>
          <a:solidFill>
            <a:srgbClr val="FFFFFF"/>
          </a:solidFill>
          <a:ln/>
        </p:spPr>
      </p:sp>
      <p:sp>
        <p:nvSpPr>
          <p:cNvPr id="68" name="Text 66"/>
          <p:cNvSpPr/>
          <p:nvPr/>
        </p:nvSpPr>
        <p:spPr>
          <a:xfrm>
            <a:off x="3319272" y="4663440"/>
            <a:ext cx="24140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AI-Native 6G / ISAC</a:t>
            </a:r>
            <a:endParaRPr lang="en-US" sz="950" dirty="0"/>
          </a:p>
        </p:txBody>
      </p:sp>
      <p:sp>
        <p:nvSpPr>
          <p:cNvPr id="69" name="Shape 67"/>
          <p:cNvSpPr/>
          <p:nvPr/>
        </p:nvSpPr>
        <p:spPr>
          <a:xfrm>
            <a:off x="5852160" y="4590288"/>
            <a:ext cx="4389120" cy="548640"/>
          </a:xfrm>
          <a:prstGeom prst="rect">
            <a:avLst/>
          </a:prstGeom>
          <a:solidFill>
            <a:srgbClr val="FFFFFF"/>
          </a:solidFill>
          <a:ln/>
        </p:spPr>
      </p:sp>
      <p:sp>
        <p:nvSpPr>
          <p:cNvPr id="70" name="Text 68"/>
          <p:cNvSpPr/>
          <p:nvPr/>
        </p:nvSpPr>
        <p:spPr>
          <a:xfrm>
            <a:off x="5925312" y="4663440"/>
            <a:ext cx="42428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H6 optical core = physical Action-Perception channel</a:t>
            </a:r>
            <a:endParaRPr lang="en-US" sz="950" dirty="0"/>
          </a:p>
        </p:txBody>
      </p:sp>
      <p:sp>
        <p:nvSpPr>
          <p:cNvPr id="71" name="Shape 69"/>
          <p:cNvSpPr/>
          <p:nvPr/>
        </p:nvSpPr>
        <p:spPr>
          <a:xfrm>
            <a:off x="10287000" y="4590288"/>
            <a:ext cx="1463040" cy="548640"/>
          </a:xfrm>
          <a:prstGeom prst="rect">
            <a:avLst/>
          </a:prstGeom>
          <a:solidFill>
            <a:srgbClr val="FFFFFF"/>
          </a:solidFill>
          <a:ln/>
        </p:spPr>
      </p:sp>
      <p:sp>
        <p:nvSpPr>
          <p:cNvPr id="72" name="Shape 70"/>
          <p:cNvSpPr/>
          <p:nvPr/>
        </p:nvSpPr>
        <p:spPr>
          <a:xfrm>
            <a:off x="10378440" y="4727448"/>
            <a:ext cx="1280160" cy="274320"/>
          </a:xfrm>
          <a:prstGeom prst="roundRect">
            <a:avLst>
              <a:gd name="adj" fmla="val 13333"/>
            </a:avLst>
          </a:prstGeom>
          <a:solidFill>
            <a:srgbClr val="5A3010"/>
          </a:solidFill>
          <a:ln/>
        </p:spPr>
      </p:sp>
      <p:sp>
        <p:nvSpPr>
          <p:cNvPr id="73" name="Text 71"/>
          <p:cNvSpPr/>
          <p:nvPr/>
        </p:nvSpPr>
        <p:spPr>
          <a:xfrm>
            <a:off x="10378440" y="4727448"/>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Structural Alignment</a:t>
            </a:r>
            <a:endParaRPr lang="en-US" sz="850" dirty="0"/>
          </a:p>
        </p:txBody>
      </p:sp>
      <p:sp>
        <p:nvSpPr>
          <p:cNvPr id="74" name="Shape 72"/>
          <p:cNvSpPr/>
          <p:nvPr/>
        </p:nvSpPr>
        <p:spPr>
          <a:xfrm>
            <a:off x="274320" y="5175504"/>
            <a:ext cx="2926080" cy="548640"/>
          </a:xfrm>
          <a:prstGeom prst="rect">
            <a:avLst/>
          </a:prstGeom>
          <a:solidFill>
            <a:srgbClr val="F0F4FA"/>
          </a:solidFill>
          <a:ln/>
        </p:spPr>
      </p:sp>
      <p:sp>
        <p:nvSpPr>
          <p:cNvPr id="75" name="Text 73"/>
          <p:cNvSpPr/>
          <p:nvPr/>
        </p:nvSpPr>
        <p:spPr>
          <a:xfrm>
            <a:off x="347472" y="5248656"/>
            <a:ext cx="2779776" cy="457200"/>
          </a:xfrm>
          <a:prstGeom prst="rect">
            <a:avLst/>
          </a:prstGeom>
          <a:noFill/>
          <a:ln/>
        </p:spPr>
        <p:txBody>
          <a:bodyPr wrap="square" rtlCol="0" anchor="ctr"/>
          <a:lstStyle/>
          <a:p>
            <a:pPr indent="0" marL="0">
              <a:buNone/>
            </a:pPr>
            <a:r>
              <a:rPr lang="en-US" sz="950" b="1" dirty="0">
                <a:solidFill>
                  <a:srgbClr val="1A3A6C"/>
                </a:solidFill>
                <a:latin typeface="Calibri" pitchFamily="34" charset="0"/>
                <a:ea typeface="Calibri" pitchFamily="34" charset="-122"/>
                <a:cs typeface="Calibri" pitchFamily="34" charset="-120"/>
              </a:rPr>
              <a:t>WP #11 IVGF / Governance</a:t>
            </a:r>
            <a:endParaRPr lang="en-US" sz="950" dirty="0"/>
          </a:p>
        </p:txBody>
      </p:sp>
      <p:sp>
        <p:nvSpPr>
          <p:cNvPr id="76" name="Shape 74"/>
          <p:cNvSpPr/>
          <p:nvPr/>
        </p:nvSpPr>
        <p:spPr>
          <a:xfrm>
            <a:off x="3246120" y="5175504"/>
            <a:ext cx="2560320" cy="548640"/>
          </a:xfrm>
          <a:prstGeom prst="rect">
            <a:avLst/>
          </a:prstGeom>
          <a:solidFill>
            <a:srgbClr val="F0F4FA"/>
          </a:solidFill>
          <a:ln/>
        </p:spPr>
      </p:sp>
      <p:sp>
        <p:nvSpPr>
          <p:cNvPr id="77" name="Text 75"/>
          <p:cNvSpPr/>
          <p:nvPr/>
        </p:nvSpPr>
        <p:spPr>
          <a:xfrm>
            <a:off x="3319272" y="5248656"/>
            <a:ext cx="24140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Circular Causality / Teleology</a:t>
            </a:r>
            <a:endParaRPr lang="en-US" sz="950" dirty="0"/>
          </a:p>
        </p:txBody>
      </p:sp>
      <p:sp>
        <p:nvSpPr>
          <p:cNvPr id="78" name="Shape 76"/>
          <p:cNvSpPr/>
          <p:nvPr/>
        </p:nvSpPr>
        <p:spPr>
          <a:xfrm>
            <a:off x="5852160" y="5175504"/>
            <a:ext cx="4389120" cy="548640"/>
          </a:xfrm>
          <a:prstGeom prst="rect">
            <a:avLst/>
          </a:prstGeom>
          <a:solidFill>
            <a:srgbClr val="F0F4FA"/>
          </a:solidFill>
          <a:ln/>
        </p:spPr>
      </p:sp>
      <p:sp>
        <p:nvSpPr>
          <p:cNvPr id="79" name="Text 77"/>
          <p:cNvSpPr/>
          <p:nvPr/>
        </p:nvSpPr>
        <p:spPr>
          <a:xfrm>
            <a:off x="5925312" y="5248656"/>
            <a:ext cx="42428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Decentralized governance = purpose-driven feedback control</a:t>
            </a:r>
            <a:endParaRPr lang="en-US" sz="950" dirty="0"/>
          </a:p>
        </p:txBody>
      </p:sp>
      <p:sp>
        <p:nvSpPr>
          <p:cNvPr id="80" name="Shape 78"/>
          <p:cNvSpPr/>
          <p:nvPr/>
        </p:nvSpPr>
        <p:spPr>
          <a:xfrm>
            <a:off x="10287000" y="5175504"/>
            <a:ext cx="1463040" cy="548640"/>
          </a:xfrm>
          <a:prstGeom prst="rect">
            <a:avLst/>
          </a:prstGeom>
          <a:solidFill>
            <a:srgbClr val="F0F4FA"/>
          </a:solidFill>
          <a:ln/>
        </p:spPr>
      </p:sp>
      <p:sp>
        <p:nvSpPr>
          <p:cNvPr id="81" name="Shape 79"/>
          <p:cNvSpPr/>
          <p:nvPr/>
        </p:nvSpPr>
        <p:spPr>
          <a:xfrm>
            <a:off x="10378440" y="5312664"/>
            <a:ext cx="1280160" cy="274320"/>
          </a:xfrm>
          <a:prstGeom prst="roundRect">
            <a:avLst>
              <a:gd name="adj" fmla="val 13333"/>
            </a:avLst>
          </a:prstGeom>
          <a:solidFill>
            <a:srgbClr val="5A3010"/>
          </a:solidFill>
          <a:ln/>
        </p:spPr>
      </p:sp>
      <p:sp>
        <p:nvSpPr>
          <p:cNvPr id="82" name="Text 80"/>
          <p:cNvSpPr/>
          <p:nvPr/>
        </p:nvSpPr>
        <p:spPr>
          <a:xfrm>
            <a:off x="10378440" y="5312664"/>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Conceptual Alignment</a:t>
            </a:r>
            <a:endParaRPr lang="en-US" sz="850" dirty="0"/>
          </a:p>
        </p:txBody>
      </p:sp>
      <p:sp>
        <p:nvSpPr>
          <p:cNvPr id="83" name="Shape 81"/>
          <p:cNvSpPr/>
          <p:nvPr/>
        </p:nvSpPr>
        <p:spPr>
          <a:xfrm>
            <a:off x="274320" y="5760720"/>
            <a:ext cx="2926080" cy="548640"/>
          </a:xfrm>
          <a:prstGeom prst="rect">
            <a:avLst/>
          </a:prstGeom>
          <a:solidFill>
            <a:srgbClr val="FFFFFF"/>
          </a:solidFill>
          <a:ln/>
        </p:spPr>
      </p:sp>
      <p:sp>
        <p:nvSpPr>
          <p:cNvPr id="84" name="Text 82"/>
          <p:cNvSpPr/>
          <p:nvPr/>
        </p:nvSpPr>
        <p:spPr>
          <a:xfrm>
            <a:off x="347472" y="5833872"/>
            <a:ext cx="2779776" cy="457200"/>
          </a:xfrm>
          <a:prstGeom prst="rect">
            <a:avLst/>
          </a:prstGeom>
          <a:noFill/>
          <a:ln/>
        </p:spPr>
        <p:txBody>
          <a:bodyPr wrap="square" rtlCol="0" anchor="ctr"/>
          <a:lstStyle/>
          <a:p>
            <a:pPr indent="0" marL="0">
              <a:buNone/>
            </a:pPr>
            <a:r>
              <a:rPr lang="en-US" sz="950" b="1" dirty="0">
                <a:solidFill>
                  <a:srgbClr val="1A3A6C"/>
                </a:solidFill>
                <a:latin typeface="Calibri" pitchFamily="34" charset="0"/>
                <a:ea typeface="Calibri" pitchFamily="34" charset="-122"/>
                <a:cs typeface="Calibri" pitchFamily="34" charset="-120"/>
              </a:rPr>
              <a:t>WP #21 AI Safety by Architecture</a:t>
            </a:r>
            <a:endParaRPr lang="en-US" sz="950" dirty="0"/>
          </a:p>
        </p:txBody>
      </p:sp>
      <p:sp>
        <p:nvSpPr>
          <p:cNvPr id="85" name="Shape 83"/>
          <p:cNvSpPr/>
          <p:nvPr/>
        </p:nvSpPr>
        <p:spPr>
          <a:xfrm>
            <a:off x="3246120" y="5760720"/>
            <a:ext cx="2560320" cy="548640"/>
          </a:xfrm>
          <a:prstGeom prst="rect">
            <a:avLst/>
          </a:prstGeom>
          <a:solidFill>
            <a:srgbClr val="FFFFFF"/>
          </a:solidFill>
          <a:ln/>
        </p:spPr>
      </p:sp>
      <p:sp>
        <p:nvSpPr>
          <p:cNvPr id="86" name="Text 84"/>
          <p:cNvSpPr/>
          <p:nvPr/>
        </p:nvSpPr>
        <p:spPr>
          <a:xfrm>
            <a:off x="3319272" y="5833872"/>
            <a:ext cx="24140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Explainability (XAI)</a:t>
            </a:r>
            <a:endParaRPr lang="en-US" sz="950" dirty="0"/>
          </a:p>
        </p:txBody>
      </p:sp>
      <p:sp>
        <p:nvSpPr>
          <p:cNvPr id="87" name="Shape 85"/>
          <p:cNvSpPr/>
          <p:nvPr/>
        </p:nvSpPr>
        <p:spPr>
          <a:xfrm>
            <a:off x="5852160" y="5760720"/>
            <a:ext cx="4389120" cy="548640"/>
          </a:xfrm>
          <a:prstGeom prst="rect">
            <a:avLst/>
          </a:prstGeom>
          <a:solidFill>
            <a:srgbClr val="FFFFFF"/>
          </a:solidFill>
          <a:ln/>
        </p:spPr>
      </p:sp>
      <p:sp>
        <p:nvSpPr>
          <p:cNvPr id="88" name="Text 86"/>
          <p:cNvSpPr/>
          <p:nvPr/>
        </p:nvSpPr>
        <p:spPr>
          <a:xfrm>
            <a:off x="5925312" y="5833872"/>
            <a:ext cx="4242816" cy="457200"/>
          </a:xfrm>
          <a:prstGeom prst="rect">
            <a:avLst/>
          </a:prstGeom>
          <a:noFill/>
          <a:ln/>
        </p:spPr>
        <p:txBody>
          <a:bodyPr wrap="square" rtlCol="0" anchor="ctr"/>
          <a:lstStyle/>
          <a:p>
            <a:pPr indent="0" marL="0">
              <a:buNone/>
            </a:pPr>
            <a:r>
              <a:rPr lang="en-US" sz="950" dirty="0">
                <a:solidFill>
                  <a:srgbClr val="0D1B3E"/>
                </a:solidFill>
                <a:latin typeface="Calibri" pitchFamily="34" charset="0"/>
                <a:ea typeface="Calibri" pitchFamily="34" charset="-122"/>
                <a:cs typeface="Calibri" pitchFamily="34" charset="-120"/>
              </a:rPr>
              <a:t>Structural explainability = overcoming Blackbox AI limitations Maier identifies</a:t>
            </a:r>
            <a:endParaRPr lang="en-US" sz="950" dirty="0"/>
          </a:p>
        </p:txBody>
      </p:sp>
      <p:sp>
        <p:nvSpPr>
          <p:cNvPr id="89" name="Shape 87"/>
          <p:cNvSpPr/>
          <p:nvPr/>
        </p:nvSpPr>
        <p:spPr>
          <a:xfrm>
            <a:off x="10287000" y="5760720"/>
            <a:ext cx="1463040" cy="548640"/>
          </a:xfrm>
          <a:prstGeom prst="rect">
            <a:avLst/>
          </a:prstGeom>
          <a:solidFill>
            <a:srgbClr val="FFFFFF"/>
          </a:solidFill>
          <a:ln/>
        </p:spPr>
      </p:sp>
      <p:sp>
        <p:nvSpPr>
          <p:cNvPr id="90" name="Shape 88"/>
          <p:cNvSpPr/>
          <p:nvPr/>
        </p:nvSpPr>
        <p:spPr>
          <a:xfrm>
            <a:off x="10378440" y="5897880"/>
            <a:ext cx="1280160" cy="274320"/>
          </a:xfrm>
          <a:prstGeom prst="roundRect">
            <a:avLst>
              <a:gd name="adj" fmla="val 13333"/>
            </a:avLst>
          </a:prstGeom>
          <a:solidFill>
            <a:srgbClr val="1A4E20"/>
          </a:solidFill>
          <a:ln/>
        </p:spPr>
      </p:sp>
      <p:sp>
        <p:nvSpPr>
          <p:cNvPr id="91" name="Text 89"/>
          <p:cNvSpPr/>
          <p:nvPr/>
        </p:nvSpPr>
        <p:spPr>
          <a:xfrm>
            <a:off x="10378440" y="5897880"/>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Full Alignment</a:t>
            </a:r>
            <a:endParaRPr lang="en-US" sz="850" dirty="0"/>
          </a:p>
        </p:txBody>
      </p:sp>
      <p:sp>
        <p:nvSpPr>
          <p:cNvPr id="92" name="Text 90"/>
          <p:cNvSpPr/>
          <p:nvPr/>
        </p:nvSpPr>
        <p:spPr>
          <a:xfrm>
            <a:off x="274320" y="6400800"/>
            <a:ext cx="7315200" cy="274320"/>
          </a:xfrm>
          <a:prstGeom prst="rect">
            <a:avLst/>
          </a:prstGeom>
          <a:noFill/>
          <a:ln/>
        </p:spPr>
        <p:txBody>
          <a:bodyPr wrap="square" rtlCol="0" anchor="ctr"/>
          <a:lstStyle/>
          <a:p>
            <a:pPr indent="0" marL="0">
              <a:buNone/>
            </a:pPr>
            <a:r>
              <a:rPr lang="en-US" sz="900" b="1" dirty="0">
                <a:solidFill>
                  <a:srgbClr val="1A4E20"/>
                </a:solidFill>
                <a:latin typeface="Calibri" pitchFamily="34" charset="0"/>
                <a:ea typeface="Calibri" pitchFamily="34" charset="-122"/>
                <a:cs typeface="Calibri" pitchFamily="34" charset="-120"/>
              </a:rPr>
              <a:t>✅ Full Alignment: Maier's concepts and Velsanet architecture share identical mathematical/structural principles</a:t>
            </a:r>
            <a:endParaRPr lang="en-US" sz="900" dirty="0"/>
          </a:p>
        </p:txBody>
      </p:sp>
      <p:sp>
        <p:nvSpPr>
          <p:cNvPr id="93" name="Text 91"/>
          <p:cNvSpPr/>
          <p:nvPr/>
        </p:nvSpPr>
        <p:spPr>
          <a:xfrm>
            <a:off x="7680960" y="6400800"/>
            <a:ext cx="4389120" cy="274320"/>
          </a:xfrm>
          <a:prstGeom prst="rect">
            <a:avLst/>
          </a:prstGeom>
          <a:noFill/>
          <a:ln/>
        </p:spPr>
        <p:txBody>
          <a:bodyPr wrap="square" rtlCol="0" anchor="ctr"/>
          <a:lstStyle/>
          <a:p>
            <a:pPr indent="0" marL="0">
              <a:buNone/>
            </a:pPr>
            <a:r>
              <a:rPr lang="en-US" sz="900" b="1" dirty="0">
                <a:solidFill>
                  <a:srgbClr val="5A3010"/>
                </a:solidFill>
                <a:latin typeface="Calibri" pitchFamily="34" charset="0"/>
                <a:ea typeface="Calibri" pitchFamily="34" charset="-122"/>
                <a:cs typeface="Calibri" pitchFamily="34" charset="-120"/>
              </a:rPr>
              <a:t>🔶 Conceptual Alignment: Shared philosophical direction; differences at implementation level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3E"/>
        </a:solidFill>
      </p:bgPr>
    </p:bg>
    <p:spTree>
      <p:nvGrpSpPr>
        <p:cNvPr id="1" name=""/>
        <p:cNvGrpSpPr/>
        <p:nvPr/>
      </p:nvGrpSpPr>
      <p:grpSpPr>
        <a:xfrm>
          <a:off x="0" y="0"/>
          <a:ext cx="0" cy="0"/>
          <a:chOff x="0" y="0"/>
          <a:chExt cx="0" cy="0"/>
        </a:xfrm>
      </p:grpSpPr>
      <p:sp>
        <p:nvSpPr>
          <p:cNvPr id="2" name="Text 0"/>
          <p:cNvSpPr/>
          <p:nvPr/>
        </p:nvSpPr>
        <p:spPr>
          <a:xfrm>
            <a:off x="365760" y="137160"/>
            <a:ext cx="1143000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Core Insight  —  What Maier Seeks vs What Velsanet Has Built</a:t>
            </a:r>
            <a:endParaRPr lang="en-US" sz="1900" dirty="0"/>
          </a:p>
        </p:txBody>
      </p:sp>
      <p:sp>
        <p:nvSpPr>
          <p:cNvPr id="3" name="Shape 1"/>
          <p:cNvSpPr/>
          <p:nvPr/>
        </p:nvSpPr>
        <p:spPr>
          <a:xfrm>
            <a:off x="274320" y="713232"/>
            <a:ext cx="5577840" cy="347472"/>
          </a:xfrm>
          <a:prstGeom prst="rect">
            <a:avLst/>
          </a:prstGeom>
          <a:solidFill>
            <a:srgbClr val="0B2A50"/>
          </a:solidFill>
          <a:ln/>
        </p:spPr>
      </p:sp>
      <p:sp>
        <p:nvSpPr>
          <p:cNvPr id="4" name="Text 2"/>
          <p:cNvSpPr/>
          <p:nvPr/>
        </p:nvSpPr>
        <p:spPr>
          <a:xfrm>
            <a:off x="274320" y="713232"/>
            <a:ext cx="5577840" cy="347472"/>
          </a:xfrm>
          <a:prstGeom prst="rect">
            <a:avLst/>
          </a:prstGeom>
          <a:noFill/>
          <a:ln/>
        </p:spPr>
        <p:txBody>
          <a:bodyPr wrap="square" lIns="0" tIns="0" rIns="0" bIns="0" rtlCol="0" anchor="ctr"/>
          <a:lstStyle/>
          <a:p>
            <a:pPr algn="ctr" indent="0" marL="0">
              <a:buNone/>
            </a:pPr>
            <a:r>
              <a:rPr lang="en-US" sz="1200" b="1" dirty="0">
                <a:solidFill>
                  <a:srgbClr val="0B7A8C"/>
                </a:solidFill>
                <a:latin typeface="Calibri" pitchFamily="34" charset="0"/>
                <a:ea typeface="Calibri" pitchFamily="34" charset="-122"/>
                <a:cs typeface="Calibri" pitchFamily="34" charset="-120"/>
              </a:rPr>
              <a:t>🔬  What Martin Maier Investigates (Concept)</a:t>
            </a:r>
            <a:endParaRPr lang="en-US" sz="1200" dirty="0"/>
          </a:p>
        </p:txBody>
      </p:sp>
      <p:sp>
        <p:nvSpPr>
          <p:cNvPr id="5" name="Shape 3"/>
          <p:cNvSpPr/>
          <p:nvPr/>
        </p:nvSpPr>
        <p:spPr>
          <a:xfrm>
            <a:off x="6309360" y="713232"/>
            <a:ext cx="5577840" cy="347472"/>
          </a:xfrm>
          <a:prstGeom prst="rect">
            <a:avLst/>
          </a:prstGeom>
          <a:solidFill>
            <a:srgbClr val="0B2A50"/>
          </a:solidFill>
          <a:ln/>
        </p:spPr>
      </p:sp>
      <p:sp>
        <p:nvSpPr>
          <p:cNvPr id="6" name="Text 4"/>
          <p:cNvSpPr/>
          <p:nvPr/>
        </p:nvSpPr>
        <p:spPr>
          <a:xfrm>
            <a:off x="6309360" y="713232"/>
            <a:ext cx="5577840" cy="347472"/>
          </a:xfrm>
          <a:prstGeom prst="rect">
            <a:avLst/>
          </a:prstGeom>
          <a:noFill/>
          <a:ln/>
        </p:spPr>
        <p:txBody>
          <a:bodyPr wrap="square" lIns="0" tIns="0" rIns="0" bIns="0" rtlCol="0" anchor="ctr"/>
          <a:lstStyle/>
          <a:p>
            <a:pPr algn="ctr" indent="0" marL="0">
              <a:buNone/>
            </a:pPr>
            <a:r>
              <a:rPr lang="en-US" sz="1200" b="1" dirty="0">
                <a:solidFill>
                  <a:srgbClr val="C47B00"/>
                </a:solidFill>
                <a:latin typeface="Calibri" pitchFamily="34" charset="0"/>
                <a:ea typeface="Calibri" pitchFamily="34" charset="-122"/>
                <a:cs typeface="Calibri" pitchFamily="34" charset="-120"/>
              </a:rPr>
              <a:t>🏗  What Velsanet Has Structurally Built</a:t>
            </a:r>
            <a:endParaRPr lang="en-US" sz="1200" dirty="0"/>
          </a:p>
        </p:txBody>
      </p:sp>
      <p:sp>
        <p:nvSpPr>
          <p:cNvPr id="7" name="Shape 5"/>
          <p:cNvSpPr/>
          <p:nvPr/>
        </p:nvSpPr>
        <p:spPr>
          <a:xfrm>
            <a:off x="274320" y="1170432"/>
            <a:ext cx="5577840" cy="960120"/>
          </a:xfrm>
          <a:prstGeom prst="rect">
            <a:avLst/>
          </a:prstGeom>
          <a:solidFill>
            <a:srgbClr val="0D2040"/>
          </a:solidFill>
          <a:ln/>
          <a:effectLst>
            <a:outerShdw sx="100000" sy="100000" kx="0" ky="0" algn="bl" rotWithShape="0" blurRad="101600" dist="38100" dir="8100000">
              <a:srgbClr val="000000">
                <a:alpha val="12000"/>
              </a:srgbClr>
            </a:outerShdw>
          </a:effectLst>
        </p:spPr>
      </p:sp>
      <p:sp>
        <p:nvSpPr>
          <p:cNvPr id="8" name="Text 6"/>
          <p:cNvSpPr/>
          <p:nvPr/>
        </p:nvSpPr>
        <p:spPr>
          <a:xfrm>
            <a:off x="411480" y="123444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Active Inference agents need</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a physical body</a:t>
            </a:r>
            <a:endParaRPr lang="en-US" sz="1100" dirty="0"/>
          </a:p>
        </p:txBody>
      </p:sp>
      <p:sp>
        <p:nvSpPr>
          <p:cNvPr id="9" name="Text 7"/>
          <p:cNvSpPr/>
          <p:nvPr/>
        </p:nvSpPr>
        <p:spPr>
          <a:xfrm>
            <a:off x="411480" y="1764792"/>
            <a:ext cx="5303520" cy="301752"/>
          </a:xfrm>
          <a:prstGeom prst="rect">
            <a:avLst/>
          </a:prstGeom>
          <a:noFill/>
          <a:ln/>
        </p:spPr>
        <p:txBody>
          <a:bodyPr wrap="square" rtlCol="0" anchor="ctr"/>
          <a:lstStyle/>
          <a:p>
            <a:pPr indent="0" marL="0">
              <a:buNone/>
            </a:pPr>
            <a:r>
              <a:rPr lang="en-US" sz="950" i="1" dirty="0">
                <a:solidFill>
                  <a:srgbClr val="0B7A8C"/>
                </a:solidFill>
                <a:latin typeface="Calibri" pitchFamily="34" charset="0"/>
                <a:ea typeface="Calibri" pitchFamily="34" charset="-122"/>
                <a:cs typeface="Calibri" pitchFamily="34" charset="-120"/>
              </a:rPr>
              <a:t>→ 6G ISAC provides sensory grounding</a:t>
            </a:r>
            <a:endParaRPr lang="en-US" sz="950" dirty="0"/>
          </a:p>
        </p:txBody>
      </p:sp>
      <p:sp>
        <p:nvSpPr>
          <p:cNvPr id="10" name="Text 8"/>
          <p:cNvSpPr/>
          <p:nvPr/>
        </p:nvSpPr>
        <p:spPr>
          <a:xfrm>
            <a:off x="5897880" y="1444752"/>
            <a:ext cx="365760" cy="411480"/>
          </a:xfrm>
          <a:prstGeom prst="rect">
            <a:avLst/>
          </a:prstGeom>
          <a:noFill/>
          <a:ln/>
        </p:spPr>
        <p:txBody>
          <a:bodyPr wrap="square" rtlCol="0" anchor="ctr"/>
          <a:lstStyle/>
          <a:p>
            <a:pPr algn="ctr" indent="0" marL="0">
              <a:buNone/>
            </a:pPr>
            <a:r>
              <a:rPr lang="en-US" sz="1800" dirty="0">
                <a:solidFill>
                  <a:srgbClr val="D0D8E4"/>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6309360" y="1170432"/>
            <a:ext cx="5577840" cy="960120"/>
          </a:xfrm>
          <a:prstGeom prst="rect">
            <a:avLst/>
          </a:prstGeom>
          <a:solidFill>
            <a:srgbClr val="1A0D00"/>
          </a:solidFill>
          <a:ln/>
          <a:effectLst>
            <a:outerShdw sx="100000" sy="100000" kx="0" ky="0" algn="bl" rotWithShape="0" blurRad="101600" dist="38100" dir="8100000">
              <a:srgbClr val="000000">
                <a:alpha val="12000"/>
              </a:srgbClr>
            </a:outerShdw>
          </a:effectLst>
        </p:spPr>
      </p:sp>
      <p:sp>
        <p:nvSpPr>
          <p:cNvPr id="12" name="Text 10"/>
          <p:cNvSpPr/>
          <p:nvPr/>
        </p:nvSpPr>
        <p:spPr>
          <a:xfrm>
            <a:off x="6446520" y="123444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One optical core = one personal E2E connection</a:t>
            </a:r>
            <a:endParaRPr lang="en-US" sz="1100" dirty="0"/>
          </a:p>
        </p:txBody>
      </p:sp>
      <p:sp>
        <p:nvSpPr>
          <p:cNvPr id="13" name="Text 11"/>
          <p:cNvSpPr/>
          <p:nvPr/>
        </p:nvSpPr>
        <p:spPr>
          <a:xfrm>
            <a:off x="6446520" y="1764792"/>
            <a:ext cx="5303520" cy="301752"/>
          </a:xfrm>
          <a:prstGeom prst="rect">
            <a:avLst/>
          </a:prstGeom>
          <a:noFill/>
          <a:ln/>
        </p:spPr>
        <p:txBody>
          <a:bodyPr wrap="square" rtlCol="0" anchor="ctr"/>
          <a:lstStyle/>
          <a:p>
            <a:pPr indent="0" marL="0">
              <a:buNone/>
            </a:pPr>
            <a:r>
              <a:rPr lang="en-US" sz="950" i="1" dirty="0">
                <a:solidFill>
                  <a:srgbClr val="C47B00"/>
                </a:solidFill>
                <a:latin typeface="Calibri" pitchFamily="34" charset="0"/>
                <a:ea typeface="Calibri" pitchFamily="34" charset="-122"/>
                <a:cs typeface="Calibri" pitchFamily="34" charset="-120"/>
              </a:rPr>
              <a:t>= Physical implementation of Markov Blanket</a:t>
            </a:r>
            <a:endParaRPr lang="en-US" sz="950" dirty="0"/>
          </a:p>
        </p:txBody>
      </p:sp>
      <p:sp>
        <p:nvSpPr>
          <p:cNvPr id="14" name="Shape 12"/>
          <p:cNvSpPr/>
          <p:nvPr/>
        </p:nvSpPr>
        <p:spPr>
          <a:xfrm>
            <a:off x="274320" y="2221992"/>
            <a:ext cx="5577840" cy="960120"/>
          </a:xfrm>
          <a:prstGeom prst="rect">
            <a:avLst/>
          </a:prstGeom>
          <a:solidFill>
            <a:srgbClr val="0D2040"/>
          </a:solidFill>
          <a:ln/>
          <a:effectLst>
            <a:outerShdw sx="100000" sy="100000" kx="0" ky="0" algn="bl" rotWithShape="0" blurRad="101600" dist="38100" dir="8100000">
              <a:srgbClr val="000000">
                <a:alpha val="12000"/>
              </a:srgbClr>
            </a:outerShdw>
          </a:effectLst>
        </p:spPr>
      </p:sp>
      <p:sp>
        <p:nvSpPr>
          <p:cNvPr id="15" name="Text 13"/>
          <p:cNvSpPr/>
          <p:nvPr/>
        </p:nvSpPr>
        <p:spPr>
          <a:xfrm>
            <a:off x="411480" y="228600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 must be the network structure</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itself — not an overlay</a:t>
            </a:r>
            <a:endParaRPr lang="en-US" sz="1100" dirty="0"/>
          </a:p>
        </p:txBody>
      </p:sp>
      <p:sp>
        <p:nvSpPr>
          <p:cNvPr id="16" name="Text 14"/>
          <p:cNvSpPr/>
          <p:nvPr/>
        </p:nvSpPr>
        <p:spPr>
          <a:xfrm>
            <a:off x="411480" y="2816352"/>
            <a:ext cx="5303520" cy="301752"/>
          </a:xfrm>
          <a:prstGeom prst="rect">
            <a:avLst/>
          </a:prstGeom>
          <a:noFill/>
          <a:ln/>
        </p:spPr>
        <p:txBody>
          <a:bodyPr wrap="square" rtlCol="0" anchor="ctr"/>
          <a:lstStyle/>
          <a:p>
            <a:pPr indent="0" marL="0">
              <a:buNone/>
            </a:pPr>
            <a:r>
              <a:rPr lang="en-US" sz="950" i="1" dirty="0">
                <a:solidFill>
                  <a:srgbClr val="0B7A8C"/>
                </a:solidFill>
                <a:latin typeface="Calibri" pitchFamily="34" charset="0"/>
                <a:ea typeface="Calibri" pitchFamily="34" charset="-122"/>
                <a:cs typeface="Calibri" pitchFamily="34" charset="-120"/>
              </a:rPr>
              <a:t>→ Net4AI: Network for AI</a:t>
            </a:r>
            <a:endParaRPr lang="en-US" sz="950" dirty="0"/>
          </a:p>
        </p:txBody>
      </p:sp>
      <p:sp>
        <p:nvSpPr>
          <p:cNvPr id="17" name="Text 15"/>
          <p:cNvSpPr/>
          <p:nvPr/>
        </p:nvSpPr>
        <p:spPr>
          <a:xfrm>
            <a:off x="5897880" y="2496312"/>
            <a:ext cx="365760" cy="411480"/>
          </a:xfrm>
          <a:prstGeom prst="rect">
            <a:avLst/>
          </a:prstGeom>
          <a:noFill/>
          <a:ln/>
        </p:spPr>
        <p:txBody>
          <a:bodyPr wrap="square" rtlCol="0" anchor="ctr"/>
          <a:lstStyle/>
          <a:p>
            <a:pPr algn="ctr" indent="0" marL="0">
              <a:buNone/>
            </a:pPr>
            <a:r>
              <a:rPr lang="en-US" sz="1800" dirty="0">
                <a:solidFill>
                  <a:srgbClr val="D0D8E4"/>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6309360" y="2221992"/>
            <a:ext cx="5577840" cy="960120"/>
          </a:xfrm>
          <a:prstGeom prst="rect">
            <a:avLst/>
          </a:prstGeom>
          <a:solidFill>
            <a:srgbClr val="1A0D00"/>
          </a:solidFill>
          <a:ln/>
          <a:effectLst>
            <a:outerShdw sx="100000" sy="100000" kx="0" ky="0" algn="bl" rotWithShape="0" blurRad="101600" dist="38100" dir="8100000">
              <a:srgbClr val="000000">
                <a:alpha val="12000"/>
              </a:srgbClr>
            </a:outerShdw>
          </a:effectLst>
        </p:spPr>
      </p:sp>
      <p:sp>
        <p:nvSpPr>
          <p:cNvPr id="19" name="Text 17"/>
          <p:cNvSpPr/>
          <p:nvPr/>
        </p:nvSpPr>
        <p:spPr>
          <a:xfrm>
            <a:off x="6446520" y="228600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Topology-first network space via polyhedra</a:t>
            </a:r>
            <a:endParaRPr lang="en-US" sz="1100" dirty="0"/>
          </a:p>
        </p:txBody>
      </p:sp>
      <p:sp>
        <p:nvSpPr>
          <p:cNvPr id="20" name="Text 18"/>
          <p:cNvSpPr/>
          <p:nvPr/>
        </p:nvSpPr>
        <p:spPr>
          <a:xfrm>
            <a:off x="6446520" y="2816352"/>
            <a:ext cx="5303520" cy="301752"/>
          </a:xfrm>
          <a:prstGeom prst="rect">
            <a:avLst/>
          </a:prstGeom>
          <a:noFill/>
          <a:ln/>
        </p:spPr>
        <p:txBody>
          <a:bodyPr wrap="square" rtlCol="0" anchor="ctr"/>
          <a:lstStyle/>
          <a:p>
            <a:pPr indent="0" marL="0">
              <a:buNone/>
            </a:pPr>
            <a:r>
              <a:rPr lang="en-US" sz="950" i="1" dirty="0">
                <a:solidFill>
                  <a:srgbClr val="C47B00"/>
                </a:solidFill>
                <a:latin typeface="Calibri" pitchFamily="34" charset="0"/>
                <a:ea typeface="Calibri" pitchFamily="34" charset="-122"/>
                <a:cs typeface="Calibri" pitchFamily="34" charset="-120"/>
              </a:rPr>
              <a:t>= Network structure IS the body of AI</a:t>
            </a:r>
            <a:endParaRPr lang="en-US" sz="950" dirty="0"/>
          </a:p>
        </p:txBody>
      </p:sp>
      <p:sp>
        <p:nvSpPr>
          <p:cNvPr id="21" name="Shape 19"/>
          <p:cNvSpPr/>
          <p:nvPr/>
        </p:nvSpPr>
        <p:spPr>
          <a:xfrm>
            <a:off x="274320" y="3273552"/>
            <a:ext cx="5577840" cy="960120"/>
          </a:xfrm>
          <a:prstGeom prst="rect">
            <a:avLst/>
          </a:prstGeom>
          <a:solidFill>
            <a:srgbClr val="0D2040"/>
          </a:solidFill>
          <a:ln/>
          <a:effectLst>
            <a:outerShdw sx="100000" sy="100000" kx="0" ky="0" algn="bl" rotWithShape="0" blurRad="101600" dist="38100" dir="8100000">
              <a:srgbClr val="000000">
                <a:alpha val="12000"/>
              </a:srgbClr>
            </a:outerShdw>
          </a:effectLst>
        </p:spPr>
      </p:sp>
      <p:sp>
        <p:nvSpPr>
          <p:cNvPr id="22" name="Text 20"/>
          <p:cNvSpPr/>
          <p:nvPr/>
        </p:nvSpPr>
        <p:spPr>
          <a:xfrm>
            <a:off x="411480" y="333756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From experience to cognition —</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learning like a child with few examples</a:t>
            </a:r>
            <a:endParaRPr lang="en-US" sz="1100" dirty="0"/>
          </a:p>
        </p:txBody>
      </p:sp>
      <p:sp>
        <p:nvSpPr>
          <p:cNvPr id="23" name="Text 21"/>
          <p:cNvSpPr/>
          <p:nvPr/>
        </p:nvSpPr>
        <p:spPr>
          <a:xfrm>
            <a:off x="411480" y="3867912"/>
            <a:ext cx="5303520" cy="301752"/>
          </a:xfrm>
          <a:prstGeom prst="rect">
            <a:avLst/>
          </a:prstGeom>
          <a:noFill/>
          <a:ln/>
        </p:spPr>
        <p:txBody>
          <a:bodyPr wrap="square" rtlCol="0" anchor="ctr"/>
          <a:lstStyle/>
          <a:p>
            <a:pPr indent="0" marL="0">
              <a:buNone/>
            </a:pPr>
            <a:r>
              <a:rPr lang="en-US" sz="950" i="1" dirty="0">
                <a:solidFill>
                  <a:srgbClr val="0B7A8C"/>
                </a:solidFill>
                <a:latin typeface="Calibri" pitchFamily="34" charset="0"/>
                <a:ea typeface="Calibri" pitchFamily="34" charset="-122"/>
                <a:cs typeface="Calibri" pitchFamily="34" charset="-120"/>
              </a:rPr>
              <a:t>→ SEU-based experience accumulation + Cognition Cube</a:t>
            </a:r>
            <a:endParaRPr lang="en-US" sz="950" dirty="0"/>
          </a:p>
        </p:txBody>
      </p:sp>
      <p:sp>
        <p:nvSpPr>
          <p:cNvPr id="24" name="Text 22"/>
          <p:cNvSpPr/>
          <p:nvPr/>
        </p:nvSpPr>
        <p:spPr>
          <a:xfrm>
            <a:off x="5897880" y="3547872"/>
            <a:ext cx="365760" cy="411480"/>
          </a:xfrm>
          <a:prstGeom prst="rect">
            <a:avLst/>
          </a:prstGeom>
          <a:noFill/>
          <a:ln/>
        </p:spPr>
        <p:txBody>
          <a:bodyPr wrap="square" rtlCol="0" anchor="ctr"/>
          <a:lstStyle/>
          <a:p>
            <a:pPr algn="ctr" indent="0" marL="0">
              <a:buNone/>
            </a:pPr>
            <a:r>
              <a:rPr lang="en-US" sz="1800" dirty="0">
                <a:solidFill>
                  <a:srgbClr val="D0D8E4"/>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6309360" y="3273552"/>
            <a:ext cx="5577840" cy="960120"/>
          </a:xfrm>
          <a:prstGeom prst="rect">
            <a:avLst/>
          </a:prstGeom>
          <a:solidFill>
            <a:srgbClr val="1A0D00"/>
          </a:solidFill>
          <a:ln/>
          <a:effectLst>
            <a:outerShdw sx="100000" sy="100000" kx="0" ky="0" algn="bl" rotWithShape="0" blurRad="101600" dist="38100" dir="8100000">
              <a:srgbClr val="000000">
                <a:alpha val="12000"/>
              </a:srgbClr>
            </a:outerShdw>
          </a:effectLst>
        </p:spPr>
      </p:sp>
      <p:sp>
        <p:nvSpPr>
          <p:cNvPr id="26" name="Text 24"/>
          <p:cNvSpPr/>
          <p:nvPr/>
        </p:nvSpPr>
        <p:spPr>
          <a:xfrm>
            <a:off x="6446520" y="333756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SEU = Time-bounded experiential unit (0.8–1.5s)</a:t>
            </a:r>
            <a:endParaRPr lang="en-US" sz="1100" dirty="0"/>
          </a:p>
        </p:txBody>
      </p:sp>
      <p:sp>
        <p:nvSpPr>
          <p:cNvPr id="27" name="Text 25"/>
          <p:cNvSpPr/>
          <p:nvPr/>
        </p:nvSpPr>
        <p:spPr>
          <a:xfrm>
            <a:off x="6446520" y="3867912"/>
            <a:ext cx="5303520" cy="301752"/>
          </a:xfrm>
          <a:prstGeom prst="rect">
            <a:avLst/>
          </a:prstGeom>
          <a:noFill/>
          <a:ln/>
        </p:spPr>
        <p:txBody>
          <a:bodyPr wrap="square" rtlCol="0" anchor="ctr"/>
          <a:lstStyle/>
          <a:p>
            <a:pPr indent="0" marL="0">
              <a:buNone/>
            </a:pPr>
            <a:r>
              <a:rPr lang="en-US" sz="950" i="1" dirty="0">
                <a:solidFill>
                  <a:srgbClr val="C47B00"/>
                </a:solidFill>
                <a:latin typeface="Calibri" pitchFamily="34" charset="0"/>
                <a:ea typeface="Calibri" pitchFamily="34" charset="-122"/>
                <a:cs typeface="Calibri" pitchFamily="34" charset="-120"/>
              </a:rPr>
              <a:t>= Maier's 'experience-based learning' structural primitive</a:t>
            </a:r>
            <a:endParaRPr lang="en-US" sz="950" dirty="0"/>
          </a:p>
        </p:txBody>
      </p:sp>
      <p:sp>
        <p:nvSpPr>
          <p:cNvPr id="28" name="Shape 26"/>
          <p:cNvSpPr/>
          <p:nvPr/>
        </p:nvSpPr>
        <p:spPr>
          <a:xfrm>
            <a:off x="274320" y="4325112"/>
            <a:ext cx="5577840" cy="960120"/>
          </a:xfrm>
          <a:prstGeom prst="rect">
            <a:avLst/>
          </a:prstGeom>
          <a:solidFill>
            <a:srgbClr val="0D2040"/>
          </a:solidFill>
          <a:ln/>
          <a:effectLst>
            <a:outerShdw sx="100000" sy="100000" kx="0" ky="0" algn="bl" rotWithShape="0" blurRad="101600" dist="38100" dir="8100000">
              <a:srgbClr val="000000">
                <a:alpha val="12000"/>
              </a:srgbClr>
            </a:outerShdw>
          </a:effectLst>
        </p:spPr>
      </p:sp>
      <p:sp>
        <p:nvSpPr>
          <p:cNvPr id="29" name="Text 27"/>
          <p:cNvSpPr/>
          <p:nvPr/>
        </p:nvSpPr>
        <p:spPr>
          <a:xfrm>
            <a:off x="411480" y="438912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Intent-centric AI is</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True AI</a:t>
            </a:r>
            <a:endParaRPr lang="en-US" sz="1100" dirty="0"/>
          </a:p>
        </p:txBody>
      </p:sp>
      <p:sp>
        <p:nvSpPr>
          <p:cNvPr id="30" name="Text 28"/>
          <p:cNvSpPr/>
          <p:nvPr/>
        </p:nvSpPr>
        <p:spPr>
          <a:xfrm>
            <a:off x="411480" y="4919472"/>
            <a:ext cx="5303520" cy="301752"/>
          </a:xfrm>
          <a:prstGeom prst="rect">
            <a:avLst/>
          </a:prstGeom>
          <a:noFill/>
          <a:ln/>
        </p:spPr>
        <p:txBody>
          <a:bodyPr wrap="square" rtlCol="0" anchor="ctr"/>
          <a:lstStyle/>
          <a:p>
            <a:pPr indent="0" marL="0">
              <a:buNone/>
            </a:pPr>
            <a:r>
              <a:rPr lang="en-US" sz="950" i="1" dirty="0">
                <a:solidFill>
                  <a:srgbClr val="0B7A8C"/>
                </a:solidFill>
                <a:latin typeface="Calibri" pitchFamily="34" charset="0"/>
                <a:ea typeface="Calibri" pitchFamily="34" charset="-122"/>
                <a:cs typeface="Calibri" pitchFamily="34" charset="-120"/>
              </a:rPr>
              <a:t>→ I-Axis (Intent Axis): intent-centric cognition</a:t>
            </a:r>
            <a:endParaRPr lang="en-US" sz="950" dirty="0"/>
          </a:p>
        </p:txBody>
      </p:sp>
      <p:sp>
        <p:nvSpPr>
          <p:cNvPr id="31" name="Text 29"/>
          <p:cNvSpPr/>
          <p:nvPr/>
        </p:nvSpPr>
        <p:spPr>
          <a:xfrm>
            <a:off x="5897880" y="4599432"/>
            <a:ext cx="365760" cy="411480"/>
          </a:xfrm>
          <a:prstGeom prst="rect">
            <a:avLst/>
          </a:prstGeom>
          <a:noFill/>
          <a:ln/>
        </p:spPr>
        <p:txBody>
          <a:bodyPr wrap="square" rtlCol="0" anchor="ctr"/>
          <a:lstStyle/>
          <a:p>
            <a:pPr algn="ctr" indent="0" marL="0">
              <a:buNone/>
            </a:pPr>
            <a:r>
              <a:rPr lang="en-US" sz="1800" dirty="0">
                <a:solidFill>
                  <a:srgbClr val="D0D8E4"/>
                </a:solidFill>
                <a:latin typeface="Calibri" pitchFamily="34" charset="0"/>
                <a:ea typeface="Calibri" pitchFamily="34" charset="-122"/>
                <a:cs typeface="Calibri" pitchFamily="34" charset="-120"/>
              </a:rPr>
              <a:t>⟶</a:t>
            </a:r>
            <a:endParaRPr lang="en-US" sz="1800" dirty="0"/>
          </a:p>
        </p:txBody>
      </p:sp>
      <p:sp>
        <p:nvSpPr>
          <p:cNvPr id="32" name="Shape 30"/>
          <p:cNvSpPr/>
          <p:nvPr/>
        </p:nvSpPr>
        <p:spPr>
          <a:xfrm>
            <a:off x="6309360" y="4325112"/>
            <a:ext cx="5577840" cy="960120"/>
          </a:xfrm>
          <a:prstGeom prst="rect">
            <a:avLst/>
          </a:prstGeom>
          <a:solidFill>
            <a:srgbClr val="1A0D00"/>
          </a:solidFill>
          <a:ln/>
          <a:effectLst>
            <a:outerShdw sx="100000" sy="100000" kx="0" ky="0" algn="bl" rotWithShape="0" blurRad="101600" dist="38100" dir="8100000">
              <a:srgbClr val="000000">
                <a:alpha val="12000"/>
              </a:srgbClr>
            </a:outerShdw>
          </a:effectLst>
        </p:spPr>
      </p:sp>
      <p:sp>
        <p:nvSpPr>
          <p:cNvPr id="33" name="Text 31"/>
          <p:cNvSpPr/>
          <p:nvPr/>
        </p:nvSpPr>
        <p:spPr>
          <a:xfrm>
            <a:off x="6446520" y="438912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Cognition Cube T/C/I/E 4-axis framework</a:t>
            </a:r>
            <a:endParaRPr lang="en-US" sz="1100" dirty="0"/>
          </a:p>
        </p:txBody>
      </p:sp>
      <p:sp>
        <p:nvSpPr>
          <p:cNvPr id="34" name="Text 32"/>
          <p:cNvSpPr/>
          <p:nvPr/>
        </p:nvSpPr>
        <p:spPr>
          <a:xfrm>
            <a:off x="6446520" y="4919472"/>
            <a:ext cx="5303520" cy="301752"/>
          </a:xfrm>
          <a:prstGeom prst="rect">
            <a:avLst/>
          </a:prstGeom>
          <a:noFill/>
          <a:ln/>
        </p:spPr>
        <p:txBody>
          <a:bodyPr wrap="square" rtlCol="0" anchor="ctr"/>
          <a:lstStyle/>
          <a:p>
            <a:pPr indent="0" marL="0">
              <a:buNone/>
            </a:pPr>
            <a:r>
              <a:rPr lang="en-US" sz="950" i="1" dirty="0">
                <a:solidFill>
                  <a:srgbClr val="C47B00"/>
                </a:solidFill>
                <a:latin typeface="Calibri" pitchFamily="34" charset="0"/>
                <a:ea typeface="Calibri" pitchFamily="34" charset="-122"/>
                <a:cs typeface="Calibri" pitchFamily="34" charset="-120"/>
              </a:rPr>
              <a:t>= Structural realization of POMDP-based Active Inference</a:t>
            </a:r>
            <a:endParaRPr lang="en-US" sz="950" dirty="0"/>
          </a:p>
        </p:txBody>
      </p:sp>
      <p:sp>
        <p:nvSpPr>
          <p:cNvPr id="35" name="Shape 33"/>
          <p:cNvSpPr/>
          <p:nvPr/>
        </p:nvSpPr>
        <p:spPr>
          <a:xfrm>
            <a:off x="274320" y="5376672"/>
            <a:ext cx="5577840" cy="960120"/>
          </a:xfrm>
          <a:prstGeom prst="rect">
            <a:avLst/>
          </a:prstGeom>
          <a:solidFill>
            <a:srgbClr val="0D2040"/>
          </a:solidFill>
          <a:ln/>
          <a:effectLst>
            <a:outerShdw sx="100000" sy="100000" kx="0" ky="0" algn="bl" rotWithShape="0" blurRad="101600" dist="38100" dir="8100000">
              <a:srgbClr val="000000">
                <a:alpha val="12000"/>
              </a:srgbClr>
            </a:outerShdw>
          </a:effectLst>
        </p:spPr>
      </p:sp>
      <p:sp>
        <p:nvSpPr>
          <p:cNvPr id="36" name="Text 34"/>
          <p:cNvSpPr/>
          <p:nvPr/>
        </p:nvSpPr>
        <p:spPr>
          <a:xfrm>
            <a:off x="411480" y="544068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 must be a living ecosystem,</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not a module</a:t>
            </a:r>
            <a:endParaRPr lang="en-US" sz="1100" dirty="0"/>
          </a:p>
        </p:txBody>
      </p:sp>
      <p:sp>
        <p:nvSpPr>
          <p:cNvPr id="37" name="Text 35"/>
          <p:cNvSpPr/>
          <p:nvPr/>
        </p:nvSpPr>
        <p:spPr>
          <a:xfrm>
            <a:off x="411480" y="5971032"/>
            <a:ext cx="5303520" cy="301752"/>
          </a:xfrm>
          <a:prstGeom prst="rect">
            <a:avLst/>
          </a:prstGeom>
          <a:noFill/>
          <a:ln/>
        </p:spPr>
        <p:txBody>
          <a:bodyPr wrap="square" rtlCol="0" anchor="ctr"/>
          <a:lstStyle/>
          <a:p>
            <a:pPr indent="0" marL="0">
              <a:buNone/>
            </a:pPr>
            <a:r>
              <a:rPr lang="en-US" sz="950" i="1" dirty="0">
                <a:solidFill>
                  <a:srgbClr val="0B7A8C"/>
                </a:solidFill>
                <a:latin typeface="Calibri" pitchFamily="34" charset="0"/>
                <a:ea typeface="Calibri" pitchFamily="34" charset="-122"/>
                <a:cs typeface="Calibri" pitchFamily="34" charset="-120"/>
              </a:rPr>
              <a:t>→ PAI/AAI/AsAI nested Markov structure</a:t>
            </a:r>
            <a:endParaRPr lang="en-US" sz="950" dirty="0"/>
          </a:p>
        </p:txBody>
      </p:sp>
      <p:sp>
        <p:nvSpPr>
          <p:cNvPr id="38" name="Text 36"/>
          <p:cNvSpPr/>
          <p:nvPr/>
        </p:nvSpPr>
        <p:spPr>
          <a:xfrm>
            <a:off x="5897880" y="5650992"/>
            <a:ext cx="365760" cy="411480"/>
          </a:xfrm>
          <a:prstGeom prst="rect">
            <a:avLst/>
          </a:prstGeom>
          <a:noFill/>
          <a:ln/>
        </p:spPr>
        <p:txBody>
          <a:bodyPr wrap="square" rtlCol="0" anchor="ctr"/>
          <a:lstStyle/>
          <a:p>
            <a:pPr algn="ctr" indent="0" marL="0">
              <a:buNone/>
            </a:pPr>
            <a:r>
              <a:rPr lang="en-US" sz="1800" dirty="0">
                <a:solidFill>
                  <a:srgbClr val="D0D8E4"/>
                </a:solidFill>
                <a:latin typeface="Calibri" pitchFamily="34" charset="0"/>
                <a:ea typeface="Calibri" pitchFamily="34" charset="-122"/>
                <a:cs typeface="Calibri" pitchFamily="34" charset="-120"/>
              </a:rPr>
              <a:t>⟶</a:t>
            </a:r>
            <a:endParaRPr lang="en-US" sz="1800" dirty="0"/>
          </a:p>
        </p:txBody>
      </p:sp>
      <p:sp>
        <p:nvSpPr>
          <p:cNvPr id="39" name="Shape 37"/>
          <p:cNvSpPr/>
          <p:nvPr/>
        </p:nvSpPr>
        <p:spPr>
          <a:xfrm>
            <a:off x="6309360" y="5376672"/>
            <a:ext cx="5577840" cy="960120"/>
          </a:xfrm>
          <a:prstGeom prst="rect">
            <a:avLst/>
          </a:prstGeom>
          <a:solidFill>
            <a:srgbClr val="1A0D00"/>
          </a:solidFill>
          <a:ln/>
          <a:effectLst>
            <a:outerShdw sx="100000" sy="100000" kx="0" ky="0" algn="bl" rotWithShape="0" blurRad="101600" dist="38100" dir="8100000">
              <a:srgbClr val="000000">
                <a:alpha val="12000"/>
              </a:srgbClr>
            </a:outerShdw>
          </a:effectLst>
        </p:spPr>
      </p:sp>
      <p:sp>
        <p:nvSpPr>
          <p:cNvPr id="40" name="Text 38"/>
          <p:cNvSpPr/>
          <p:nvPr/>
        </p:nvSpPr>
        <p:spPr>
          <a:xfrm>
            <a:off x="6446520" y="5440680"/>
            <a:ext cx="5303520" cy="5303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PAI→AAI→AsAI 3-layer hierarchy</a:t>
            </a:r>
            <a:endParaRPr lang="en-US" sz="1100" dirty="0"/>
          </a:p>
        </p:txBody>
      </p:sp>
      <p:sp>
        <p:nvSpPr>
          <p:cNvPr id="41" name="Text 39"/>
          <p:cNvSpPr/>
          <p:nvPr/>
        </p:nvSpPr>
        <p:spPr>
          <a:xfrm>
            <a:off x="6446520" y="5971032"/>
            <a:ext cx="5303520" cy="301752"/>
          </a:xfrm>
          <a:prstGeom prst="rect">
            <a:avLst/>
          </a:prstGeom>
          <a:noFill/>
          <a:ln/>
        </p:spPr>
        <p:txBody>
          <a:bodyPr wrap="square" rtlCol="0" anchor="ctr"/>
          <a:lstStyle/>
          <a:p>
            <a:pPr indent="0" marL="0">
              <a:buNone/>
            </a:pPr>
            <a:r>
              <a:rPr lang="en-US" sz="950" i="1" dirty="0">
                <a:solidFill>
                  <a:srgbClr val="C47B00"/>
                </a:solidFill>
                <a:latin typeface="Calibri" pitchFamily="34" charset="0"/>
                <a:ea typeface="Calibri" pitchFamily="34" charset="-122"/>
                <a:cs typeface="Calibri" pitchFamily="34" charset="-120"/>
              </a:rPr>
              <a:t>= Hierarchical nested Markov Blanket</a:t>
            </a:r>
            <a:endParaRPr lang="en-US" sz="950" dirty="0"/>
          </a:p>
        </p:txBody>
      </p:sp>
      <p:sp>
        <p:nvSpPr>
          <p:cNvPr id="42" name="Text 40"/>
          <p:cNvSpPr/>
          <p:nvPr/>
        </p:nvSpPr>
        <p:spPr>
          <a:xfrm>
            <a:off x="274320" y="6492240"/>
            <a:ext cx="11612880" cy="274320"/>
          </a:xfrm>
          <a:prstGeom prst="rect">
            <a:avLst/>
          </a:prstGeom>
          <a:noFill/>
          <a:ln/>
        </p:spPr>
        <p:txBody>
          <a:bodyPr wrap="square" rtlCol="0" anchor="ctr"/>
          <a:lstStyle/>
          <a:p>
            <a:pPr algn="r" indent="0" marL="0">
              <a:buNone/>
            </a:pPr>
            <a:r>
              <a:rPr lang="en-US" sz="900" i="1" dirty="0">
                <a:solidFill>
                  <a:srgbClr val="4A6A9A"/>
                </a:solidFill>
                <a:latin typeface="Calibri" pitchFamily="34" charset="0"/>
                <a:ea typeface="Calibri" pitchFamily="34" charset="-122"/>
                <a:cs typeface="Calibri" pitchFamily="34" charset="-120"/>
              </a:rPr>
              <a:t>Conclusion: Maier explores WHAT (concept) — Velsanet designs HOW (structure). A perfect collaborative relationship.</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365760" y="137160"/>
            <a:ext cx="11430000" cy="457200"/>
          </a:xfrm>
          <a:prstGeom prst="rect">
            <a:avLst/>
          </a:prstGeom>
          <a:noFill/>
          <a:ln/>
        </p:spPr>
        <p:txBody>
          <a:bodyPr wrap="square" rtlCol="0" anchor="ctr"/>
          <a:lstStyle/>
          <a:p>
            <a:pPr indent="0" marL="0">
              <a:buNone/>
            </a:pPr>
            <a:r>
              <a:rPr lang="en-US" sz="1900" b="1" dirty="0">
                <a:solidFill>
                  <a:srgbClr val="0D1B3E"/>
                </a:solidFill>
                <a:latin typeface="Calibri" pitchFamily="34" charset="0"/>
                <a:ea typeface="Calibri" pitchFamily="34" charset="-122"/>
                <a:cs typeface="Calibri" pitchFamily="34" charset="-120"/>
              </a:rPr>
              <a:t>Key Concept ④  Dark-Room Problem &amp; Psychoactives — The Key to Creativity</a:t>
            </a:r>
            <a:endParaRPr lang="en-US" sz="1900" dirty="0"/>
          </a:p>
        </p:txBody>
      </p:sp>
      <p:sp>
        <p:nvSpPr>
          <p:cNvPr id="3" name="Shape 1"/>
          <p:cNvSpPr/>
          <p:nvPr/>
        </p:nvSpPr>
        <p:spPr>
          <a:xfrm>
            <a:off x="274320" y="713232"/>
            <a:ext cx="3474720" cy="2286000"/>
          </a:xfrm>
          <a:prstGeom prst="rect">
            <a:avLst/>
          </a:prstGeom>
          <a:solidFill>
            <a:srgbClr val="1A1A4E"/>
          </a:solidFill>
          <a:ln/>
          <a:effectLst>
            <a:outerShdw sx="100000" sy="100000" kx="0" ky="0" algn="bl" rotWithShape="0" blurRad="101600" dist="38100" dir="8100000">
              <a:srgbClr val="000000">
                <a:alpha val="12000"/>
              </a:srgbClr>
            </a:outerShdw>
          </a:effectLst>
        </p:spPr>
      </p:sp>
      <p:sp>
        <p:nvSpPr>
          <p:cNvPr id="4" name="Text 2"/>
          <p:cNvSpPr/>
          <p:nvPr/>
        </p:nvSpPr>
        <p:spPr>
          <a:xfrm>
            <a:off x="365760" y="804672"/>
            <a:ext cx="32918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Dark-Room Problem</a:t>
            </a:r>
            <a:endParaRPr lang="en-US" sz="1200" dirty="0"/>
          </a:p>
        </p:txBody>
      </p:sp>
      <p:sp>
        <p:nvSpPr>
          <p:cNvPr id="5" name="Text 3"/>
          <p:cNvSpPr/>
          <p:nvPr/>
        </p:nvSpPr>
        <p:spPr>
          <a:xfrm>
            <a:off x="365760" y="1170432"/>
            <a:ext cx="3291840" cy="1737360"/>
          </a:xfrm>
          <a:prstGeom prst="rect">
            <a:avLst/>
          </a:prstGeom>
          <a:noFill/>
          <a:ln/>
        </p:spPr>
        <p:txBody>
          <a:bodyPr wrap="square" rtlCol="0" anchor="ctr"/>
          <a:lstStyle/>
          <a:p>
            <a:pPr indent="0" marL="0">
              <a:buNone/>
            </a:pPr>
            <a:r>
              <a:rPr lang="en-US" sz="1000" dirty="0">
                <a:solidFill>
                  <a:srgbClr val="DDEEFF"/>
                </a:solidFill>
                <a:latin typeface="Calibri" pitchFamily="34" charset="0"/>
                <a:ea typeface="Calibri" pitchFamily="34" charset="-122"/>
                <a:cs typeface="Calibri" pitchFamily="34" charset="-120"/>
              </a:rPr>
              <a:t>FEP paradox: if minimizing surprise is the goal, staying in a dark room doing nothing is optimal.</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But living organisms don't do that.</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 Why do exploration, creativity, and play exist?</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 Implies Active Inference requires 'something more' beyond surprise minimization alone.</a:t>
            </a:r>
            <a:endParaRPr lang="en-US" sz="1000" dirty="0"/>
          </a:p>
        </p:txBody>
      </p:sp>
      <p:sp>
        <p:nvSpPr>
          <p:cNvPr id="6" name="Shape 4"/>
          <p:cNvSpPr/>
          <p:nvPr/>
        </p:nvSpPr>
        <p:spPr>
          <a:xfrm>
            <a:off x="4023360" y="713232"/>
            <a:ext cx="3474720" cy="2286000"/>
          </a:xfrm>
          <a:prstGeom prst="rect">
            <a:avLst/>
          </a:prstGeom>
          <a:solidFill>
            <a:srgbClr val="3A1A1A"/>
          </a:solidFill>
          <a:ln/>
          <a:effectLst>
            <a:outerShdw sx="100000" sy="100000" kx="0" ky="0" algn="bl" rotWithShape="0" blurRad="101600" dist="38100" dir="8100000">
              <a:srgbClr val="000000">
                <a:alpha val="12000"/>
              </a:srgbClr>
            </a:outerShdw>
          </a:effectLst>
        </p:spPr>
      </p:sp>
      <p:sp>
        <p:nvSpPr>
          <p:cNvPr id="7" name="Text 5"/>
          <p:cNvSpPr/>
          <p:nvPr/>
        </p:nvSpPr>
        <p:spPr>
          <a:xfrm>
            <a:off x="4114800" y="804672"/>
            <a:ext cx="32918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REBUS Model (Psychoactives)</a:t>
            </a:r>
            <a:endParaRPr lang="en-US" sz="1200" dirty="0"/>
          </a:p>
        </p:txBody>
      </p:sp>
      <p:sp>
        <p:nvSpPr>
          <p:cNvPr id="8" name="Text 6"/>
          <p:cNvSpPr/>
          <p:nvPr/>
        </p:nvSpPr>
        <p:spPr>
          <a:xfrm>
            <a:off x="4114800" y="1170432"/>
            <a:ext cx="3291840" cy="1737360"/>
          </a:xfrm>
          <a:prstGeom prst="rect">
            <a:avLst/>
          </a:prstGeom>
          <a:noFill/>
          <a:ln/>
        </p:spPr>
        <p:txBody>
          <a:bodyPr wrap="square" rtlCol="0" anchor="ctr"/>
          <a:lstStyle/>
          <a:p>
            <a:pPr indent="0" marL="0">
              <a:buNone/>
            </a:pPr>
            <a:r>
              <a:rPr lang="en-US" sz="1000" dirty="0">
                <a:solidFill>
                  <a:srgbClr val="DDEEFF"/>
                </a:solidFill>
                <a:latin typeface="Calibri" pitchFamily="34" charset="0"/>
                <a:ea typeface="Calibri" pitchFamily="34" charset="-122"/>
                <a:cs typeface="Calibri" pitchFamily="34" charset="-120"/>
              </a:rPr>
              <a:t>Psychedelics temporarily 'violate' the FEP by increasing brain entropy.</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RElaxed Beliefs Under pSychedelics</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 Flattens the free-energy landscape, triggering creative explosion</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 Maximizes neuroplasticity for psychedelic therapy</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 Psychedelic Afterglow: temporary effect becomes permanent change</a:t>
            </a:r>
            <a:endParaRPr lang="en-US" sz="1000" dirty="0"/>
          </a:p>
        </p:txBody>
      </p:sp>
      <p:sp>
        <p:nvSpPr>
          <p:cNvPr id="9" name="Shape 7"/>
          <p:cNvSpPr/>
          <p:nvPr/>
        </p:nvSpPr>
        <p:spPr>
          <a:xfrm>
            <a:off x="7772400" y="713232"/>
            <a:ext cx="4114800" cy="2286000"/>
          </a:xfrm>
          <a:prstGeom prst="rect">
            <a:avLst/>
          </a:prstGeom>
          <a:solidFill>
            <a:srgbClr val="1A3A1A"/>
          </a:solidFill>
          <a:ln/>
          <a:effectLst>
            <a:outerShdw sx="100000" sy="100000" kx="0" ky="0" algn="bl" rotWithShape="0" blurRad="101600" dist="38100" dir="8100000">
              <a:srgbClr val="000000">
                <a:alpha val="12000"/>
              </a:srgbClr>
            </a:outerShdw>
          </a:effectLst>
        </p:spPr>
      </p:sp>
      <p:sp>
        <p:nvSpPr>
          <p:cNvPr id="10" name="Text 8"/>
          <p:cNvSpPr/>
          <p:nvPr/>
        </p:nvSpPr>
        <p:spPr>
          <a:xfrm>
            <a:off x="7863840" y="804672"/>
            <a:ext cx="393192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Enlightened Brain</a:t>
            </a:r>
            <a:endParaRPr lang="en-US" sz="1200" dirty="0"/>
          </a:p>
        </p:txBody>
      </p:sp>
      <p:sp>
        <p:nvSpPr>
          <p:cNvPr id="11" name="Text 9"/>
          <p:cNvSpPr/>
          <p:nvPr/>
        </p:nvSpPr>
        <p:spPr>
          <a:xfrm>
            <a:off x="7863840" y="1170432"/>
            <a:ext cx="3931920" cy="1737360"/>
          </a:xfrm>
          <a:prstGeom prst="rect">
            <a:avLst/>
          </a:prstGeom>
          <a:noFill/>
          <a:ln/>
        </p:spPr>
        <p:txBody>
          <a:bodyPr wrap="square" rtlCol="0" anchor="ctr"/>
          <a:lstStyle/>
          <a:p>
            <a:pPr indent="0" marL="0">
              <a:buNone/>
            </a:pPr>
            <a:r>
              <a:rPr lang="en-US" sz="1000" dirty="0">
                <a:solidFill>
                  <a:srgbClr val="DDEEFF"/>
                </a:solidFill>
                <a:latin typeface="Calibri" pitchFamily="34" charset="0"/>
                <a:ea typeface="Calibri" pitchFamily="34" charset="-122"/>
                <a:cs typeface="Calibri" pitchFamily="34" charset="-120"/>
              </a:rPr>
              <a:t>The solution to the Dark-Room Problem may not be making the external environment more stimulating, but turning inward.</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Default Mode Network (DMN): 60–80% of brain energy consumed 'doing nothing.'</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 The Brain's Dark Energy</a:t>
            </a:r>
            <a:endParaRPr lang="en-US" sz="1000" dirty="0"/>
          </a:p>
          <a:p>
            <a:pPr indent="0" marL="0">
              <a:buNone/>
            </a:pPr>
            <a:r>
              <a:rPr lang="en-US" sz="1000" dirty="0">
                <a:solidFill>
                  <a:srgbClr val="DDEEFF"/>
                </a:solidFill>
                <a:latin typeface="Calibri" pitchFamily="34" charset="0"/>
                <a:ea typeface="Calibri" pitchFamily="34" charset="-122"/>
                <a:cs typeface="Calibri" pitchFamily="34" charset="-120"/>
              </a:rPr>
              <a:t>→ AI Enlightenment &gt; AI Embodiment</a:t>
            </a:r>
            <a:endParaRPr lang="en-US" sz="1000" dirty="0"/>
          </a:p>
        </p:txBody>
      </p:sp>
      <p:sp>
        <p:nvSpPr>
          <p:cNvPr id="12" name="Shape 10"/>
          <p:cNvSpPr/>
          <p:nvPr/>
        </p:nvSpPr>
        <p:spPr>
          <a:xfrm>
            <a:off x="274320" y="3154680"/>
            <a:ext cx="11612880" cy="347472"/>
          </a:xfrm>
          <a:prstGeom prst="rect">
            <a:avLst/>
          </a:prstGeom>
          <a:solidFill>
            <a:srgbClr val="0D1B3E"/>
          </a:solidFill>
          <a:ln/>
        </p:spPr>
      </p:sp>
      <p:sp>
        <p:nvSpPr>
          <p:cNvPr id="13" name="Text 11"/>
          <p:cNvSpPr/>
          <p:nvPr/>
        </p:nvSpPr>
        <p:spPr>
          <a:xfrm>
            <a:off x="274320" y="3154680"/>
            <a:ext cx="116128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Velsanet Relevance Analysis</a:t>
            </a:r>
            <a:endParaRPr lang="en-US" sz="1100" dirty="0"/>
          </a:p>
        </p:txBody>
      </p:sp>
      <p:sp>
        <p:nvSpPr>
          <p:cNvPr id="14" name="Shape 12"/>
          <p:cNvSpPr/>
          <p:nvPr/>
        </p:nvSpPr>
        <p:spPr>
          <a:xfrm>
            <a:off x="274320" y="3593592"/>
            <a:ext cx="3749040" cy="2560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Text 13"/>
          <p:cNvSpPr/>
          <p:nvPr/>
        </p:nvSpPr>
        <p:spPr>
          <a:xfrm>
            <a:off x="365760" y="3657600"/>
            <a:ext cx="3566160" cy="411480"/>
          </a:xfrm>
          <a:prstGeom prst="rect">
            <a:avLst/>
          </a:prstGeom>
          <a:noFill/>
          <a:ln/>
        </p:spPr>
        <p:txBody>
          <a:bodyPr wrap="square" rtlCol="0" anchor="ctr"/>
          <a:lstStyle/>
          <a:p>
            <a:pPr indent="0" marL="0">
              <a:buNone/>
            </a:pPr>
            <a:r>
              <a:rPr lang="en-US" sz="1050" b="1" dirty="0">
                <a:solidFill>
                  <a:srgbClr val="1A3A6C"/>
                </a:solidFill>
                <a:latin typeface="Calibri" pitchFamily="34" charset="0"/>
                <a:ea typeface="Calibri" pitchFamily="34" charset="-122"/>
                <a:cs typeface="Calibri" pitchFamily="34" charset="-120"/>
              </a:rPr>
              <a:t>WP #19 Cognition Cube — E-Axis (Emotion Axis)</a:t>
            </a:r>
            <a:endParaRPr lang="en-US" sz="1050" dirty="0"/>
          </a:p>
        </p:txBody>
      </p:sp>
      <p:sp>
        <p:nvSpPr>
          <p:cNvPr id="16" name="Shape 14"/>
          <p:cNvSpPr/>
          <p:nvPr/>
        </p:nvSpPr>
        <p:spPr>
          <a:xfrm>
            <a:off x="365760" y="4096512"/>
            <a:ext cx="1645920" cy="237744"/>
          </a:xfrm>
          <a:prstGeom prst="roundRect">
            <a:avLst>
              <a:gd name="adj" fmla="val 11538"/>
            </a:avLst>
          </a:prstGeom>
          <a:solidFill>
            <a:srgbClr val="1A4E20"/>
          </a:solidFill>
          <a:ln/>
        </p:spPr>
      </p:sp>
      <p:sp>
        <p:nvSpPr>
          <p:cNvPr id="17" name="Text 15"/>
          <p:cNvSpPr/>
          <p:nvPr/>
        </p:nvSpPr>
        <p:spPr>
          <a:xfrm>
            <a:off x="365760" y="4096512"/>
            <a:ext cx="164592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Potential Alignment</a:t>
            </a:r>
            <a:endParaRPr lang="en-US" sz="850" dirty="0"/>
          </a:p>
        </p:txBody>
      </p:sp>
      <p:sp>
        <p:nvSpPr>
          <p:cNvPr id="18" name="Text 16"/>
          <p:cNvSpPr/>
          <p:nvPr/>
        </p:nvSpPr>
        <p:spPr>
          <a:xfrm>
            <a:off x="365760" y="4407408"/>
            <a:ext cx="3566160" cy="1664208"/>
          </a:xfrm>
          <a:prstGeom prst="rect">
            <a:avLst/>
          </a:prstGeom>
          <a:noFill/>
          <a:ln/>
        </p:spPr>
        <p:txBody>
          <a:bodyPr wrap="square" rtlCol="0" anchor="ctr"/>
          <a:lstStyle/>
          <a:p>
            <a:pPr indent="0" marL="0">
              <a:buNone/>
            </a:pPr>
            <a:r>
              <a:rPr lang="en-US" sz="950" dirty="0">
                <a:solidFill>
                  <a:srgbClr val="2A3A5A"/>
                </a:solidFill>
                <a:latin typeface="Calibri" pitchFamily="34" charset="0"/>
                <a:ea typeface="Calibri" pitchFamily="34" charset="-122"/>
                <a:cs typeface="Calibri" pitchFamily="34" charset="-120"/>
              </a:rPr>
              <a:t>The E-axis Affective State and importance weighting is analogous to the mechanism by which Psychoactives temporarily violate the FEP to learn new patterns. Importance weight recalibration = a form of structural psychedelic effect.</a:t>
            </a:r>
            <a:endParaRPr lang="en-US" sz="950" dirty="0"/>
          </a:p>
        </p:txBody>
      </p:sp>
      <p:sp>
        <p:nvSpPr>
          <p:cNvPr id="19" name="Shape 17"/>
          <p:cNvSpPr/>
          <p:nvPr/>
        </p:nvSpPr>
        <p:spPr>
          <a:xfrm>
            <a:off x="4206240" y="3593592"/>
            <a:ext cx="3749040" cy="2560320"/>
          </a:xfrm>
          <a:prstGeom prst="rect">
            <a:avLst/>
          </a:prstGeom>
          <a:solidFill>
            <a:srgbClr val="F4F7FB"/>
          </a:solidFill>
          <a:ln/>
          <a:effectLst>
            <a:outerShdw sx="100000" sy="100000" kx="0" ky="0" algn="bl" rotWithShape="0" blurRad="101600" dist="38100" dir="8100000">
              <a:srgbClr val="000000">
                <a:alpha val="12000"/>
              </a:srgbClr>
            </a:outerShdw>
          </a:effectLst>
        </p:spPr>
      </p:sp>
      <p:sp>
        <p:nvSpPr>
          <p:cNvPr id="20" name="Text 18"/>
          <p:cNvSpPr/>
          <p:nvPr/>
        </p:nvSpPr>
        <p:spPr>
          <a:xfrm>
            <a:off x="4297680" y="3657600"/>
            <a:ext cx="3566160" cy="411480"/>
          </a:xfrm>
          <a:prstGeom prst="rect">
            <a:avLst/>
          </a:prstGeom>
          <a:noFill/>
          <a:ln/>
        </p:spPr>
        <p:txBody>
          <a:bodyPr wrap="square" rtlCol="0" anchor="ctr"/>
          <a:lstStyle/>
          <a:p>
            <a:pPr indent="0" marL="0">
              <a:buNone/>
            </a:pPr>
            <a:r>
              <a:rPr lang="en-US" sz="1050" b="1" dirty="0">
                <a:solidFill>
                  <a:srgbClr val="1A3A6C"/>
                </a:solidFill>
                <a:latin typeface="Calibri" pitchFamily="34" charset="0"/>
                <a:ea typeface="Calibri" pitchFamily="34" charset="-122"/>
                <a:cs typeface="Calibri" pitchFamily="34" charset="-120"/>
              </a:rPr>
              <a:t>WP #09 PAI Layer — Experience Accumulation Structure</a:t>
            </a:r>
            <a:endParaRPr lang="en-US" sz="1050" dirty="0"/>
          </a:p>
        </p:txBody>
      </p:sp>
      <p:sp>
        <p:nvSpPr>
          <p:cNvPr id="21" name="Shape 19"/>
          <p:cNvSpPr/>
          <p:nvPr/>
        </p:nvSpPr>
        <p:spPr>
          <a:xfrm>
            <a:off x="4297680" y="4096512"/>
            <a:ext cx="1645920" cy="237744"/>
          </a:xfrm>
          <a:prstGeom prst="roundRect">
            <a:avLst>
              <a:gd name="adj" fmla="val 11538"/>
            </a:avLst>
          </a:prstGeom>
          <a:solidFill>
            <a:srgbClr val="1A4E20"/>
          </a:solidFill>
          <a:ln/>
        </p:spPr>
      </p:sp>
      <p:sp>
        <p:nvSpPr>
          <p:cNvPr id="22" name="Text 20"/>
          <p:cNvSpPr/>
          <p:nvPr/>
        </p:nvSpPr>
        <p:spPr>
          <a:xfrm>
            <a:off x="4297680" y="4096512"/>
            <a:ext cx="164592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Conceptual Alignment</a:t>
            </a:r>
            <a:endParaRPr lang="en-US" sz="850" dirty="0"/>
          </a:p>
        </p:txBody>
      </p:sp>
      <p:sp>
        <p:nvSpPr>
          <p:cNvPr id="23" name="Text 21"/>
          <p:cNvSpPr/>
          <p:nvPr/>
        </p:nvSpPr>
        <p:spPr>
          <a:xfrm>
            <a:off x="4297680" y="4407408"/>
            <a:ext cx="3566160" cy="1664208"/>
          </a:xfrm>
          <a:prstGeom prst="rect">
            <a:avLst/>
          </a:prstGeom>
          <a:noFill/>
          <a:ln/>
        </p:spPr>
        <p:txBody>
          <a:bodyPr wrap="square" rtlCol="0" anchor="ctr"/>
          <a:lstStyle/>
          <a:p>
            <a:pPr indent="0" marL="0">
              <a:buNone/>
            </a:pPr>
            <a:r>
              <a:rPr lang="en-US" sz="950" dirty="0">
                <a:solidFill>
                  <a:srgbClr val="2A3A5A"/>
                </a:solidFill>
                <a:latin typeface="Calibri" pitchFamily="34" charset="0"/>
                <a:ea typeface="Calibri" pitchFamily="34" charset="-122"/>
                <a:cs typeface="Calibri" pitchFamily="34" charset="-120"/>
              </a:rPr>
              <a:t>PAI faces the same dilemma as the dark-room problem when accumulating experience: exploration of new experiences vs. reinforcement of existing patterns. Adding an exploration-exploitation balance mechanism to Velsanet PAI design is worth considering.</a:t>
            </a:r>
            <a:endParaRPr lang="en-US" sz="950" dirty="0"/>
          </a:p>
        </p:txBody>
      </p:sp>
      <p:sp>
        <p:nvSpPr>
          <p:cNvPr id="24" name="Shape 22"/>
          <p:cNvSpPr/>
          <p:nvPr/>
        </p:nvSpPr>
        <p:spPr>
          <a:xfrm>
            <a:off x="8138160" y="3593592"/>
            <a:ext cx="3749040" cy="2560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5" name="Text 23"/>
          <p:cNvSpPr/>
          <p:nvPr/>
        </p:nvSpPr>
        <p:spPr>
          <a:xfrm>
            <a:off x="8229600" y="3657600"/>
            <a:ext cx="3566160" cy="411480"/>
          </a:xfrm>
          <a:prstGeom prst="rect">
            <a:avLst/>
          </a:prstGeom>
          <a:noFill/>
          <a:ln/>
        </p:spPr>
        <p:txBody>
          <a:bodyPr wrap="square" rtlCol="0" anchor="ctr"/>
          <a:lstStyle/>
          <a:p>
            <a:pPr indent="0" marL="0">
              <a:buNone/>
            </a:pPr>
            <a:r>
              <a:rPr lang="en-US" sz="1050" b="1" dirty="0">
                <a:solidFill>
                  <a:srgbClr val="1A3A6C"/>
                </a:solidFill>
                <a:latin typeface="Calibri" pitchFamily="34" charset="0"/>
                <a:ea typeface="Calibri" pitchFamily="34" charset="-122"/>
                <a:cs typeface="Calibri" pitchFamily="34" charset="-120"/>
              </a:rPr>
              <a:t>Future Research Direction</a:t>
            </a:r>
            <a:endParaRPr lang="en-US" sz="1050" dirty="0"/>
          </a:p>
        </p:txBody>
      </p:sp>
      <p:sp>
        <p:nvSpPr>
          <p:cNvPr id="26" name="Shape 24"/>
          <p:cNvSpPr/>
          <p:nvPr/>
        </p:nvSpPr>
        <p:spPr>
          <a:xfrm>
            <a:off x="8229600" y="4096512"/>
            <a:ext cx="1645920" cy="237744"/>
          </a:xfrm>
          <a:prstGeom prst="roundRect">
            <a:avLst>
              <a:gd name="adj" fmla="val 11538"/>
            </a:avLst>
          </a:prstGeom>
          <a:solidFill>
            <a:srgbClr val="1A4E20"/>
          </a:solidFill>
          <a:ln/>
        </p:spPr>
      </p:sp>
      <p:sp>
        <p:nvSpPr>
          <p:cNvPr id="27" name="Text 25"/>
          <p:cNvSpPr/>
          <p:nvPr/>
        </p:nvSpPr>
        <p:spPr>
          <a:xfrm>
            <a:off x="8229600" y="4096512"/>
            <a:ext cx="164592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Future Work</a:t>
            </a:r>
            <a:endParaRPr lang="en-US" sz="850" dirty="0"/>
          </a:p>
        </p:txBody>
      </p:sp>
      <p:sp>
        <p:nvSpPr>
          <p:cNvPr id="28" name="Text 26"/>
          <p:cNvSpPr/>
          <p:nvPr/>
        </p:nvSpPr>
        <p:spPr>
          <a:xfrm>
            <a:off x="8229600" y="4407408"/>
            <a:ext cx="3566160" cy="1664208"/>
          </a:xfrm>
          <a:prstGeom prst="rect">
            <a:avLst/>
          </a:prstGeom>
          <a:noFill/>
          <a:ln/>
        </p:spPr>
        <p:txBody>
          <a:bodyPr wrap="square" rtlCol="0" anchor="ctr"/>
          <a:lstStyle/>
          <a:p>
            <a:pPr indent="0" marL="0">
              <a:buNone/>
            </a:pPr>
            <a:r>
              <a:rPr lang="en-US" sz="950" dirty="0">
                <a:solidFill>
                  <a:srgbClr val="2A3A5A"/>
                </a:solidFill>
                <a:latin typeface="Calibri" pitchFamily="34" charset="0"/>
                <a:ea typeface="Calibri" pitchFamily="34" charset="-122"/>
                <a:cs typeface="Calibri" pitchFamily="34" charset="-120"/>
              </a:rPr>
              <a:t>Maier's Psychoactives research provides a theoretical basis for adding 'structural creativity' to Velsanet's AI learning mechanism. Integrating a temporary FEP-violating exploration mode into the Velsanet AI layers has significant research value.</a:t>
            </a:r>
            <a:endParaRPr lang="en-US" sz="950" dirty="0"/>
          </a:p>
        </p:txBody>
      </p:sp>
      <p:sp>
        <p:nvSpPr>
          <p:cNvPr id="29" name="Text 27"/>
          <p:cNvSpPr/>
          <p:nvPr/>
        </p:nvSpPr>
        <p:spPr>
          <a:xfrm>
            <a:off x="274320" y="6492240"/>
            <a:ext cx="11612880" cy="274320"/>
          </a:xfrm>
          <a:prstGeom prst="rect">
            <a:avLst/>
          </a:prstGeom>
          <a:noFill/>
          <a:ln/>
        </p:spPr>
        <p:txBody>
          <a:bodyPr wrap="square" rtlCol="0" anchor="ctr"/>
          <a:lstStyle/>
          <a:p>
            <a:pPr algn="r" indent="0" marL="0">
              <a:buNone/>
            </a:pPr>
            <a:r>
              <a:rPr lang="en-US" sz="900" i="1" dirty="0">
                <a:solidFill>
                  <a:srgbClr val="8899BB"/>
                </a:solidFill>
                <a:latin typeface="Calibri" pitchFamily="34" charset="0"/>
                <a:ea typeface="Calibri" pitchFamily="34" charset="-122"/>
                <a:cs typeface="Calibri" pitchFamily="34" charset="-120"/>
              </a:rPr>
              <a:t>Source: Maier et al., INFOCOM EIN Workshop; Maier et al., IEEE IS submitted (REBUS + Active Inference)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A1530"/>
          </a:solidFill>
          <a:ln/>
        </p:spPr>
      </p:sp>
      <p:sp>
        <p:nvSpPr>
          <p:cNvPr id="3" name="Text 1"/>
          <p:cNvSpPr/>
          <p:nvPr/>
        </p:nvSpPr>
        <p:spPr>
          <a:xfrm>
            <a:off x="365760" y="182880"/>
            <a:ext cx="1143000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Conclusion  —  Martin Maier × Velsanet: Where Concept Meets Structure</a:t>
            </a:r>
            <a:endParaRPr lang="en-US" sz="2000" dirty="0"/>
          </a:p>
        </p:txBody>
      </p:sp>
      <p:sp>
        <p:nvSpPr>
          <p:cNvPr id="4" name="Shape 2"/>
          <p:cNvSpPr/>
          <p:nvPr/>
        </p:nvSpPr>
        <p:spPr>
          <a:xfrm>
            <a:off x="274320" y="1051560"/>
            <a:ext cx="5669280" cy="2331720"/>
          </a:xfrm>
          <a:prstGeom prst="rect">
            <a:avLst/>
          </a:prstGeom>
          <a:solidFill>
            <a:srgbClr val="0D1E3A"/>
          </a:solidFill>
          <a:ln/>
          <a:effectLst>
            <a:outerShdw sx="100000" sy="100000" kx="0" ky="0" algn="bl" rotWithShape="0" blurRad="101600" dist="38100" dir="8100000">
              <a:srgbClr val="000000">
                <a:alpha val="12000"/>
              </a:srgbClr>
            </a:outerShdw>
          </a:effectLst>
        </p:spPr>
      </p:sp>
      <p:sp>
        <p:nvSpPr>
          <p:cNvPr id="5" name="Shape 3"/>
          <p:cNvSpPr/>
          <p:nvPr/>
        </p:nvSpPr>
        <p:spPr>
          <a:xfrm>
            <a:off x="274320" y="1051560"/>
            <a:ext cx="640080" cy="2331720"/>
          </a:xfrm>
          <a:prstGeom prst="rect">
            <a:avLst/>
          </a:prstGeom>
          <a:solidFill>
            <a:srgbClr val="0B7A8C"/>
          </a:solidFill>
          <a:ln/>
        </p:spPr>
      </p:sp>
      <p:sp>
        <p:nvSpPr>
          <p:cNvPr id="6" name="Text 4"/>
          <p:cNvSpPr/>
          <p:nvPr/>
        </p:nvSpPr>
        <p:spPr>
          <a:xfrm>
            <a:off x="320040" y="1874520"/>
            <a:ext cx="54864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1051560" y="1161288"/>
            <a:ext cx="4754880" cy="411480"/>
          </a:xfrm>
          <a:prstGeom prst="rect">
            <a:avLst/>
          </a:prstGeom>
          <a:noFill/>
          <a:ln/>
        </p:spPr>
        <p:txBody>
          <a:bodyPr wrap="square" rtlCol="0" anchor="ctr"/>
          <a:lstStyle/>
          <a:p>
            <a:pPr indent="0" marL="0">
              <a:buNone/>
            </a:pPr>
            <a:r>
              <a:rPr lang="en-US" sz="1300" b="1" dirty="0">
                <a:solidFill>
                  <a:srgbClr val="0B7A8C"/>
                </a:solidFill>
                <a:latin typeface="Calibri" pitchFamily="34" charset="0"/>
                <a:ea typeface="Calibri" pitchFamily="34" charset="-122"/>
                <a:cs typeface="Calibri" pitchFamily="34" charset="-120"/>
              </a:rPr>
              <a:t>Maier explores the 'WHY'</a:t>
            </a:r>
            <a:endParaRPr lang="en-US" sz="1300" dirty="0"/>
          </a:p>
        </p:txBody>
      </p:sp>
      <p:sp>
        <p:nvSpPr>
          <p:cNvPr id="8" name="Text 6"/>
          <p:cNvSpPr/>
          <p:nvPr/>
        </p:nvSpPr>
        <p:spPr>
          <a:xfrm>
            <a:off x="1051560" y="1600200"/>
            <a:ext cx="4754880" cy="169164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Active Inference, FEP, mycorrhizal networks — Maier's research investigates the fundamental principles of how intelligence works. He finds the future of AI in mathematics and biology.</a:t>
            </a:r>
            <a:endParaRPr lang="en-US" sz="1000" dirty="0"/>
          </a:p>
        </p:txBody>
      </p:sp>
      <p:sp>
        <p:nvSpPr>
          <p:cNvPr id="9" name="Shape 7"/>
          <p:cNvSpPr/>
          <p:nvPr/>
        </p:nvSpPr>
        <p:spPr>
          <a:xfrm>
            <a:off x="6217920" y="1051560"/>
            <a:ext cx="5669280" cy="2331720"/>
          </a:xfrm>
          <a:prstGeom prst="rect">
            <a:avLst/>
          </a:prstGeom>
          <a:solidFill>
            <a:srgbClr val="0D1E3A"/>
          </a:solidFill>
          <a:ln/>
          <a:effectLst>
            <a:outerShdw sx="100000" sy="100000" kx="0" ky="0" algn="bl" rotWithShape="0" blurRad="101600" dist="38100" dir="8100000">
              <a:srgbClr val="000000">
                <a:alpha val="12000"/>
              </a:srgbClr>
            </a:outerShdw>
          </a:effectLst>
        </p:spPr>
      </p:sp>
      <p:sp>
        <p:nvSpPr>
          <p:cNvPr id="10" name="Shape 8"/>
          <p:cNvSpPr/>
          <p:nvPr/>
        </p:nvSpPr>
        <p:spPr>
          <a:xfrm>
            <a:off x="6217920" y="1051560"/>
            <a:ext cx="640080" cy="2331720"/>
          </a:xfrm>
          <a:prstGeom prst="rect">
            <a:avLst/>
          </a:prstGeom>
          <a:solidFill>
            <a:srgbClr val="C47B00"/>
          </a:solidFill>
          <a:ln/>
        </p:spPr>
      </p:sp>
      <p:sp>
        <p:nvSpPr>
          <p:cNvPr id="11" name="Text 9"/>
          <p:cNvSpPr/>
          <p:nvPr/>
        </p:nvSpPr>
        <p:spPr>
          <a:xfrm>
            <a:off x="6263640" y="1874520"/>
            <a:ext cx="54864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6995160" y="1161288"/>
            <a:ext cx="4754880" cy="411480"/>
          </a:xfrm>
          <a:prstGeom prst="rect">
            <a:avLst/>
          </a:prstGeom>
          <a:noFill/>
          <a:ln/>
        </p:spPr>
        <p:txBody>
          <a:bodyPr wrap="square" rtlCol="0" anchor="ctr"/>
          <a:lstStyle/>
          <a:p>
            <a:pPr indent="0" marL="0">
              <a:buNone/>
            </a:pPr>
            <a:r>
              <a:rPr lang="en-US" sz="1300" b="1" dirty="0">
                <a:solidFill>
                  <a:srgbClr val="C47B00"/>
                </a:solidFill>
                <a:latin typeface="Calibri" pitchFamily="34" charset="0"/>
                <a:ea typeface="Calibri" pitchFamily="34" charset="-122"/>
                <a:cs typeface="Calibri" pitchFamily="34" charset="-120"/>
              </a:rPr>
              <a:t>Velsanet designed the 'HOW'</a:t>
            </a:r>
            <a:endParaRPr lang="en-US" sz="1300" dirty="0"/>
          </a:p>
        </p:txBody>
      </p:sp>
      <p:sp>
        <p:nvSpPr>
          <p:cNvPr id="13" name="Text 11"/>
          <p:cNvSpPr/>
          <p:nvPr/>
        </p:nvSpPr>
        <p:spPr>
          <a:xfrm>
            <a:off x="6995160" y="1600200"/>
            <a:ext cx="4754880" cy="169164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Optical-core E2E, polyhedral topology, PAI/AAI/AsAI, Cognition Cube — Velsanet is the architecture that structurally implements the principles Maier investigates. The structural embodiment of concepts.</a:t>
            </a:r>
            <a:endParaRPr lang="en-US" sz="1000" dirty="0"/>
          </a:p>
        </p:txBody>
      </p:sp>
      <p:sp>
        <p:nvSpPr>
          <p:cNvPr id="14" name="Shape 12"/>
          <p:cNvSpPr/>
          <p:nvPr/>
        </p:nvSpPr>
        <p:spPr>
          <a:xfrm>
            <a:off x="274320" y="3611880"/>
            <a:ext cx="5669280" cy="2331720"/>
          </a:xfrm>
          <a:prstGeom prst="rect">
            <a:avLst/>
          </a:prstGeom>
          <a:solidFill>
            <a:srgbClr val="0D1E3A"/>
          </a:solidFill>
          <a:ln/>
          <a:effectLst>
            <a:outerShdw sx="100000" sy="100000" kx="0" ky="0" algn="bl" rotWithShape="0" blurRad="101600" dist="38100" dir="8100000">
              <a:srgbClr val="000000">
                <a:alpha val="12000"/>
              </a:srgbClr>
            </a:outerShdw>
          </a:effectLst>
        </p:spPr>
      </p:sp>
      <p:sp>
        <p:nvSpPr>
          <p:cNvPr id="15" name="Shape 13"/>
          <p:cNvSpPr/>
          <p:nvPr/>
        </p:nvSpPr>
        <p:spPr>
          <a:xfrm>
            <a:off x="274320" y="3611880"/>
            <a:ext cx="640080" cy="2331720"/>
          </a:xfrm>
          <a:prstGeom prst="rect">
            <a:avLst/>
          </a:prstGeom>
          <a:solidFill>
            <a:srgbClr val="9B59B6"/>
          </a:solidFill>
          <a:ln/>
        </p:spPr>
      </p:sp>
      <p:sp>
        <p:nvSpPr>
          <p:cNvPr id="16" name="Text 14"/>
          <p:cNvSpPr/>
          <p:nvPr/>
        </p:nvSpPr>
        <p:spPr>
          <a:xfrm>
            <a:off x="320040" y="4434840"/>
            <a:ext cx="54864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1051560" y="3721608"/>
            <a:ext cx="4754880" cy="411480"/>
          </a:xfrm>
          <a:prstGeom prst="rect">
            <a:avLst/>
          </a:prstGeom>
          <a:noFill/>
          <a:ln/>
        </p:spPr>
        <p:txBody>
          <a:bodyPr wrap="square" rtlCol="0" anchor="ctr"/>
          <a:lstStyle/>
          <a:p>
            <a:pPr indent="0" marL="0">
              <a:buNone/>
            </a:pPr>
            <a:r>
              <a:rPr lang="en-US" sz="1300" b="1" dirty="0">
                <a:solidFill>
                  <a:srgbClr val="9B59B6"/>
                </a:solidFill>
                <a:latin typeface="Calibri" pitchFamily="34" charset="0"/>
                <a:ea typeface="Calibri" pitchFamily="34" charset="-122"/>
                <a:cs typeface="Calibri" pitchFamily="34" charset="-120"/>
              </a:rPr>
              <a:t>Two approaches perfectly complement each other</a:t>
            </a:r>
            <a:endParaRPr lang="en-US" sz="1300" dirty="0"/>
          </a:p>
        </p:txBody>
      </p:sp>
      <p:sp>
        <p:nvSpPr>
          <p:cNvPr id="18" name="Text 16"/>
          <p:cNvSpPr/>
          <p:nvPr/>
        </p:nvSpPr>
        <p:spPr>
          <a:xfrm>
            <a:off x="1051560" y="4160520"/>
            <a:ext cx="4754880" cy="169164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Maier: Concept → Mathematics → Simulation</a:t>
            </a:r>
            <a:endParaRPr lang="en-US" sz="1000" dirty="0"/>
          </a:p>
          <a:p>
            <a:pPr indent="0" marL="0">
              <a:buNone/>
            </a:pPr>
            <a:r>
              <a:rPr lang="en-US" sz="1000" dirty="0">
                <a:solidFill>
                  <a:srgbClr val="BBCCEE"/>
                </a:solidFill>
                <a:latin typeface="Calibri" pitchFamily="34" charset="0"/>
                <a:ea typeface="Calibri" pitchFamily="34" charset="-122"/>
                <a:cs typeface="Calibri" pitchFamily="34" charset="-120"/>
              </a:rPr>
              <a:t>Velsanet: Structure → Standard → Implementation</a:t>
            </a:r>
            <a:endParaRPr lang="en-US" sz="1000" dirty="0"/>
          </a:p>
          <a:p>
            <a:pPr indent="0" marL="0">
              <a:buNone/>
            </a:pPr>
            <a:r>
              <a:rPr lang="en-US" sz="1000" dirty="0">
                <a:solidFill>
                  <a:srgbClr val="BBCCEE"/>
                </a:solidFill>
                <a:latin typeface="Calibri" pitchFamily="34" charset="0"/>
                <a:ea typeface="Calibri" pitchFamily="34" charset="-122"/>
                <a:cs typeface="Calibri" pitchFamily="34" charset="-120"/>
              </a:rPr>
              <a:t>When the two approaches converge, true AI-Native 6G is born.</a:t>
            </a:r>
            <a:endParaRPr lang="en-US" sz="1000" dirty="0"/>
          </a:p>
        </p:txBody>
      </p:sp>
      <p:sp>
        <p:nvSpPr>
          <p:cNvPr id="19" name="Shape 17"/>
          <p:cNvSpPr/>
          <p:nvPr/>
        </p:nvSpPr>
        <p:spPr>
          <a:xfrm>
            <a:off x="6217920" y="3611880"/>
            <a:ext cx="5669280" cy="2331720"/>
          </a:xfrm>
          <a:prstGeom prst="rect">
            <a:avLst/>
          </a:prstGeom>
          <a:solidFill>
            <a:srgbClr val="0D1E3A"/>
          </a:solidFill>
          <a:ln/>
          <a:effectLst>
            <a:outerShdw sx="100000" sy="100000" kx="0" ky="0" algn="bl" rotWithShape="0" blurRad="101600" dist="38100" dir="8100000">
              <a:srgbClr val="000000">
                <a:alpha val="12000"/>
              </a:srgbClr>
            </a:outerShdw>
          </a:effectLst>
        </p:spPr>
      </p:sp>
      <p:sp>
        <p:nvSpPr>
          <p:cNvPr id="20" name="Shape 18"/>
          <p:cNvSpPr/>
          <p:nvPr/>
        </p:nvSpPr>
        <p:spPr>
          <a:xfrm>
            <a:off x="6217920" y="3611880"/>
            <a:ext cx="640080" cy="2331720"/>
          </a:xfrm>
          <a:prstGeom prst="rect">
            <a:avLst/>
          </a:prstGeom>
          <a:solidFill>
            <a:srgbClr val="1A6E3A"/>
          </a:solidFill>
          <a:ln/>
        </p:spPr>
      </p:sp>
      <p:sp>
        <p:nvSpPr>
          <p:cNvPr id="21" name="Text 19"/>
          <p:cNvSpPr/>
          <p:nvPr/>
        </p:nvSpPr>
        <p:spPr>
          <a:xfrm>
            <a:off x="6263640" y="4434840"/>
            <a:ext cx="54864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6995160" y="3721608"/>
            <a:ext cx="4754880" cy="411480"/>
          </a:xfrm>
          <a:prstGeom prst="rect">
            <a:avLst/>
          </a:prstGeom>
          <a:noFill/>
          <a:ln/>
        </p:spPr>
        <p:txBody>
          <a:bodyPr wrap="square" rtlCol="0" anchor="ctr"/>
          <a:lstStyle/>
          <a:p>
            <a:pPr indent="0" marL="0">
              <a:buNone/>
            </a:pPr>
            <a:r>
              <a:rPr lang="en-US" sz="1300" b="1" dirty="0">
                <a:solidFill>
                  <a:srgbClr val="1A6E3A"/>
                </a:solidFill>
                <a:latin typeface="Calibri" pitchFamily="34" charset="0"/>
                <a:ea typeface="Calibri" pitchFamily="34" charset="-122"/>
                <a:cs typeface="Calibri" pitchFamily="34" charset="-120"/>
              </a:rPr>
              <a:t>The meaning of FG-EAI/AINN contributions</a:t>
            </a:r>
            <a:endParaRPr lang="en-US" sz="1300" dirty="0"/>
          </a:p>
        </p:txBody>
      </p:sp>
      <p:sp>
        <p:nvSpPr>
          <p:cNvPr id="23" name="Text 21"/>
          <p:cNvSpPr/>
          <p:nvPr/>
        </p:nvSpPr>
        <p:spPr>
          <a:xfrm>
            <a:off x="6995160" y="4160520"/>
            <a:ext cx="4754880" cy="1691640"/>
          </a:xfrm>
          <a:prstGeom prst="rect">
            <a:avLst/>
          </a:prstGeom>
          <a:noFill/>
          <a:ln/>
        </p:spPr>
        <p:txBody>
          <a:bodyPr wrap="square" rtlCol="0" anchor="ctr"/>
          <a:lstStyle/>
          <a:p>
            <a:pPr indent="0" marL="0">
              <a:buNone/>
            </a:pPr>
            <a:r>
              <a:rPr lang="en-US" sz="1000" dirty="0">
                <a:solidFill>
                  <a:srgbClr val="BBCCEE"/>
                </a:solidFill>
                <a:latin typeface="Calibri" pitchFamily="34" charset="0"/>
                <a:ea typeface="Calibri" pitchFamily="34" charset="-122"/>
                <a:cs typeface="Calibri" pitchFamily="34" charset="-120"/>
              </a:rPr>
              <a:t>This collaboration is not merely academic exchange. Maier's Active Inference concepts + Velsanet's structural implementation = the philosophical and structural foundation of AI-Native networks — recorded as ITU international standards.</a:t>
            </a:r>
            <a:endParaRPr lang="en-US" sz="1000" dirty="0"/>
          </a:p>
        </p:txBody>
      </p:sp>
      <p:sp>
        <p:nvSpPr>
          <p:cNvPr id="24" name="Text 22"/>
          <p:cNvSpPr/>
          <p:nvPr/>
        </p:nvSpPr>
        <p:spPr>
          <a:xfrm>
            <a:off x="457200" y="6309360"/>
            <a:ext cx="11247120" cy="411480"/>
          </a:xfrm>
          <a:prstGeom prst="rect">
            <a:avLst/>
          </a:prstGeom>
          <a:noFill/>
          <a:ln/>
        </p:spPr>
        <p:txBody>
          <a:bodyPr wrap="square" rtlCol="0" anchor="ctr"/>
          <a:lstStyle/>
          <a:p>
            <a:pPr algn="ctr" indent="0" marL="0">
              <a:buNone/>
            </a:pPr>
            <a:r>
              <a:rPr lang="en-US" sz="1300" i="1" dirty="0">
                <a:solidFill>
                  <a:srgbClr val="7AAFD4"/>
                </a:solidFill>
                <a:latin typeface="Calibri" pitchFamily="34" charset="0"/>
                <a:ea typeface="Calibri" pitchFamily="34" charset="-122"/>
                <a:cs typeface="Calibri" pitchFamily="34" charset="-120"/>
              </a:rPr>
              <a:t>"Maier explores the conceptual universe — Velsanet builds its architecture"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2026-04-09T23:23:31Z</dcterms:created>
  <dcterms:modified xsi:type="dcterms:W3CDTF">2026-04-09T23:23:31Z</dcterms:modified>
</cp:coreProperties>
</file>