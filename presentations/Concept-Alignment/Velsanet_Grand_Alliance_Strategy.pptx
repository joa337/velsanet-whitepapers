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3" autoAdjust="0"/>
    <p:restoredTop sz="94610"/>
  </p:normalViewPr>
  <p:slideViewPr>
    <p:cSldViewPr snapToGrid="0" snapToObjects="1">
      <p:cViewPr>
        <p:scale>
          <a:sx n="119" d="100"/>
          <a:sy n="119" d="100"/>
        </p:scale>
        <p:origin x="102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2658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A153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64008" cy="45720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2296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벨사넷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그랜드 얼라이언스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B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 Grand Alliance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6G AI-Native 표준화를 위한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구성 및 실행 전략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7315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구성원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7040880" cy="786384"/>
          </a:xfrm>
          <a:prstGeom prst="rect">
            <a:avLst/>
          </a:prstGeom>
          <a:solidFill>
            <a:srgbClr val="10204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43000"/>
            <a:ext cx="54864" cy="78638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070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🏗  송창호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54533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BB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 구조 설계자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2029968"/>
            <a:ext cx="7040880" cy="786384"/>
          </a:xfrm>
          <a:prstGeom prst="rect">
            <a:avLst/>
          </a:prstGeom>
          <a:solidFill>
            <a:srgbClr val="10204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2029968"/>
            <a:ext cx="54864" cy="786384"/>
          </a:xfrm>
          <a:prstGeom prst="rect">
            <a:avLst/>
          </a:prstGeom>
          <a:solidFill>
            <a:srgbClr val="0B7A8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09397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 Martin Maier (INRS)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43230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BB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개념·철학 제공자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916936"/>
            <a:ext cx="7040880" cy="786384"/>
          </a:xfrm>
          <a:prstGeom prst="rect">
            <a:avLst/>
          </a:prstGeom>
          <a:solidFill>
            <a:srgbClr val="10204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916936"/>
            <a:ext cx="54864" cy="786384"/>
          </a:xfrm>
          <a:prstGeom prst="rect">
            <a:avLst/>
          </a:prstGeom>
          <a:solidFill>
            <a:srgbClr val="1A5A8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98094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 이규명 교수 (리버풀 존 무어스 / FG-AINN 부의장)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31927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BB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표준화 및 학술 증명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3803904"/>
            <a:ext cx="7040880" cy="786384"/>
          </a:xfrm>
          <a:prstGeom prst="rect">
            <a:avLst/>
          </a:prstGeom>
          <a:solidFill>
            <a:srgbClr val="10204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3803904"/>
            <a:ext cx="54864" cy="786384"/>
          </a:xfrm>
          <a:prstGeom prst="rect">
            <a:avLst/>
          </a:prstGeom>
          <a:solidFill>
            <a:srgbClr val="1A6E3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86791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⚙️  </a:t>
            </a: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ETRI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42062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BB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구현·실증 엔진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4690872"/>
            <a:ext cx="7040880" cy="786384"/>
          </a:xfrm>
          <a:prstGeom prst="rect">
            <a:avLst/>
          </a:prstGeom>
          <a:solidFill>
            <a:srgbClr val="10204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4690872"/>
            <a:ext cx="54864" cy="786384"/>
          </a:xfrm>
          <a:prstGeom prst="rect">
            <a:avLst/>
          </a:prstGeom>
          <a:solidFill>
            <a:srgbClr val="5A1A7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47548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 이민아 의장 (TTA/TSAG)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509320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BB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거버넌스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5577840"/>
            <a:ext cx="7040880" cy="786384"/>
          </a:xfrm>
          <a:prstGeom prst="rect">
            <a:avLst/>
          </a:prstGeom>
          <a:solidFill>
            <a:srgbClr val="10204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5577840"/>
            <a:ext cx="54864" cy="786384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56418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 강신각 부의장 (ETRI/FG-EAI)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598017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BB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 현장 지휘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626364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6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Velsanet Architecture Group  |  2026  |  ITU-T FG-AINN / FG-EAI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지금인가 — 패스트 팔로워에서 표준 설계자로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274320" y="713232"/>
            <a:ext cx="5669280" cy="347472"/>
          </a:xfrm>
          <a:prstGeom prst="rect">
            <a:avLst/>
          </a:prstGeom>
          <a:solidFill>
            <a:srgbClr val="5A301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132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한국의 ITU 활동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60704"/>
            <a:ext cx="5669280" cy="3840480"/>
          </a:xfrm>
          <a:prstGeom prst="rect">
            <a:avLst/>
          </a:prstGeom>
          <a:solidFill>
            <a:srgbClr val="FDF5E6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5214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0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 정식 SG 기고 중심 — 이미 확정된 표준에 이름 올리기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8366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0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 RAA 활동 — 기존 프레임 안에서 움직이기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1518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0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 FG 단계 방치 — 앵커 선점 기회 놓침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4670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0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 패스트 팔로워: 남이 만든 표준 빠르게 구현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07822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30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 TTA 간사: 절차와 형식 관리에 집중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713232"/>
            <a:ext cx="5669280" cy="347472"/>
          </a:xfrm>
          <a:prstGeom prst="rect">
            <a:avLst/>
          </a:prstGeom>
          <a:solidFill>
            <a:srgbClr val="1A4E20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7132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벨사넷 그랜드 얼라이언스의 접근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60704"/>
            <a:ext cx="5669280" cy="384048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15214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4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FG 단계 앵커 선점 — 표준의 출발점 정의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188366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4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개념 단계부터 참여 — '왜 필요한가'를 먼저 기술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61518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4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FG→TSAG→SG 연계 전략 — 세 단계 통합 운영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334670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4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퍼스트 무버: 원천 구조를 제안하고 철학을 입히는 설계자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407822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4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글로벌 드림팀 구성으로 거부 불가능한 대세 형성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5074920"/>
            <a:ext cx="11612880" cy="100584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5120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541324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ITU FG-AINN/EAI에 이미 기고서가 등록된 지금 이 순간이 — 한국이 '표준을 따르는 나라'에서 '표준을 만드는 나라'로 전환하는 역사적 전환점입니다. 판은 이미 깔려 있습니다.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6492240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FG 단계 앵커 선점 → TSAG 전략 조율 → SG 정식 표준화 — 세 단계 연계가 핵심</a:t>
            </a:r>
            <a:endParaRPr lang="en-US" sz="9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벨사넷 그랜드 얼라이언스 — 6인의 역할 구성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709160" y="2651760"/>
            <a:ext cx="2743200" cy="1280160"/>
          </a:xfrm>
          <a:prstGeom prst="ellipse">
            <a:avLst/>
          </a:prstGeom>
          <a:solidFill>
            <a:srgbClr val="D4A01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709160" y="2724912"/>
            <a:ext cx="274320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벨사넷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(원천 구조)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2743200" cy="1417320"/>
          </a:xfrm>
          <a:prstGeom prst="rect">
            <a:avLst/>
          </a:prstGeom>
          <a:solidFill>
            <a:srgbClr val="D4A01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777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송창호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30759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 구조 설계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로드맵 지휘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606040"/>
            <a:ext cx="2743200" cy="1417320"/>
          </a:xfrm>
          <a:prstGeom prst="rect">
            <a:avLst/>
          </a:prstGeom>
          <a:solidFill>
            <a:srgbClr val="1A5A8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697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이규명 교수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리버풀 존 무어스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322783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표준화 언어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FG-AINN 부의장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4526280"/>
            <a:ext cx="2743200" cy="1417320"/>
          </a:xfrm>
          <a:prstGeom prst="rect">
            <a:avLst/>
          </a:prstGeom>
          <a:solidFill>
            <a:srgbClr val="1A6E3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4617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ETRI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한국전자통신연구원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" y="51480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물리적 구현·실증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예산 확보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0" y="685800"/>
            <a:ext cx="2743200" cy="1417320"/>
          </a:xfrm>
          <a:prstGeom prst="rect">
            <a:avLst/>
          </a:prstGeom>
          <a:solidFill>
            <a:srgbClr val="0B7A8C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35440" y="777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Martin Maier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INRS 캐나다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235440" y="130759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개념·철학 제공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학술적 정당성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0" y="2606040"/>
            <a:ext cx="2743200" cy="1417320"/>
          </a:xfrm>
          <a:prstGeom prst="rect">
            <a:avLst/>
          </a:prstGeom>
          <a:solidFill>
            <a:srgbClr val="5A1A7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35440" y="2697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이민아 의장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TTA/ITU-T TSAG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35440" y="322783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거버넌스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전략 관리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0" y="4526280"/>
            <a:ext cx="2743200" cy="1417320"/>
          </a:xfrm>
          <a:prstGeom prst="rect">
            <a:avLst/>
          </a:prstGeom>
          <a:solidFill>
            <a:srgbClr val="8B1A1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35440" y="4617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강신각 부의장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ETRI/FG-EAI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235440" y="51480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 실무 실행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전략 지휘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17520" y="1188720"/>
            <a:ext cx="1915427" cy="1737360"/>
          </a:xfrm>
          <a:prstGeom prst="line">
            <a:avLst/>
          </a:prstGeom>
          <a:noFill/>
          <a:ln w="19050">
            <a:solidFill>
              <a:srgbClr val="3A5A8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017520" y="3246120"/>
            <a:ext cx="1691640" cy="0"/>
          </a:xfrm>
          <a:prstGeom prst="line">
            <a:avLst/>
          </a:prstGeom>
          <a:noFill/>
          <a:ln w="19050">
            <a:solidFill>
              <a:srgbClr val="3A5A8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 flipV="1">
            <a:off x="3017520" y="3641558"/>
            <a:ext cx="1915427" cy="1204762"/>
          </a:xfrm>
          <a:prstGeom prst="line">
            <a:avLst/>
          </a:prstGeom>
          <a:noFill/>
          <a:ln w="19050">
            <a:solidFill>
              <a:srgbClr val="3A5A8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 flipV="1">
            <a:off x="7137133" y="1411701"/>
            <a:ext cx="2006865" cy="1468655"/>
          </a:xfrm>
          <a:prstGeom prst="line">
            <a:avLst/>
          </a:prstGeom>
          <a:noFill/>
          <a:ln w="19050">
            <a:solidFill>
              <a:srgbClr val="3A5A8A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7452360" y="3291840"/>
            <a:ext cx="1691640" cy="0"/>
          </a:xfrm>
          <a:prstGeom prst="line">
            <a:avLst/>
          </a:prstGeom>
          <a:noFill/>
          <a:ln w="19050">
            <a:solidFill>
              <a:srgbClr val="3A5A8A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228572" y="3697705"/>
            <a:ext cx="1915427" cy="1148615"/>
          </a:xfrm>
          <a:prstGeom prst="line">
            <a:avLst/>
          </a:prstGeom>
          <a:noFill/>
          <a:ln w="19050">
            <a:solidFill>
              <a:srgbClr val="3A5A8A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274320" y="6217920"/>
            <a:ext cx="11612880" cy="411480"/>
          </a:xfrm>
          <a:prstGeom prst="rect">
            <a:avLst/>
          </a:prstGeom>
          <a:solidFill>
            <a:srgbClr val="0A1830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623620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"나는 구조를 줄 테니 — 한국(ETRI)은 몸체를 만들고, 캐나다(INRS)는 지능을 넣어라. 의장단은 이를 세계의 법으로 만들어라"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6인 역할 상세 — 각자가 담당하는 것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82880" y="685800"/>
            <a:ext cx="1892808" cy="34747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68580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송창호  (아키텍트)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1033272"/>
            <a:ext cx="1892808" cy="5212080"/>
          </a:xfrm>
          <a:prstGeom prst="rect">
            <a:avLst/>
          </a:prstGeom>
          <a:solidFill>
            <a:srgbClr val="FFFBF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1709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역할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 구조(Structure) 설계 및 전체 로드맵 지휘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1709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 행동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2267712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벨사넷 23개 백서 — 아키텍처 청사진 제공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2926080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운영 규정 제정 — 연구소의 '헌법' 작성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3584448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전략적 방향 결정 — 어디로 갈 것인가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5715000"/>
            <a:ext cx="1892808" cy="5303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" y="5733288"/>
            <a:ext cx="17465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"모든 조각이 맞춰지는 방향을 아는 사람은 한 명이어야 한다"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57984" y="685800"/>
            <a:ext cx="1892808" cy="347472"/>
          </a:xfrm>
          <a:prstGeom prst="rect">
            <a:avLst/>
          </a:prstGeom>
          <a:solidFill>
            <a:srgbClr val="0B7A8C"/>
          </a:solidFill>
          <a:ln/>
        </p:spPr>
      </p:sp>
      <p:sp>
        <p:nvSpPr>
          <p:cNvPr id="15" name="Text 13"/>
          <p:cNvSpPr/>
          <p:nvPr/>
        </p:nvSpPr>
        <p:spPr>
          <a:xfrm>
            <a:off x="2203704" y="68580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Martin Maier  (INRS)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57984" y="1033272"/>
            <a:ext cx="1892808" cy="5212080"/>
          </a:xfrm>
          <a:prstGeom prst="rect">
            <a:avLst/>
          </a:prstGeom>
          <a:solidFill>
            <a:srgbClr val="F0FAFD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49424" y="1097280"/>
            <a:ext cx="1709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역할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49424" y="1325880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과학적 개념 및 철학적 당위성 제공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49424" y="2011680"/>
            <a:ext cx="1709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 행동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49424" y="2267712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Active Inference/FEP — 학술적 이론 기반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49424" y="2926080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국제 학계 신뢰도 — Top 0.05% 연구자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49424" y="3584448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INRS 연구 인력 — 인지 알고리즘 최적화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57984" y="5715000"/>
            <a:ext cx="1892808" cy="530352"/>
          </a:xfrm>
          <a:prstGeom prst="rect">
            <a:avLst/>
          </a:prstGeom>
          <a:solidFill>
            <a:srgbClr val="0B7A8C"/>
          </a:solidFill>
          <a:ln/>
        </p:spPr>
      </p:sp>
      <p:sp>
        <p:nvSpPr>
          <p:cNvPr id="24" name="Text 22"/>
          <p:cNvSpPr/>
          <p:nvPr/>
        </p:nvSpPr>
        <p:spPr>
          <a:xfrm>
            <a:off x="2231136" y="5733288"/>
            <a:ext cx="17465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"왜 이 구조가 맞는가를 세계에 설명하는 사람"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33088" y="685800"/>
            <a:ext cx="1892808" cy="347472"/>
          </a:xfrm>
          <a:prstGeom prst="rect">
            <a:avLst/>
          </a:prstGeom>
          <a:solidFill>
            <a:srgbClr val="1A5A8A"/>
          </a:solidFill>
          <a:ln/>
        </p:spPr>
      </p:sp>
      <p:sp>
        <p:nvSpPr>
          <p:cNvPr id="26" name="Text 24"/>
          <p:cNvSpPr/>
          <p:nvPr/>
        </p:nvSpPr>
        <p:spPr>
          <a:xfrm>
            <a:off x="4178808" y="68580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이규명 교수 </a:t>
            </a:r>
            <a:endParaRPr lang="en-US" sz="1000" b="1" dirty="0" smtClean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10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리버풀 존 </a:t>
            </a:r>
            <a:r>
              <a:rPr lang="en-US" sz="10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무어스/FG-AINN)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33088" y="1033272"/>
            <a:ext cx="1892808" cy="5212080"/>
          </a:xfrm>
          <a:prstGeom prst="rect">
            <a:avLst/>
          </a:prstGeom>
          <a:solidFill>
            <a:srgbClr val="F0F4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224528" y="1097280"/>
            <a:ext cx="1709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역할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24528" y="1325880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표준화 언어 번역 및 학술적 증명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24528" y="2011680"/>
            <a:ext cx="1709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 행동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24528" y="2267712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FG-AINN 부의장 — 표준화 기술 문법 담당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24528" y="2926080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이론과 구조를 ITU 언어로 번역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224528" y="3584448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국제 회의에서 기술적 타당성 부여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33088" y="5715000"/>
            <a:ext cx="1892808" cy="530352"/>
          </a:xfrm>
          <a:prstGeom prst="rect">
            <a:avLst/>
          </a:prstGeom>
          <a:solidFill>
            <a:srgbClr val="1A5A8A"/>
          </a:solidFill>
          <a:ln/>
        </p:spPr>
      </p:sp>
      <p:sp>
        <p:nvSpPr>
          <p:cNvPr id="35" name="Text 33"/>
          <p:cNvSpPr/>
          <p:nvPr/>
        </p:nvSpPr>
        <p:spPr>
          <a:xfrm>
            <a:off x="4206240" y="5733288"/>
            <a:ext cx="17465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"개념과 구조를 표준화 언어로 바꾸는 사람"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08192" y="685800"/>
            <a:ext cx="1892808" cy="347472"/>
          </a:xfrm>
          <a:prstGeom prst="rect">
            <a:avLst/>
          </a:prstGeom>
          <a:solidFill>
            <a:srgbClr val="1A6E3A"/>
          </a:solidFill>
          <a:ln/>
        </p:spPr>
      </p:sp>
      <p:sp>
        <p:nvSpPr>
          <p:cNvPr id="37" name="Text 35"/>
          <p:cNvSpPr/>
          <p:nvPr/>
        </p:nvSpPr>
        <p:spPr>
          <a:xfrm>
            <a:off x="6153912" y="68580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ETRI  (한국전자통신연구원)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08192" y="1033272"/>
            <a:ext cx="1892808" cy="521208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99632" y="1097280"/>
            <a:ext cx="1709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6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역할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99632" y="1325880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물리적 구현, 실증 테스트베드, 국가 예산 확보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99632" y="2011680"/>
            <a:ext cx="1709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6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 행동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99632" y="2267712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벨사넷 연구소 설립 주역 — 국가 인프라화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99632" y="2926080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과기부 예산 신청 — 6G 원천기술 국책 과제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99632" y="3584448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하드웨어 구현 — 광코어, 다면체 노드 실증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08192" y="5715000"/>
            <a:ext cx="1892808" cy="530352"/>
          </a:xfrm>
          <a:prstGeom prst="rect">
            <a:avLst/>
          </a:prstGeom>
          <a:solidFill>
            <a:srgbClr val="1A6E3A"/>
          </a:solidFill>
          <a:ln/>
        </p:spPr>
      </p:sp>
      <p:sp>
        <p:nvSpPr>
          <p:cNvPr id="46" name="Text 44"/>
          <p:cNvSpPr/>
          <p:nvPr/>
        </p:nvSpPr>
        <p:spPr>
          <a:xfrm>
            <a:off x="6181344" y="5733288"/>
            <a:ext cx="17465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"탄생의 공을 얻는 대신 실무의 짐을 짊어진다"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083296" y="685800"/>
            <a:ext cx="1892808" cy="347472"/>
          </a:xfrm>
          <a:prstGeom prst="rect">
            <a:avLst/>
          </a:prstGeom>
          <a:solidFill>
            <a:srgbClr val="5A1A7A"/>
          </a:solidFill>
          <a:ln/>
        </p:spPr>
      </p:sp>
      <p:sp>
        <p:nvSpPr>
          <p:cNvPr id="48" name="Text 46"/>
          <p:cNvSpPr/>
          <p:nvPr/>
        </p:nvSpPr>
        <p:spPr>
          <a:xfrm>
            <a:off x="8129016" y="68580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이민아 의장  </a:t>
            </a:r>
            <a:endParaRPr lang="en-US" sz="1000" b="1" dirty="0" smtClean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10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TTA/TSAG WP1)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083296" y="1033272"/>
            <a:ext cx="1892808" cy="5212080"/>
          </a:xfrm>
          <a:prstGeom prst="rect">
            <a:avLst/>
          </a:prstGeom>
          <a:solidFill>
            <a:srgbClr val="FDF0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174736" y="1097280"/>
            <a:ext cx="1709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1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역할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174736" y="1325880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거버넌스 및 상위 전략 관리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174736" y="2011680"/>
            <a:ext cx="1709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1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 행동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174736" y="2267712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TSAG WP1 — ITU 표준화 전략 전반 조율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174736" y="2926080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FG→TSAG→SG 연계 속도 조율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174736" y="3584448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과기부·ETRI와 국제 표준 기구 사이의 가교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083296" y="5715000"/>
            <a:ext cx="1892808" cy="530352"/>
          </a:xfrm>
          <a:prstGeom prst="rect">
            <a:avLst/>
          </a:prstGeom>
          <a:solidFill>
            <a:srgbClr val="5A1A7A"/>
          </a:solidFill>
          <a:ln/>
        </p:spPr>
      </p:sp>
      <p:sp>
        <p:nvSpPr>
          <p:cNvPr id="57" name="Text 55"/>
          <p:cNvSpPr/>
          <p:nvPr/>
        </p:nvSpPr>
        <p:spPr>
          <a:xfrm>
            <a:off x="8156448" y="5733288"/>
            <a:ext cx="17465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"FG 최종 리포트 채택이 본인의 TSAG 실적이 된다"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0058400" y="685800"/>
            <a:ext cx="1892808" cy="34747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59" name="Text 57"/>
          <p:cNvSpPr/>
          <p:nvPr/>
        </p:nvSpPr>
        <p:spPr>
          <a:xfrm>
            <a:off x="10104120" y="68580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강신각 부의장  (ETRI/FG-EAI)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0058400" y="1033272"/>
            <a:ext cx="1892808" cy="5212080"/>
          </a:xfrm>
          <a:prstGeom prst="rect">
            <a:avLst/>
          </a:prstGeom>
          <a:solidFill>
            <a:srgbClr val="FFF0F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10149840" y="1097280"/>
            <a:ext cx="1709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역할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0149840" y="1325880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 실무 실행 및 현장 전략 지휘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0149840" y="2011680"/>
            <a:ext cx="1709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 행동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10149840" y="2267712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FG-EAI 부의장 — 현장 아젠다 등록 실무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149840" y="2926080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기술-행정 가교 — 표준 문법과 절차 최적화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0149840" y="3584448"/>
            <a:ext cx="170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3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한국 대표단 구심점 — 기술적 권위 부여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0058400" y="5715000"/>
            <a:ext cx="1892808" cy="53035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68" name="Text 66"/>
          <p:cNvSpPr/>
          <p:nvPr/>
        </p:nvSpPr>
        <p:spPr>
          <a:xfrm>
            <a:off x="10131552" y="5733288"/>
            <a:ext cx="17465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"혁신 구조가 충돌 없이 표준으로 안착하도록 조율"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74320" y="6492240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각자가 담당하는 것이 명확할 때 — 전체가 하나의 방향으로 움직인다</a:t>
            </a:r>
            <a:endParaRPr lang="en-US" sz="9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ETRI 전략 — '탄생의 공'을 넘기는 이유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13232"/>
            <a:ext cx="5486400" cy="347472"/>
          </a:xfrm>
          <a:prstGeom prst="rect">
            <a:avLst/>
          </a:prstGeom>
          <a:solidFill>
            <a:srgbClr val="1A6E3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132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⚙️  ETRI가 거부할 수 없는 이유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5486400" cy="914400"/>
          </a:xfrm>
          <a:prstGeom prst="rect">
            <a:avLst/>
          </a:prstGeom>
          <a:solidFill>
            <a:srgbClr val="0D2A1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54864" cy="914400"/>
          </a:xfrm>
          <a:prstGeom prst="rect">
            <a:avLst/>
          </a:prstGeom>
          <a:solidFill>
            <a:srgbClr val="1A6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0700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명분 확보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904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EE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ITU-T FG-AINN/EAI 아젠다 등록 → 국가적 '글로벌 표준 선점 과제'로 재정의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5486400" cy="914400"/>
          </a:xfrm>
          <a:prstGeom prst="rect">
            <a:avLst/>
          </a:prstGeom>
          <a:solidFill>
            <a:srgbClr val="0D2A1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48840"/>
            <a:ext cx="54864" cy="914400"/>
          </a:xfrm>
          <a:prstGeom prst="rect">
            <a:avLst/>
          </a:prstGeom>
          <a:solidFill>
            <a:srgbClr val="1A6E3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128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보상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963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EE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벨사넷 연구소 설립 주역 타이틀 + 대규모 국책 예산 수주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154680"/>
            <a:ext cx="5486400" cy="914400"/>
          </a:xfrm>
          <a:prstGeom prst="rect">
            <a:avLst/>
          </a:prstGeom>
          <a:solidFill>
            <a:srgbClr val="0D2A1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154680"/>
            <a:ext cx="54864" cy="914400"/>
          </a:xfrm>
          <a:prstGeom prst="rect">
            <a:avLst/>
          </a:prstGeom>
          <a:solidFill>
            <a:srgbClr val="1A6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1868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없음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021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EE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검증된 구조(23개 백서, ITU 기고, 마틴 협력) — 연구 실패 리스크 최소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160520"/>
            <a:ext cx="5486400" cy="914400"/>
          </a:xfrm>
          <a:prstGeom prst="rect">
            <a:avLst/>
          </a:prstGeom>
          <a:solidFill>
            <a:srgbClr val="0D2A1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4160520"/>
            <a:ext cx="54864" cy="914400"/>
          </a:xfrm>
          <a:prstGeom prst="rect">
            <a:avLst/>
          </a:prstGeom>
          <a:solidFill>
            <a:srgbClr val="1A6E3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24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과기부 </a:t>
            </a:r>
            <a:r>
              <a:rPr lang="ko-KR" altLang="en-US" sz="1100" b="1" dirty="0" smtClean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설득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5079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EE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이민아 의장 + </a:t>
            </a:r>
            <a:r>
              <a:rPr lang="ko-KR" altLang="en-US" sz="1000" dirty="0" err="1" smtClean="0">
                <a:solidFill>
                  <a:srgbClr val="BBEE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이규명</a:t>
            </a:r>
            <a:r>
              <a:rPr lang="en-US" altLang="ko-KR" sz="1000" dirty="0" smtClean="0">
                <a:solidFill>
                  <a:srgbClr val="BBEE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en-US" sz="1000" dirty="0" smtClean="0">
                <a:solidFill>
                  <a:srgbClr val="BBEE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강신각 </a:t>
            </a:r>
            <a:r>
              <a:rPr lang="en-US" sz="1000" dirty="0">
                <a:solidFill>
                  <a:srgbClr val="BBEE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부의장의 라인에서 위에서 내려오는 방향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5166360"/>
            <a:ext cx="5486400" cy="914400"/>
          </a:xfrm>
          <a:prstGeom prst="rect">
            <a:avLst/>
          </a:prstGeom>
          <a:solidFill>
            <a:srgbClr val="0D2A1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5166360"/>
            <a:ext cx="54864" cy="914400"/>
          </a:xfrm>
          <a:prstGeom prst="rect">
            <a:avLst/>
          </a:prstGeom>
          <a:solidFill>
            <a:srgbClr val="1A6E3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52303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우위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551383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EE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INRS와의 국제 공동 연구 → 한국 대표 연구기관으로서 독보적 포지션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713232"/>
            <a:ext cx="5760720" cy="347472"/>
          </a:xfrm>
          <a:prstGeom prst="rect">
            <a:avLst/>
          </a:prstGeom>
          <a:solidFill>
            <a:srgbClr val="5A1A7A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71323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🎓  MIT식 개방형 연구소 모델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1143000"/>
            <a:ext cx="5760720" cy="914400"/>
          </a:xfrm>
          <a:prstGeom prst="rect">
            <a:avLst/>
          </a:prstGeom>
          <a:solidFill>
            <a:srgbClr val="1A0A2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143000"/>
            <a:ext cx="54864" cy="914400"/>
          </a:xfrm>
          <a:prstGeom prst="rect">
            <a:avLst/>
          </a:prstGeom>
          <a:solidFill>
            <a:srgbClr val="5A1A7A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120700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주체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149047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ETRI — 행정, 예산, 시설 관리 </a:t>
            </a:r>
            <a:r>
              <a:rPr lang="en-US" sz="1000" dirty="0" smtClean="0">
                <a:solidFill>
                  <a:srgbClr val="DDD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(MIT </a:t>
            </a:r>
            <a:r>
              <a:rPr lang="ko-KR" altLang="en-US" sz="1000" dirty="0" smtClean="0">
                <a:solidFill>
                  <a:srgbClr val="DDD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운영방식</a:t>
            </a:r>
            <a:r>
              <a:rPr lang="en-US" altLang="ko-KR" sz="1000" dirty="0" smtClean="0">
                <a:solidFill>
                  <a:srgbClr val="DDD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2148840"/>
            <a:ext cx="5760720" cy="914400"/>
          </a:xfrm>
          <a:prstGeom prst="rect">
            <a:avLst/>
          </a:prstGeom>
          <a:solidFill>
            <a:srgbClr val="1A0A2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148840"/>
            <a:ext cx="54864" cy="914400"/>
          </a:xfrm>
          <a:prstGeom prst="rect">
            <a:avLst/>
          </a:prstGeom>
          <a:solidFill>
            <a:srgbClr val="5A1A7A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221284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철학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249631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송창호 아키텍트의 규정 — 개방, 투명성, 공개 </a:t>
            </a:r>
            <a:r>
              <a:rPr lang="en-US" sz="1000" dirty="0" smtClean="0">
                <a:solidFill>
                  <a:srgbClr val="DDD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원칙(</a:t>
            </a:r>
            <a:r>
              <a:rPr lang="ko-KR" altLang="en-US" sz="1000" dirty="0" smtClean="0">
                <a:solidFill>
                  <a:srgbClr val="DDD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민주화 추구 및 </a:t>
            </a:r>
            <a:r>
              <a:rPr lang="en-US" altLang="ko-KR" sz="1000" dirty="0" smtClean="0">
                <a:solidFill>
                  <a:srgbClr val="DDD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IVGF </a:t>
            </a:r>
            <a:r>
              <a:rPr lang="ko-KR" altLang="en-US" sz="1000" dirty="0" smtClean="0">
                <a:solidFill>
                  <a:srgbClr val="DDD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설립</a:t>
            </a:r>
            <a:r>
              <a:rPr lang="en-US" altLang="ko-KR" sz="1000" dirty="0" smtClean="0">
                <a:solidFill>
                  <a:srgbClr val="DDD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3154680"/>
            <a:ext cx="5760720" cy="914400"/>
          </a:xfrm>
          <a:prstGeom prst="rect">
            <a:avLst/>
          </a:prstGeom>
          <a:solidFill>
            <a:srgbClr val="1A0A2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3154680"/>
            <a:ext cx="54864" cy="914400"/>
          </a:xfrm>
          <a:prstGeom prst="rect">
            <a:avLst/>
          </a:prstGeom>
          <a:solidFill>
            <a:srgbClr val="5A1A7A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321868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방식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350215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정부·기업·글로벌 연구소 컨소시엄 — 누구나 참여 </a:t>
            </a:r>
            <a:r>
              <a:rPr lang="en-US" sz="1000" dirty="0" smtClean="0">
                <a:solidFill>
                  <a:srgbClr val="DDD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4160520"/>
            <a:ext cx="5760720" cy="914400"/>
          </a:xfrm>
          <a:prstGeom prst="rect">
            <a:avLst/>
          </a:prstGeom>
          <a:solidFill>
            <a:srgbClr val="1A0A2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4160520"/>
            <a:ext cx="54864" cy="914400"/>
          </a:xfrm>
          <a:prstGeom prst="rect">
            <a:avLst/>
          </a:prstGeom>
          <a:solidFill>
            <a:srgbClr val="5A1A7A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422452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자산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09360" y="450799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벨사넷 원천 구조 및 기술 로드맵 — 공개를 통한 생태계 </a:t>
            </a:r>
            <a:r>
              <a:rPr lang="en-US" sz="1000" dirty="0" smtClean="0">
                <a:solidFill>
                  <a:srgbClr val="DDD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(</a:t>
            </a:r>
            <a:r>
              <a:rPr lang="ko-KR" altLang="en-US" sz="1000" dirty="0" smtClean="0">
                <a:solidFill>
                  <a:srgbClr val="DDD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참여를 통한 기여금 받음</a:t>
            </a:r>
            <a:r>
              <a:rPr lang="en-US" altLang="ko-KR" sz="1000" dirty="0" smtClean="0">
                <a:solidFill>
                  <a:srgbClr val="DDD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sz="1000" dirty="0" smtClean="0">
                <a:solidFill>
                  <a:srgbClr val="DDD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26480" y="5166360"/>
            <a:ext cx="5760720" cy="914400"/>
          </a:xfrm>
          <a:prstGeom prst="rect">
            <a:avLst/>
          </a:prstGeom>
          <a:solidFill>
            <a:srgbClr val="1A0A2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26480" y="5166360"/>
            <a:ext cx="54864" cy="914400"/>
          </a:xfrm>
          <a:prstGeom prst="rect">
            <a:avLst/>
          </a:prstGeom>
          <a:solidFill>
            <a:srgbClr val="5A1A7A"/>
          </a:solidFill>
          <a:ln/>
        </p:spPr>
      </p:sp>
      <p:sp>
        <p:nvSpPr>
          <p:cNvPr id="45" name="Text 43"/>
          <p:cNvSpPr/>
          <p:nvPr/>
        </p:nvSpPr>
        <p:spPr>
          <a:xfrm>
            <a:off x="6309360" y="52303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09360" y="551383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 수익이 아닌 글로벌 기술 표준 허브 — 세계가 배우러 오는 </a:t>
            </a:r>
            <a:r>
              <a:rPr lang="en-US" sz="1000" dirty="0" smtClean="0">
                <a:solidFill>
                  <a:srgbClr val="DDD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곳 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6217920"/>
            <a:ext cx="11612880" cy="411480"/>
          </a:xfrm>
          <a:prstGeom prst="rect">
            <a:avLst/>
          </a:prstGeom>
          <a:solidFill>
            <a:srgbClr val="0A1020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623620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"공을 ETRI에 넘겨 그들이 신나게 뛰게 만들되 — 운동장의 규칙은 내가 정한다"  |  지배하지 않고 지도하는 리더십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실행 체계 — ETRI × INRS × 의장단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389120" y="685800"/>
            <a:ext cx="3383280" cy="1453899"/>
          </a:xfrm>
          <a:prstGeom prst="rect">
            <a:avLst/>
          </a:prstGeom>
          <a:solidFill>
            <a:srgbClr val="0B7A8C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480560" y="777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INRS (캐나다)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480560" y="1216152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지능 엔진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F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Active Inference 모델링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F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고도화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2930652"/>
            <a:ext cx="3383280" cy="1645920"/>
          </a:xfrm>
          <a:prstGeom prst="rect">
            <a:avLst/>
          </a:prstGeom>
          <a:solidFill>
            <a:srgbClr val="1A6E3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291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ETRI (한국)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30752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엔진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F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하드웨어·소프트웨어 구현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F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예산 확보·집행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412480" y="2930652"/>
            <a:ext cx="3383280" cy="1645920"/>
          </a:xfrm>
          <a:prstGeom prst="rect">
            <a:avLst/>
          </a:prstGeom>
          <a:solidFill>
            <a:srgbClr val="5A1A7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03920" y="3291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의장단 (ITU-T)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0" y="3730752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 엔진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F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FG→TSAG→SG 연계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F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표준 확정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2561039"/>
            <a:ext cx="2468880" cy="1280160"/>
          </a:xfrm>
          <a:prstGeom prst="ellipse">
            <a:avLst/>
          </a:prstGeom>
          <a:solidFill>
            <a:srgbClr val="D4A01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633472"/>
            <a:ext cx="246888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벨사넷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 구조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2139699"/>
            <a:ext cx="0" cy="421340"/>
          </a:xfrm>
          <a:prstGeom prst="line">
            <a:avLst/>
          </a:prstGeom>
          <a:noFill/>
          <a:ln w="25400">
            <a:solidFill>
              <a:srgbClr val="88888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 flipV="1">
            <a:off x="3749040" y="3319270"/>
            <a:ext cx="1051560" cy="461773"/>
          </a:xfrm>
          <a:prstGeom prst="line">
            <a:avLst/>
          </a:prstGeom>
          <a:noFill/>
          <a:ln w="25400">
            <a:solidFill>
              <a:srgbClr val="88888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269480" y="3291840"/>
            <a:ext cx="1124712" cy="489204"/>
          </a:xfrm>
          <a:prstGeom prst="line">
            <a:avLst/>
          </a:prstGeom>
          <a:noFill/>
          <a:ln w="25400">
            <a:solidFill>
              <a:srgbClr val="88888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74320" y="4704586"/>
            <a:ext cx="11612880" cy="320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9" name="Shape 17"/>
          <p:cNvSpPr/>
          <p:nvPr/>
        </p:nvSpPr>
        <p:spPr>
          <a:xfrm>
            <a:off x="297180" y="5166360"/>
            <a:ext cx="292608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70332" y="5212080"/>
            <a:ext cx="2779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송창호 (아키텍트)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57550" y="5172135"/>
            <a:ext cx="502920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330702" y="5217855"/>
            <a:ext cx="4882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 구조 설계 + 운영 규정 제정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321040" y="5164114"/>
            <a:ext cx="347472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394192" y="5209834"/>
            <a:ext cx="3328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컨트롤 타워 — 전략 지휘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" y="5500114"/>
            <a:ext cx="2926080" cy="301752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" y="5545834"/>
            <a:ext cx="2779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ETRI (한국)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5500114"/>
            <a:ext cx="5029200" cy="301752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28" name="Text 26"/>
          <p:cNvSpPr/>
          <p:nvPr/>
        </p:nvSpPr>
        <p:spPr>
          <a:xfrm>
            <a:off x="3319272" y="5545834"/>
            <a:ext cx="4882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물리적 구현 + 테스트베드 + 예산 집행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321040" y="5499392"/>
            <a:ext cx="3474720" cy="301752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0" name="Text 28"/>
          <p:cNvSpPr/>
          <p:nvPr/>
        </p:nvSpPr>
        <p:spPr>
          <a:xfrm>
            <a:off x="8394192" y="5545112"/>
            <a:ext cx="3328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엔진 — 몸체 제작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7180" y="5827778"/>
            <a:ext cx="292608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70332" y="5873498"/>
            <a:ext cx="2779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INRS (캐나다)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55264" y="5827778"/>
            <a:ext cx="502920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328416" y="5873498"/>
            <a:ext cx="4882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모델 최적화 + 알고리즘 개발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316468" y="5844940"/>
            <a:ext cx="347472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8389620" y="5890660"/>
            <a:ext cx="3328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 엔진 — 영혼 주입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83464" y="6172200"/>
            <a:ext cx="2926080" cy="301752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8" name="Text 36"/>
          <p:cNvSpPr/>
          <p:nvPr/>
        </p:nvSpPr>
        <p:spPr>
          <a:xfrm>
            <a:off x="356616" y="6217920"/>
            <a:ext cx="2779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의장단 (ITU-T)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46120" y="6181342"/>
            <a:ext cx="5029200" cy="301752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40" name="Text 38"/>
          <p:cNvSpPr/>
          <p:nvPr/>
        </p:nvSpPr>
        <p:spPr>
          <a:xfrm>
            <a:off x="3319272" y="6227062"/>
            <a:ext cx="4882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FG→SG 연계 + 표준 확정 + 정책 지원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311896" y="6188242"/>
            <a:ext cx="3474720" cy="301752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42" name="Text 40"/>
          <p:cNvSpPr/>
          <p:nvPr/>
        </p:nvSpPr>
        <p:spPr>
          <a:xfrm>
            <a:off x="8385048" y="6233962"/>
            <a:ext cx="3328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 엔진 — 법 제정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74320" y="6492240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한-캐나다 국제 공동 연구 → 과기부 예산 규모와 명분이 비교할 수 없을 정도로 커진다</a:t>
            </a:r>
            <a:endParaRPr lang="en-US" sz="9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로드맵 — 5월 회의 이후의 그림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2834640" cy="685800"/>
          </a:xfrm>
          <a:prstGeom prst="rect">
            <a:avLst/>
          </a:prstGeom>
          <a:solidFill>
            <a:srgbClr val="0B7A8C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71323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~ 5월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834640" cy="36576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898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ITU 성과 극대화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2834640" cy="4114800"/>
          </a:xfrm>
          <a:prstGeom prst="rect">
            <a:avLst/>
          </a:prstGeom>
          <a:solidFill>
            <a:srgbClr val="0D1E3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828800"/>
            <a:ext cx="201168" cy="201168"/>
          </a:xfrm>
          <a:prstGeom prst="rect">
            <a:avLst/>
          </a:prstGeom>
          <a:solidFill>
            <a:srgbClr val="0B7A8C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801368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FG-AINN 2건 발표 — 공식 아젠다 등록 확정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2816352"/>
            <a:ext cx="201168" cy="201168"/>
          </a:xfrm>
          <a:prstGeom prst="rect">
            <a:avLst/>
          </a:prstGeom>
          <a:solidFill>
            <a:srgbClr val="0B7A8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788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FG-EAI 기고서 다음 회차 발표 준비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3803904"/>
            <a:ext cx="201168" cy="201168"/>
          </a:xfrm>
          <a:prstGeom prst="rect">
            <a:avLst/>
          </a:prstGeom>
          <a:solidFill>
            <a:srgbClr val="0B7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776472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마틴 한국 방문 — 협력 공식화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4791456"/>
            <a:ext cx="201168" cy="201168"/>
          </a:xfrm>
          <a:prstGeom prst="rect">
            <a:avLst/>
          </a:prstGeom>
          <a:solidFill>
            <a:srgbClr val="0B7A8C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764024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이민아 의장 메일 — TTA/과기부 압력 구축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08960" y="265176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46120" y="685800"/>
            <a:ext cx="2834640" cy="685800"/>
          </a:xfrm>
          <a:prstGeom prst="rect">
            <a:avLst/>
          </a:prstGeom>
          <a:solidFill>
            <a:srgbClr val="1A6E3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37560" y="71323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 ~ 하반기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1371600"/>
            <a:ext cx="2834640" cy="36576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13898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체계 구축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1737360"/>
            <a:ext cx="2834640" cy="4114800"/>
          </a:xfrm>
          <a:prstGeom prst="rect">
            <a:avLst/>
          </a:prstGeom>
          <a:solidFill>
            <a:srgbClr val="0D1E3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55848" y="1828800"/>
            <a:ext cx="201168" cy="201168"/>
          </a:xfrm>
          <a:prstGeom prst="rect">
            <a:avLst/>
          </a:prstGeom>
          <a:solidFill>
            <a:srgbClr val="1A6E3A"/>
          </a:solidFill>
          <a:ln/>
        </p:spPr>
      </p:sp>
      <p:sp>
        <p:nvSpPr>
          <p:cNvPr id="23" name="Text 21"/>
          <p:cNvSpPr/>
          <p:nvPr/>
        </p:nvSpPr>
        <p:spPr>
          <a:xfrm>
            <a:off x="3630168" y="1801368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ITU 성과를 ETRI에 제시 — '거부할 명분 없음' 확인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55848" y="2816352"/>
            <a:ext cx="201168" cy="201168"/>
          </a:xfrm>
          <a:prstGeom prst="rect">
            <a:avLst/>
          </a:prstGeom>
          <a:solidFill>
            <a:srgbClr val="1A6E3A"/>
          </a:solidFill>
          <a:ln/>
        </p:spPr>
      </p:sp>
      <p:sp>
        <p:nvSpPr>
          <p:cNvPr id="25" name="Text 23"/>
          <p:cNvSpPr/>
          <p:nvPr/>
        </p:nvSpPr>
        <p:spPr>
          <a:xfrm>
            <a:off x="3630168" y="2788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강신각 부의장 경유 — ETRI 내부 설득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55848" y="3803904"/>
            <a:ext cx="201168" cy="201168"/>
          </a:xfrm>
          <a:prstGeom prst="rect">
            <a:avLst/>
          </a:prstGeom>
          <a:solidFill>
            <a:srgbClr val="1A6E3A"/>
          </a:solidFill>
          <a:ln/>
        </p:spPr>
      </p:sp>
      <p:sp>
        <p:nvSpPr>
          <p:cNvPr id="27" name="Text 25"/>
          <p:cNvSpPr/>
          <p:nvPr/>
        </p:nvSpPr>
        <p:spPr>
          <a:xfrm>
            <a:off x="3630168" y="3776472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ETRI → 과기부 보고 → 벨사넷 전담 예산 신청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55848" y="4791456"/>
            <a:ext cx="201168" cy="201168"/>
          </a:xfrm>
          <a:prstGeom prst="rect">
            <a:avLst/>
          </a:prstGeom>
          <a:solidFill>
            <a:srgbClr val="1A6E3A"/>
          </a:solidFill>
          <a:ln/>
        </p:spPr>
      </p:sp>
      <p:sp>
        <p:nvSpPr>
          <p:cNvPr id="29" name="Text 27"/>
          <p:cNvSpPr/>
          <p:nvPr/>
        </p:nvSpPr>
        <p:spPr>
          <a:xfrm>
            <a:off x="3630168" y="4764024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벨사넷 특화 연구소 설립 MOU 체결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80760" y="265176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17920" y="685800"/>
            <a:ext cx="2834640" cy="685800"/>
          </a:xfrm>
          <a:prstGeom prst="rect">
            <a:avLst/>
          </a:prstGeom>
          <a:solidFill>
            <a:srgbClr val="5A1A7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09360" y="71323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하반기 ~ 2027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1371600"/>
            <a:ext cx="2834640" cy="36576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13898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얼라이언스 완성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1737360"/>
            <a:ext cx="2834640" cy="4114800"/>
          </a:xfrm>
          <a:prstGeom prst="rect">
            <a:avLst/>
          </a:prstGeom>
          <a:solidFill>
            <a:srgbClr val="0D1E3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27648" y="1828800"/>
            <a:ext cx="201168" cy="201168"/>
          </a:xfrm>
          <a:prstGeom prst="rect">
            <a:avLst/>
          </a:prstGeom>
          <a:solidFill>
            <a:srgbClr val="5A1A7A"/>
          </a:solidFill>
          <a:ln/>
        </p:spPr>
      </p:sp>
      <p:sp>
        <p:nvSpPr>
          <p:cNvPr id="37" name="Text 35"/>
          <p:cNvSpPr/>
          <p:nvPr/>
        </p:nvSpPr>
        <p:spPr>
          <a:xfrm>
            <a:off x="6601968" y="1801368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ETRI + INRS 공동 연구 체계 구축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27648" y="2816352"/>
            <a:ext cx="201168" cy="201168"/>
          </a:xfrm>
          <a:prstGeom prst="rect">
            <a:avLst/>
          </a:prstGeom>
          <a:solidFill>
            <a:srgbClr val="5A1A7A"/>
          </a:solidFill>
          <a:ln/>
        </p:spPr>
      </p:sp>
      <p:sp>
        <p:nvSpPr>
          <p:cNvPr id="39" name="Text 37"/>
          <p:cNvSpPr/>
          <p:nvPr/>
        </p:nvSpPr>
        <p:spPr>
          <a:xfrm>
            <a:off x="6601968" y="2788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MIT식 개방형 연구소 운영 </a:t>
            </a:r>
            <a:r>
              <a:rPr lang="en-US" sz="1000" dirty="0" smtClean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시작(</a:t>
            </a:r>
            <a:r>
              <a:rPr lang="ko-KR" altLang="en-US" sz="1000" dirty="0" err="1" smtClean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새만금개발</a:t>
            </a:r>
            <a:r>
              <a:rPr lang="ko-KR" altLang="en-US" sz="1000" dirty="0" smtClean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지역에 설립 계획</a:t>
            </a:r>
            <a:r>
              <a:rPr lang="en-US" altLang="ko-KR" sz="1000" dirty="0" smtClean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27648" y="3803904"/>
            <a:ext cx="201168" cy="201168"/>
          </a:xfrm>
          <a:prstGeom prst="rect">
            <a:avLst/>
          </a:prstGeom>
          <a:solidFill>
            <a:srgbClr val="5A1A7A"/>
          </a:solidFill>
          <a:ln/>
        </p:spPr>
      </p:sp>
      <p:sp>
        <p:nvSpPr>
          <p:cNvPr id="41" name="Text 39"/>
          <p:cNvSpPr/>
          <p:nvPr/>
        </p:nvSpPr>
        <p:spPr>
          <a:xfrm>
            <a:off x="6601968" y="3776472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FG Final Report — 벨사넷 아키텍처 </a:t>
            </a:r>
            <a:r>
              <a:rPr lang="en-US" sz="1000" dirty="0" smtClean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(</a:t>
            </a:r>
            <a:r>
              <a:rPr lang="ko-KR" altLang="en-US" sz="1000" dirty="0" smtClean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일정에 따라</a:t>
            </a:r>
            <a:r>
              <a:rPr lang="en-US" altLang="ko-KR" sz="1000" dirty="0" smtClean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27648" y="4791456"/>
            <a:ext cx="201168" cy="201168"/>
          </a:xfrm>
          <a:prstGeom prst="rect">
            <a:avLst/>
          </a:prstGeom>
          <a:solidFill>
            <a:srgbClr val="5A1A7A"/>
          </a:solidFill>
          <a:ln/>
        </p:spPr>
      </p:sp>
      <p:sp>
        <p:nvSpPr>
          <p:cNvPr id="43" name="Text 41"/>
          <p:cNvSpPr/>
          <p:nvPr/>
        </p:nvSpPr>
        <p:spPr>
          <a:xfrm>
            <a:off x="6601968" y="4764024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SG 정식 Work Item 제안 — 표준화 본격화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052560" y="265176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9189720" y="685800"/>
            <a:ext cx="2834640" cy="685800"/>
          </a:xfrm>
          <a:prstGeom prst="rect">
            <a:avLst/>
          </a:prstGeom>
          <a:solidFill>
            <a:srgbClr val="D4A01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281160" y="71323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~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189720" y="1371600"/>
            <a:ext cx="2834640" cy="36576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48" name="Text 46"/>
          <p:cNvSpPr/>
          <p:nvPr/>
        </p:nvSpPr>
        <p:spPr>
          <a:xfrm>
            <a:off x="9281160" y="13898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표준 확정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189720" y="1737360"/>
            <a:ext cx="2834640" cy="4114800"/>
          </a:xfrm>
          <a:prstGeom prst="rect">
            <a:avLst/>
          </a:prstGeom>
          <a:solidFill>
            <a:srgbClr val="0D1E3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299448" y="1828800"/>
            <a:ext cx="201168" cy="20116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1" name="Text 49"/>
          <p:cNvSpPr/>
          <p:nvPr/>
        </p:nvSpPr>
        <p:spPr>
          <a:xfrm>
            <a:off x="9573768" y="1801368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ITU-T SG 정식 표준 채택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299448" y="2816352"/>
            <a:ext cx="201168" cy="20116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3" name="Text 51"/>
          <p:cNvSpPr/>
          <p:nvPr/>
        </p:nvSpPr>
        <p:spPr>
          <a:xfrm>
            <a:off x="9573768" y="2788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ETRI 구현 시스템 글로벌 공개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299448" y="3803904"/>
            <a:ext cx="201168" cy="20116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5" name="Text 53"/>
          <p:cNvSpPr/>
          <p:nvPr/>
        </p:nvSpPr>
        <p:spPr>
          <a:xfrm>
            <a:off x="9573768" y="3776472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세계 연구자 벨사넷 연구소 참여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299448" y="4791456"/>
            <a:ext cx="201168" cy="20116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7" name="Text 55"/>
          <p:cNvSpPr/>
          <p:nvPr/>
        </p:nvSpPr>
        <p:spPr>
          <a:xfrm>
            <a:off x="9573768" y="4764024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= 6G AI-Native 표준 설계 국가로 기록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74320" y="6217920"/>
            <a:ext cx="11612880" cy="411480"/>
          </a:xfrm>
          <a:prstGeom prst="rect">
            <a:avLst/>
          </a:prstGeom>
          <a:solidFill>
            <a:srgbClr val="0A1020"/>
          </a:solidFill>
          <a:ln/>
        </p:spPr>
      </p:sp>
      <p:sp>
        <p:nvSpPr>
          <p:cNvPr id="59" name="Text 57"/>
          <p:cNvSpPr/>
          <p:nvPr/>
        </p:nvSpPr>
        <p:spPr>
          <a:xfrm>
            <a:off x="365760" y="623620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 회의의 성과물(공식 문서 번호 + 아젠다)이 — ETRI를 움직일 강력한 지렛대가 된다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벨사넷 연구소 비전 — MIT식 개방형 글로벌 허브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13232"/>
            <a:ext cx="1115568" cy="56692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804672"/>
            <a:ext cx="969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44752" y="713232"/>
            <a:ext cx="1993392" cy="56692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6" name="Text 4"/>
          <p:cNvSpPr/>
          <p:nvPr/>
        </p:nvSpPr>
        <p:spPr>
          <a:xfrm>
            <a:off x="1517904" y="804672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ETRI 방식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02152" y="713232"/>
            <a:ext cx="2121408" cy="56692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8" name="Text 6"/>
          <p:cNvSpPr/>
          <p:nvPr/>
        </p:nvSpPr>
        <p:spPr>
          <a:xfrm>
            <a:off x="3575304" y="804672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벨사넷 연구소 모델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335024"/>
            <a:ext cx="1115568" cy="566928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426464"/>
            <a:ext cx="969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소유 구조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444752" y="1335024"/>
            <a:ext cx="1993392" cy="566928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2" name="Text 10"/>
          <p:cNvSpPr/>
          <p:nvPr/>
        </p:nvSpPr>
        <p:spPr>
          <a:xfrm>
            <a:off x="1517904" y="1426464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폐쇄적 특허 중심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02152" y="1335024"/>
            <a:ext cx="2121408" cy="566928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4" name="Text 12"/>
          <p:cNvSpPr/>
          <p:nvPr/>
        </p:nvSpPr>
        <p:spPr>
          <a:xfrm>
            <a:off x="3575304" y="1426464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4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개방형 공개 원칙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956816"/>
            <a:ext cx="1115568" cy="566928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048256"/>
            <a:ext cx="969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방식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444752" y="1956816"/>
            <a:ext cx="199339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517904" y="2048256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연구원 중심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02152" y="1956816"/>
            <a:ext cx="2121408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575304" y="2048256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4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컨소시엄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578608"/>
            <a:ext cx="1115568" cy="566928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2670048"/>
            <a:ext cx="969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모델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444752" y="2578608"/>
            <a:ext cx="1993392" cy="566928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24" name="Text 22"/>
          <p:cNvSpPr/>
          <p:nvPr/>
        </p:nvSpPr>
        <p:spPr>
          <a:xfrm>
            <a:off x="1517904" y="2670048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기술료(Royalty) 수취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502152" y="2578608"/>
            <a:ext cx="2121408" cy="566928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26" name="Text 24"/>
          <p:cNvSpPr/>
          <p:nvPr/>
        </p:nvSpPr>
        <p:spPr>
          <a:xfrm>
            <a:off x="3575304" y="2670048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4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생태계 확산으로 표준 주도권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200400"/>
            <a:ext cx="1115568" cy="566928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3291840"/>
            <a:ext cx="969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철학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444752" y="3200400"/>
            <a:ext cx="199339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1517904" y="329184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성과지표 중심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502152" y="3200400"/>
            <a:ext cx="2121408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575304" y="3291840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4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인류의 통신 구조 혁신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3822192"/>
            <a:ext cx="1115568" cy="566928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" y="3913632"/>
            <a:ext cx="969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위상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444752" y="3822192"/>
            <a:ext cx="1993392" cy="566928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6" name="Text 34"/>
          <p:cNvSpPr/>
          <p:nvPr/>
        </p:nvSpPr>
        <p:spPr>
          <a:xfrm>
            <a:off x="1517904" y="3913632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대표 연구소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502152" y="3822192"/>
            <a:ext cx="2121408" cy="566928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8" name="Text 36"/>
          <p:cNvSpPr/>
          <p:nvPr/>
        </p:nvSpPr>
        <p:spPr>
          <a:xfrm>
            <a:off x="3575304" y="3913632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4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세계가 배우러 오는 허브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26480" y="685800"/>
            <a:ext cx="576072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0" name="Text 38"/>
          <p:cNvSpPr/>
          <p:nvPr/>
        </p:nvSpPr>
        <p:spPr>
          <a:xfrm>
            <a:off x="6126480" y="68580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핵심 원칙 (송창호 아키텍트 제정)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26480" y="1115568"/>
            <a:ext cx="5760720" cy="114300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26480" y="1115568"/>
            <a:ext cx="502920" cy="1143000"/>
          </a:xfrm>
          <a:prstGeom prst="rect">
            <a:avLst/>
          </a:prstGeom>
          <a:solidFill>
            <a:srgbClr val="0B7A8C"/>
          </a:solidFill>
          <a:ln/>
        </p:spPr>
      </p:sp>
      <p:sp>
        <p:nvSpPr>
          <p:cNvPr id="43" name="Text 41"/>
          <p:cNvSpPr/>
          <p:nvPr/>
        </p:nvSpPr>
        <p:spPr>
          <a:xfrm>
            <a:off x="6126480" y="149961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693408" y="1188720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공개 원칙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693408" y="1572768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연구 결과물은 공개를 기본으로 한다. 특허 수익보다 생태계 확산이 우선이다.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26480" y="2350008"/>
            <a:ext cx="5760720" cy="114300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26480" y="2350008"/>
            <a:ext cx="502920" cy="1143000"/>
          </a:xfrm>
          <a:prstGeom prst="rect">
            <a:avLst/>
          </a:prstGeom>
          <a:solidFill>
            <a:srgbClr val="1A6E3A"/>
          </a:solidFill>
          <a:ln/>
        </p:spPr>
      </p:sp>
      <p:sp>
        <p:nvSpPr>
          <p:cNvPr id="48" name="Text 46"/>
          <p:cNvSpPr/>
          <p:nvPr/>
        </p:nvSpPr>
        <p:spPr>
          <a:xfrm>
            <a:off x="6126480" y="273405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693408" y="2423160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참여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693408" y="2807208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정부, 기업, 연구소 — 국적 불문 참여 가능. 벨사넷 구조를 함께 발전시키는 공동체</a:t>
            </a:r>
            <a:r>
              <a:rPr lang="en-US" sz="1050" dirty="0" smtClean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( </a:t>
            </a:r>
            <a:r>
              <a:rPr lang="ko-KR" altLang="en-US" sz="1050" dirty="0" smtClean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 받습니다</a:t>
            </a:r>
            <a:r>
              <a:rPr lang="en-US" altLang="ko-KR" sz="1050" dirty="0" smtClean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050" dirty="0" smtClean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연구자를 위한 숙식 제공 및 글로벌 부품업체의 전시공간 제공 및 연구를 위한 장소 제공</a:t>
            </a:r>
            <a:r>
              <a:rPr lang="en-US" altLang="ko-KR" sz="1050" dirty="0" smtClean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126480" y="3584448"/>
            <a:ext cx="5760720" cy="114300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26480" y="3584448"/>
            <a:ext cx="502920" cy="11430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3" name="Text 51"/>
          <p:cNvSpPr/>
          <p:nvPr/>
        </p:nvSpPr>
        <p:spPr>
          <a:xfrm>
            <a:off x="6126480" y="396849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693408" y="3657600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 무결성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693408" y="4041648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벨사넷의 원천 구조적 원리를 훼손하는 수정은 금지한다. 진화는 허용, 변질은 불허</a:t>
            </a:r>
            <a:r>
              <a:rPr lang="en-US" sz="1050" dirty="0" smtClean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( </a:t>
            </a:r>
            <a:r>
              <a:rPr lang="ko-KR" altLang="en-US" sz="1050" dirty="0" smtClean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독자적인 체계 구축</a:t>
            </a:r>
            <a:r>
              <a:rPr lang="en-US" altLang="ko-KR" sz="1050" dirty="0" smtClean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(IVGF </a:t>
            </a:r>
            <a:r>
              <a:rPr lang="ko-KR" altLang="en-US" sz="1050" dirty="0" err="1" smtClean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설립주도</a:t>
            </a:r>
            <a:r>
              <a:rPr lang="en-US" altLang="ko-KR" sz="1050" dirty="0" smtClean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050" dirty="0" smtClean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및 </a:t>
            </a:r>
            <a:r>
              <a:rPr lang="en-US" altLang="ko-KR" sz="1050" dirty="0" smtClean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ITU</a:t>
            </a:r>
            <a:r>
              <a:rPr lang="ko-KR" altLang="en-US" sz="1050" dirty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dirty="0" smtClean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 국제표준기구와 협력</a:t>
            </a:r>
            <a:r>
              <a:rPr lang="en-US" altLang="ko-KR" sz="1050" dirty="0" smtClean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126480" y="4818888"/>
            <a:ext cx="5760720" cy="1143000"/>
          </a:xfrm>
          <a:prstGeom prst="rect">
            <a:avLst/>
          </a:prstGeom>
          <a:solidFill>
            <a:srgbClr val="F8FA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126480" y="4818888"/>
            <a:ext cx="502920" cy="1143000"/>
          </a:xfrm>
          <a:prstGeom prst="rect">
            <a:avLst/>
          </a:prstGeom>
          <a:solidFill>
            <a:srgbClr val="5A1A7A"/>
          </a:solidFill>
          <a:ln/>
        </p:spPr>
      </p:sp>
      <p:sp>
        <p:nvSpPr>
          <p:cNvPr id="58" name="Text 56"/>
          <p:cNvSpPr/>
          <p:nvPr/>
        </p:nvSpPr>
        <p:spPr>
          <a:xfrm>
            <a:off x="6126480" y="52029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693408" y="4892040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1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투명한 거버넌스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693408" y="5276088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의사결정은 공개 프로세스를 따른다. 특정 기업이나 국가의 독점적 통제 불가</a:t>
            </a:r>
            <a:r>
              <a:rPr lang="en-US" sz="1050" dirty="0" smtClean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274320" y="6492240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899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"나는 구조를 주었고 탄생의 영광은 ETRI에 준다 — 단, 운동장의 규칙은 내가 정한다"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5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— 판은 이미 깔려 있습니다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669280" cy="2331720"/>
          </a:xfrm>
          <a:prstGeom prst="rect">
            <a:avLst/>
          </a:prstGeom>
          <a:solidFill>
            <a:srgbClr val="0D1E3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594360" cy="2331720"/>
          </a:xfrm>
          <a:prstGeom prst="rect">
            <a:avLst/>
          </a:prstGeom>
          <a:solidFill>
            <a:srgbClr val="0B7A8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92808"/>
            <a:ext cx="512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24128" y="114300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기록은 이미 ITU에 남아있다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618488"/>
            <a:ext cx="475488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FG-AINN 2건 아젠다 등록, FG-EAI 기고서 준비 완료. 소속도 없이 개인이 국제 표준화 무대에서 앵커를 박은 사례는 전례가 없습니다.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051560"/>
            <a:ext cx="5669280" cy="2331720"/>
          </a:xfrm>
          <a:prstGeom prst="rect">
            <a:avLst/>
          </a:prstGeom>
          <a:solidFill>
            <a:srgbClr val="0D1E3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051560"/>
            <a:ext cx="594360" cy="2331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92808"/>
            <a:ext cx="512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67728" y="114300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드림팀은 이미 구성되어 있다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67728" y="1618488"/>
            <a:ext cx="475488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마틴(개념) × 송창호(구조) × 이규명(표준화 언어) × ETRI(구현) × 이민아(거버넌스) × 강신각(실행). 각자의 역할이 명확하고 서로 보완적입니다.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5669280" cy="2331720"/>
          </a:xfrm>
          <a:prstGeom prst="rect">
            <a:avLst/>
          </a:prstGeom>
          <a:solidFill>
            <a:srgbClr val="0D1E3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11880"/>
            <a:ext cx="594360" cy="2331720"/>
          </a:xfrm>
          <a:prstGeom prst="rect">
            <a:avLst/>
          </a:prstGeom>
          <a:solidFill>
            <a:srgbClr val="1A6E3A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4453128"/>
            <a:ext cx="512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24128" y="370332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ETRI를 움직일 명분이 완성된다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4178808"/>
            <a:ext cx="475488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 회의 성과 → ETRI 제시 → 과기부 보고 → 벨사넷 연구소 예산 신청. 거부할 이유가 없고, 하지 않으면 오히려 손해입니다.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611880"/>
            <a:ext cx="5669280" cy="2331720"/>
          </a:xfrm>
          <a:prstGeom prst="rect">
            <a:avLst/>
          </a:prstGeom>
          <a:solidFill>
            <a:srgbClr val="0D1E3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3611880"/>
            <a:ext cx="594360" cy="2331720"/>
          </a:xfrm>
          <a:prstGeom prst="rect">
            <a:avLst/>
          </a:prstGeom>
          <a:solidFill>
            <a:srgbClr val="5A1A7A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4453128"/>
            <a:ext cx="512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67728" y="370332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1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가볍지만 가장 강력한 지휘자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67728" y="4178808"/>
            <a:ext cx="475488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실무의 짐은 ETRI에, 개념의 당위성은 마틴에, 표준화 경로는 의장단에 — 송창호는 원천 구조와 운영 규정만 장악하면 됩니다.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29107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"한국이 설계한 구조(Velsanet)에 세계적인 지성(Maier)이 영혼을 불어넣고, 이를 통해 글로벌 표준(ITU)의 정점에 도전하는 역사적 협업"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1552</Words>
  <Application>Microsoft Office PowerPoint</Application>
  <PresentationFormat>와이드스크린</PresentationFormat>
  <Paragraphs>256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Master</cp:lastModifiedBy>
  <cp:revision>3</cp:revision>
  <dcterms:created xsi:type="dcterms:W3CDTF">2026-04-10T01:40:14Z</dcterms:created>
  <dcterms:modified xsi:type="dcterms:W3CDTF">2026-04-10T02:05:16Z</dcterms:modified>
</cp:coreProperties>
</file>