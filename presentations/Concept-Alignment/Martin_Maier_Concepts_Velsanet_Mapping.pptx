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5303520"/>
            <a:ext cx="8046720" cy="1554480"/>
          </a:xfrm>
          <a:prstGeom prst="rect">
            <a:avLst/>
          </a:prstGeom>
          <a:solidFill>
            <a:srgbClr val="0B2A5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64008" cy="3840480"/>
          </a:xfrm>
          <a:prstGeom prst="rect">
            <a:avLst/>
          </a:prstGeom>
          <a:solidFill>
            <a:srgbClr val="0B7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Maier's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Universe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개념어 분석 및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B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벨사넷 정합성 매핑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0" y="9144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대상 논문 (Martin Maier, INRS)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508760"/>
            <a:ext cx="7132320" cy="822960"/>
          </a:xfrm>
          <a:prstGeom prst="rect">
            <a:avLst/>
          </a:prstGeom>
          <a:solidFill>
            <a:srgbClr val="10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5819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JOCN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89280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AI to Active Inference — Key to True AI &amp; 6G World Brain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514600"/>
            <a:ext cx="7132320" cy="822960"/>
          </a:xfrm>
          <a:prstGeom prst="rect">
            <a:avLst/>
          </a:prstGeom>
          <a:solidFill>
            <a:srgbClr val="10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25877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INFOCOM EIN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289864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Reinventing the Sacred — Back to Early-Day Internet Pioneers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3520440"/>
            <a:ext cx="7132320" cy="822960"/>
          </a:xfrm>
          <a:prstGeom prst="rect">
            <a:avLst/>
          </a:prstGeom>
          <a:solidFill>
            <a:srgbClr val="10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359359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IEEE IS (submitted)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90448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AGI-Native 6G Networks — Are Psychoactives the New Frontier?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62179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× Martin Maier  |  Velsanet Architecture Group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마틴 마이어 논문의 핵심 개념어 지도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파일 전체에서 추출한 핵심 개념어를 6개 클러스터로 분류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566160" cy="347472"/>
          </a:xfrm>
          <a:prstGeom prst="rect">
            <a:avLst/>
          </a:prstGeom>
          <a:solidFill>
            <a:srgbClr val="1A3A6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338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인지·뇌 패러다임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3566160" cy="1938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499616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Active Inference (능동적 추론)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732788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Free-Energy Principle (FEP)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965960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Inside-Out Brain Paradigm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199132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Predictive Brain / World Model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432304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Bayesian Inference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665476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Generative Model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898648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Action-Perception Loop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131820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Lifelong Learning (LL)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0" y="1097280"/>
            <a:ext cx="3566160" cy="347472"/>
          </a:xfrm>
          <a:prstGeom prst="rect">
            <a:avLst/>
          </a:prstGeom>
          <a:solidFill>
            <a:srgbClr val="0B7A8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1338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AI 진화 방향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1444752"/>
            <a:ext cx="3566160" cy="1938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24528" y="1499616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True AI (Less Artificial, More Intelligent)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24528" y="1732788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NeuroAI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24528" y="1965960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AGI / ASI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24528" y="2199132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Embodied AI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24528" y="2432304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Enactive AI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24528" y="2665476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Agentic AI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24528" y="2898648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Human-AI Interaction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24528" y="3131820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Intelligence Amplification (IA)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955280" y="1097280"/>
            <a:ext cx="3931920" cy="347472"/>
          </a:xfrm>
          <a:prstGeom prst="rect">
            <a:avLst/>
          </a:prstGeom>
          <a:solidFill>
            <a:srgbClr val="1A6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0" y="1133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생물학적 영감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55280" y="1444752"/>
            <a:ext cx="3931920" cy="1938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065008" y="1499616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Mycorrhizal Networks (균근망)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65008" y="1732788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Root-Brain Hypothesis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65008" y="1965960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Cyberfungi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65008" y="2199132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Symbiogenesis / Symbiomimicry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65008" y="2432304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Hyphae / Mycelium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65008" y="2665476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Wood-Wide Web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65008" y="2898648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Metamorphic Agents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65008" y="3131820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Negative Entropy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566160"/>
            <a:ext cx="3566160" cy="347472"/>
          </a:xfrm>
          <a:prstGeom prst="rect">
            <a:avLst/>
          </a:prstGeom>
          <a:solidFill>
            <a:srgbClr val="5A3080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36027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수학·물리 기반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913632"/>
            <a:ext cx="3566160" cy="1938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84048" y="3968496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Markov Blanket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84048" y="4201668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POMDP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84048" y="4434840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Variational Free Energy F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84048" y="4668012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Expected Free Energy 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84048" y="4901184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 Divergence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84048" y="5134356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Self-Evidencing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84048" y="5367528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Entropy / Surprisal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84048" y="5600700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Hamiltonian Principle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114800" y="3566160"/>
            <a:ext cx="3566160" cy="347472"/>
          </a:xfrm>
          <a:prstGeom prst="rect">
            <a:avLst/>
          </a:prstGeom>
          <a:solidFill>
            <a:srgbClr val="7A3010"/>
          </a:solidFill>
          <a:ln/>
        </p:spPr>
      </p:sp>
      <p:sp>
        <p:nvSpPr>
          <p:cNvPr id="49" name="Text 47"/>
          <p:cNvSpPr/>
          <p:nvPr/>
        </p:nvSpPr>
        <p:spPr>
          <a:xfrm>
            <a:off x="4206240" y="36027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네트워크·6G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114800" y="3913632"/>
            <a:ext cx="3566160" cy="1938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224528" y="3968496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6G World Brain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224528" y="4201668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Net4AI vs AI4Net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224528" y="4434840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AI-Native 6G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224528" y="4668012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ISAC (통합감지통신)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224528" y="4901184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Phygital Environment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224528" y="5134356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Cyber-Physical World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224528" y="5367528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Point Alpha / Point Omega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224528" y="5600700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Homo Technicus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955280" y="3566160"/>
            <a:ext cx="3931920" cy="347472"/>
          </a:xfrm>
          <a:prstGeom prst="rect">
            <a:avLst/>
          </a:prstGeom>
          <a:solidFill>
            <a:srgbClr val="1A5A40"/>
          </a:solidFill>
          <a:ln/>
        </p:spPr>
      </p:sp>
      <p:sp>
        <p:nvSpPr>
          <p:cNvPr id="60" name="Text 58"/>
          <p:cNvSpPr/>
          <p:nvPr/>
        </p:nvSpPr>
        <p:spPr>
          <a:xfrm>
            <a:off x="8046720" y="3602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사회·철학적 개념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955280" y="3913632"/>
            <a:ext cx="3931920" cy="1938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8065008" y="3968496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Interbeing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065008" y="4201668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Circular Causality / Teleology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065008" y="4434840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 Hive Mind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065008" y="4668012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Psychoactives / REBUS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065008" y="4901184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Dark-Room Problem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8065008" y="5134356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Quantum Biology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065008" y="5367528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 Contagion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065008" y="5600700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Teleological Tokens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Maier (INRS) | JOCN 2026, INFOCOM EIN Workshop, IEEE IS submitted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①  Active Inference &amp; Free-Energy Principle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73152" cy="1005840"/>
          </a:xfrm>
          <a:prstGeom prst="rect">
            <a:avLst/>
          </a:prstGeom>
          <a:solidFill>
            <a:srgbClr val="1A3A6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Inference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3327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뇌가 데이터를 '처리'하는 것이 아니라 세상을 '예측'하고 예측 오류를 최소화하는 방식으로 학습하는 이론. Karl Friston이 통계물리학 제1원리에서 도출. 오늘날 AI의 한계(학습, 설명가능성)를 해결하는 핵심 열쇠.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73152" cy="1005840"/>
          </a:xfrm>
          <a:prstGeom prst="rect">
            <a:avLst/>
          </a:prstGeom>
          <a:solidFill>
            <a:srgbClr val="0B7A8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Free-Energy Principle (FEP)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2199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생명체가 생존을 위해 '놀라움(Surprise)'을 최소화하는 수학적 원리. 생물이 엔트로피 증가(무질서=죽음)에 저항하는 방법을 설명. 변분 자유에너지 F(현재)와 기대 자유에너지 G(미래)로 표현.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3063240"/>
            <a:ext cx="73152" cy="1005840"/>
          </a:xfrm>
          <a:prstGeom prst="rect">
            <a:avLst/>
          </a:prstGeom>
          <a:solidFill>
            <a:srgbClr val="5A308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108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Blanket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1071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에이전트와 환경 사이의 인터페이스를 수학적으로 정의하는 개념. 행동 상태(u)와 지각 상태(y)로 구성. Markov 담요가 없으면 에이전트는 환경으로 용해(=최대 엔트로피=사망).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4251960"/>
            <a:ext cx="73152" cy="1005840"/>
          </a:xfrm>
          <a:prstGeom prst="rect">
            <a:avLst/>
          </a:prstGeom>
          <a:solidFill>
            <a:srgbClr val="1A6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2976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 vs. Generative 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59943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과정(Generative Process): 외부 세계의 실제 동작. 생성 모델(Generative Model): 에이전트 내부의 세계 시뮬레이션. Active Inference의 핵심 도전: 두 모델을 가장 잘 일치시키는 것.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5440680"/>
            <a:ext cx="73152" cy="1005840"/>
          </a:xfrm>
          <a:prstGeom prst="rect">
            <a:avLst/>
          </a:prstGeom>
          <a:solidFill>
            <a:srgbClr val="7A301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5486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3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Action-Perception Loop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7881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생명체는 환경과의 지속적 상호작용 사이클을 통해 평생학습(Lifelong Learning)을 달성. 오늘날 AI에 완전히 결여된 능력. 로봇공학에서는 1990년대부터 연구됨.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594360"/>
            <a:ext cx="548640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5943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벨사넷 백서 정합성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1024128"/>
            <a:ext cx="5486400" cy="1024128"/>
          </a:xfrm>
          <a:prstGeom prst="rect">
            <a:avLst/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10881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#08 AI Architecture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149840" y="1088136"/>
            <a:ext cx="1600200" cy="237744"/>
          </a:xfrm>
          <a:prstGeom prst="roundRect">
            <a:avLst>
              <a:gd name="adj" fmla="val 11538"/>
            </a:avLst>
          </a:prstGeom>
          <a:solidFill>
            <a:srgbClr val="1A4E20"/>
          </a:solidFill>
          <a:ln/>
        </p:spPr>
      </p:sp>
      <p:sp>
        <p:nvSpPr>
          <p:cNvPr id="23" name="Text 21"/>
          <p:cNvSpPr/>
          <p:nvPr/>
        </p:nvSpPr>
        <p:spPr>
          <a:xfrm>
            <a:off x="10149840" y="108813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완전 정합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92240" y="137160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PAI/AAI/AsAI 3계층은 Active Inference의 다층 Markov Blanket 구조와 동일. 각 계층이 독립적 자유에너지 최소화 에이전트로 동작.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2139696"/>
            <a:ext cx="5486400" cy="1024128"/>
          </a:xfrm>
          <a:prstGeom prst="rect">
            <a:avLst/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22037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#09 Three-Layer AI System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149840" y="2203704"/>
            <a:ext cx="1600200" cy="237744"/>
          </a:xfrm>
          <a:prstGeom prst="roundRect">
            <a:avLst>
              <a:gd name="adj" fmla="val 11538"/>
            </a:avLst>
          </a:prstGeom>
          <a:solidFill>
            <a:srgbClr val="1A4E20"/>
          </a:solidFill>
          <a:ln/>
        </p:spPr>
      </p:sp>
      <p:sp>
        <p:nvSpPr>
          <p:cNvPr id="28" name="Text 26"/>
          <p:cNvSpPr/>
          <p:nvPr/>
        </p:nvSpPr>
        <p:spPr>
          <a:xfrm>
            <a:off x="10149840" y="220370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완전 정합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92240" y="2487168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PAI(개인AI)는 SEU 기반 경험 축적 = Active Inference의 Generative Model 구축 과정. 경험에서 인지로의 전환이 FEP와 동일 구조.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0" y="3255264"/>
            <a:ext cx="5486400" cy="1024128"/>
          </a:xfrm>
          <a:prstGeom prst="rect">
            <a:avLst/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2240" y="33192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#19 Cognition Cube System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149840" y="3319272"/>
            <a:ext cx="1600200" cy="237744"/>
          </a:xfrm>
          <a:prstGeom prst="roundRect">
            <a:avLst>
              <a:gd name="adj" fmla="val 11538"/>
            </a:avLst>
          </a:prstGeom>
          <a:solidFill>
            <a:srgbClr val="1A4E20"/>
          </a:solidFill>
          <a:ln/>
        </p:spPr>
      </p:sp>
      <p:sp>
        <p:nvSpPr>
          <p:cNvPr id="33" name="Text 31"/>
          <p:cNvSpPr/>
          <p:nvPr/>
        </p:nvSpPr>
        <p:spPr>
          <a:xfrm>
            <a:off x="10149840" y="331927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핵심 정합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92240" y="3602736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SEU(Signal Experience Unit) = 마틴이 말하는 '아이가 몇 번의 경험으로 아를 배우는' 최소 경험 단위. T/C/I/E 4축 = Action-Perception Loop의 구조적 구현.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4370832"/>
            <a:ext cx="5486400" cy="1024128"/>
          </a:xfrm>
          <a:prstGeom prst="rect">
            <a:avLst/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92240" y="4434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#06 Multimodal-to-Cube Memory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149840" y="4434840"/>
            <a:ext cx="1600200" cy="237744"/>
          </a:xfrm>
          <a:prstGeom prst="roundRect">
            <a:avLst>
              <a:gd name="adj" fmla="val 11538"/>
            </a:avLst>
          </a:prstGeom>
          <a:solidFill>
            <a:srgbClr val="1A4E20"/>
          </a:solidFill>
          <a:ln/>
        </p:spPr>
      </p:sp>
      <p:sp>
        <p:nvSpPr>
          <p:cNvPr id="38" name="Text 36"/>
          <p:cNvSpPr/>
          <p:nvPr/>
        </p:nvSpPr>
        <p:spPr>
          <a:xfrm>
            <a:off x="10149840" y="44348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정합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92240" y="4718304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Memory Layer(불변 저장) = 생성 과정(Generative Process) 보존. Cube Memory Layer = Generative Model의 시맨틱 인덱싱.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0" y="5486400"/>
            <a:ext cx="5486400" cy="1024128"/>
          </a:xfrm>
          <a:prstGeom prst="rect">
            <a:avLst/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92240" y="5550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#01 Network Architecture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149840" y="5550408"/>
            <a:ext cx="1600200" cy="237744"/>
          </a:xfrm>
          <a:prstGeom prst="roundRect">
            <a:avLst>
              <a:gd name="adj" fmla="val 11538"/>
            </a:avLst>
          </a:prstGeom>
          <a:solidFill>
            <a:srgbClr val="5A3010"/>
          </a:solidFill>
          <a:ln/>
        </p:spPr>
      </p:sp>
      <p:sp>
        <p:nvSpPr>
          <p:cNvPr id="43" name="Text 41"/>
          <p:cNvSpPr/>
          <p:nvPr/>
        </p:nvSpPr>
        <p:spPr>
          <a:xfrm>
            <a:off x="10149840" y="555040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개념적 정합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492240" y="583387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Net4AI(네트워크 for AI) 철학과 동일. 벨사넷은 AI가 오버레이가 아닌 네트워크 구조 자체에 내재된 것을 목표로 함.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Maier, JOCN 2026; Maier et al., IEEE IS submitted | 벨사넷 WP #06, #08, #09, #19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②  6G World Brain &amp; Embodied / Enactive AI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2286000" cy="1371600"/>
          </a:xfrm>
          <a:prstGeom prst="rect">
            <a:avLst/>
          </a:prstGeom>
          <a:solidFill>
            <a:srgbClr val="3A5A8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229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AI4Net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(5G 시대)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네트워크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도구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651760" y="1417320"/>
            <a:ext cx="640080" cy="0"/>
          </a:xfrm>
          <a:prstGeom prst="line">
            <a:avLst/>
          </a:prstGeom>
          <a:noFill/>
          <a:ln w="25400">
            <a:solidFill>
              <a:srgbClr val="D0D8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731520"/>
            <a:ext cx="2286000" cy="1371600"/>
          </a:xfrm>
          <a:prstGeom prst="rect">
            <a:avLst/>
          </a:prstGeom>
          <a:solidFill>
            <a:srgbClr val="0B7A8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8229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Net4AI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(6G 시대)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AI의 인프라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12080" y="1417320"/>
            <a:ext cx="640080" cy="0"/>
          </a:xfrm>
          <a:prstGeom prst="line">
            <a:avLst/>
          </a:prstGeom>
          <a:noFill/>
          <a:ln w="25400">
            <a:solidFill>
              <a:srgbClr val="D0D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0" y="731520"/>
            <a:ext cx="2286000" cy="1371600"/>
          </a:xfrm>
          <a:prstGeom prst="rect">
            <a:avLst/>
          </a:prstGeom>
          <a:solidFill>
            <a:srgbClr val="1A6E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8229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6G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7840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네트워크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내재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72400" y="1417320"/>
            <a:ext cx="640080" cy="0"/>
          </a:xfrm>
          <a:prstGeom prst="line">
            <a:avLst/>
          </a:prstGeom>
          <a:noFill/>
          <a:ln w="25400">
            <a:solidFill>
              <a:srgbClr val="D0D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731520"/>
            <a:ext cx="2286000" cy="1371600"/>
          </a:xfrm>
          <a:prstGeom prst="rect">
            <a:avLst/>
          </a:prstGeom>
          <a:solidFill>
            <a:srgbClr val="6A1A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38160" y="8229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World Brain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38160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지구 = 하나의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살아있는 AI 뇌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331720"/>
            <a:ext cx="3749040" cy="320040"/>
          </a:xfrm>
          <a:prstGeom prst="rect">
            <a:avLst/>
          </a:prstGeom>
          <a:solidFill>
            <a:srgbClr val="1A3A6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Embodied AI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651760"/>
            <a:ext cx="3749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2715768"/>
            <a:ext cx="35295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물리적 환경과 직접 상호작용하는 감각 접지(Sensory Grounding). 순수 계산 존재에서 벗어나 현실 세계와 결합. 6G ISAC이 핵심 기술.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06240" y="2331720"/>
            <a:ext cx="3749040" cy="320040"/>
          </a:xfrm>
          <a:prstGeom prst="rect">
            <a:avLst/>
          </a:prstGeom>
          <a:solidFill>
            <a:srgbClr val="0B7A8C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Enactive AI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06240" y="2651760"/>
            <a:ext cx="3749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315968" y="2715768"/>
            <a:ext cx="35295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행동을 통해 환경을 변화시키고 그 결과로 학습하는 AI. 수동적 추론(Passive AI)에서 능동적 행위(Active AI)로의 전환. Cyberfungi가 구현체.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38160" y="2331720"/>
            <a:ext cx="3749040" cy="320040"/>
          </a:xfrm>
          <a:prstGeom prst="rect">
            <a:avLst/>
          </a:prstGeom>
          <a:solidFill>
            <a:srgbClr val="5A3080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 Technicus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2651760"/>
            <a:ext cx="3749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47888" y="2715768"/>
            <a:ext cx="35295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 공생하며 진화하는 미래 인류 종. 사회기술적 코쿤을 짜는 메타모르픽 에이전트. Human Strategy: 약한 인간 + AI + 더 나은 프로세스 &gt; 강한 AI.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297680"/>
            <a:ext cx="3749040" cy="320040"/>
          </a:xfrm>
          <a:prstGeom prst="rect">
            <a:avLst/>
          </a:prstGeom>
          <a:solidFill>
            <a:srgbClr val="1A5A40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325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Interbeing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617720"/>
            <a:ext cx="3749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84048" y="4681728"/>
            <a:ext cx="35295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Inter(net) + Human Being의 합성어. 불교적 상호의존(틱낫한) 개념의 기술적 구현. 사이버-물리 생태계에서 인간과 AI의 공진화.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06240" y="4297680"/>
            <a:ext cx="3749040" cy="320040"/>
          </a:xfrm>
          <a:prstGeom prst="rect">
            <a:avLst/>
          </a:prstGeom>
          <a:solidFill>
            <a:srgbClr val="1A6E3A"/>
          </a:solidFill>
          <a:ln/>
        </p:spPr>
      </p:sp>
      <p:sp>
        <p:nvSpPr>
          <p:cNvPr id="38" name="Text 36"/>
          <p:cNvSpPr/>
          <p:nvPr/>
        </p:nvSpPr>
        <p:spPr>
          <a:xfrm>
            <a:off x="4297680" y="4325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Cyberfungi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06240" y="4617720"/>
            <a:ext cx="3749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315968" y="4681728"/>
            <a:ext cx="35295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균근 네트워크를 모방한 디지털 Active Inference 에이전트. DDPM 기반으로 탐색(엔트로피 증가)과 융합(역시간 엔트로피)을 반복. 체화·행위 AI의 초기 구현체.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38160" y="4297680"/>
            <a:ext cx="3749040" cy="320040"/>
          </a:xfrm>
          <a:prstGeom prst="rect">
            <a:avLst/>
          </a:prstGeom>
          <a:solidFill>
            <a:srgbClr val="7A3010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0" y="4325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 (통합감지통신)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138160" y="4617720"/>
            <a:ext cx="3749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247888" y="4681728"/>
            <a:ext cx="35295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Sensing And Communications. 6G에서 통신과 감지를 동일 하드웨어로 통합. 전 지구적 Action-Perception Loop 실현의 핵심 기술.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6263640"/>
            <a:ext cx="11612880" cy="4114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628192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벨사넷 정합: WP#01(Network Architecture) • WP#09(PAI/AAI/AsAI) • WP#19(CognitionCube = Embodied AI의 구조적 구현) • WP#22(H6-Based 6G RAN = AI-Native 6G의 물리 기반)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③  자연에서 배우는 AI — 균근 네트워크와 진화의 지혜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3749040" cy="548640"/>
          </a:xfrm>
          <a:prstGeom prst="rect">
            <a:avLst/>
          </a:prstGeom>
          <a:solidFill>
            <a:srgbClr val="1A4E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5895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🍄  균근 네트워크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(Mycorrhizal Networks)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지구 최대 생명체 — 숲속 지하 균사 네트워크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217627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탐색(Branching) → 자원 발견 → 융합(Fusing) = 엔트로피 ↑↓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980944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버섯: 균근이 물리세계에 체화되는 방법 (Embodiment)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785616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Wood-Wide Web: 나무 뿌리를 광섬유처럼 연결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59028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마이어의 DDPM 모델이 이 구조를 수학적으로 모방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5394960"/>
            <a:ext cx="3749040" cy="1188720"/>
          </a:xfrm>
          <a:prstGeom prst="rect">
            <a:avLst/>
          </a:prstGeom>
          <a:solidFill>
            <a:srgbClr val="0A1830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5394960"/>
            <a:ext cx="54864" cy="1188720"/>
          </a:xfrm>
          <a:prstGeom prst="rect">
            <a:avLst/>
          </a:prstGeom>
          <a:solidFill>
            <a:srgbClr val="C47B0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54406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벨사넷 연결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568756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WP#12 Foundation Architecture의 다면체 네트워크 토폴로지 = 균근의 분산 자기조직화 구조와 정합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06240" y="731520"/>
            <a:ext cx="3749040" cy="548640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75895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Root-Brain 가설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(Darwin, 1880)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0" y="13716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다윈 부자가 제안, 2005년까지 잊혀진 가설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0" y="217627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식물의 뿌리 끝 = 뇌와 유사한 감각·운동 회로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0" y="2980944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동물 없이도 능동적 문제해결 행동 (=Active Inference)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3785616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인지 공간 탐구의 고대 진화 전략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459028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뇌가 없는 종에 FEP 적용하는 연구의 기반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06240" y="5394960"/>
            <a:ext cx="3749040" cy="1188720"/>
          </a:xfrm>
          <a:prstGeom prst="rect">
            <a:avLst/>
          </a:prstGeom>
          <a:solidFill>
            <a:srgbClr val="0A1830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0" y="5394960"/>
            <a:ext cx="54864" cy="1188720"/>
          </a:xfrm>
          <a:prstGeom prst="rect">
            <a:avLst/>
          </a:prstGeom>
          <a:solidFill>
            <a:srgbClr val="C47B00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54406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벨사넷 연결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43400" y="568756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WP#07 Mathematical Framework의 Q7 Hypercube = 다차원 인지 공간 탐색 구조와 개념적 정합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38160" y="731520"/>
            <a:ext cx="3749040" cy="548640"/>
          </a:xfrm>
          <a:prstGeom prst="rect">
            <a:avLst/>
          </a:prstGeom>
          <a:solidFill>
            <a:srgbClr val="4A1A5E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75895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🦋  메타모르픽 에이전트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음의 엔트로피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13716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Markov Blanket이 성장·수축하는 메타모르픽 에이전트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217627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애벌레→나비: 같은 개체, 다른 Markov Blanket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2980944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음의 엔트로피(Negative Entropy): 생명체가 환경에서 질서를 섭취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3785616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슈뢰딩거 '생명이란 무엇인가' — 생명=엔트로피 저항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459028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Psychoactives: FEP를 일시적으로 위반해 창의성 폭발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5394960"/>
            <a:ext cx="3749040" cy="1188720"/>
          </a:xfrm>
          <a:prstGeom prst="rect">
            <a:avLst/>
          </a:prstGeom>
          <a:solidFill>
            <a:srgbClr val="0A1830"/>
          </a:solidFill>
          <a:ln/>
        </p:spPr>
      </p:sp>
      <p:sp>
        <p:nvSpPr>
          <p:cNvPr id="33" name="Shape 31"/>
          <p:cNvSpPr/>
          <p:nvPr/>
        </p:nvSpPr>
        <p:spPr>
          <a:xfrm>
            <a:off x="8138160" y="5394960"/>
            <a:ext cx="54864" cy="1188720"/>
          </a:xfrm>
          <a:prstGeom prst="rect">
            <a:avLst/>
          </a:prstGeom>
          <a:solidFill>
            <a:srgbClr val="C47B00"/>
          </a:solidFill>
          <a:ln/>
        </p:spPr>
      </p:sp>
      <p:sp>
        <p:nvSpPr>
          <p:cNvPr id="34" name="Text 32"/>
          <p:cNvSpPr/>
          <p:nvPr/>
        </p:nvSpPr>
        <p:spPr>
          <a:xfrm>
            <a:off x="8275320" y="54406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벨사넷 연결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75320" y="568756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WP#09 PAI→AAI→AsAI 3단계 진화 = 메타모르픽 에이전트의 네트워크 구조적 구현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Maier, JOCN 2026 Section 5-6 | 균근 네트워크와 벨사넷 광코어 구조의 개념적 동형성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벨사넷 백서 × 마틴 마이어 개념 — 정합성 종합 매핑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13232"/>
            <a:ext cx="292608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132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벨사넷 백서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46120" y="713232"/>
            <a:ext cx="256032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0" y="7132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마틴 개념 키워드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852160" y="713232"/>
            <a:ext cx="438912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" name="Text 6"/>
          <p:cNvSpPr/>
          <p:nvPr/>
        </p:nvSpPr>
        <p:spPr>
          <a:xfrm>
            <a:off x="5897880" y="7132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정합 내용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287000" y="713232"/>
            <a:ext cx="146304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0" name="Text 8"/>
          <p:cNvSpPr/>
          <p:nvPr/>
        </p:nvSpPr>
        <p:spPr>
          <a:xfrm>
            <a:off x="10332720" y="713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정합도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07899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152144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#01 Network Architecture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078992"/>
            <a:ext cx="25603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319272" y="1152144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Net4AI 패러다임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52160" y="1078992"/>
            <a:ext cx="4389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925312" y="1152144"/>
            <a:ext cx="4242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네트워크에 내재 — Overlay AI 거부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287000" y="1078992"/>
            <a:ext cx="14630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78440" y="1216152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1A4E20"/>
          </a:solidFill>
          <a:ln/>
        </p:spPr>
      </p:sp>
      <p:sp>
        <p:nvSpPr>
          <p:cNvPr id="19" name="Text 17"/>
          <p:cNvSpPr/>
          <p:nvPr/>
        </p:nvSpPr>
        <p:spPr>
          <a:xfrm>
            <a:off x="10378440" y="1216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완전 정합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1664208"/>
            <a:ext cx="2926080" cy="548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1737360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#06 Multimodal-to-Cube Memory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1664208"/>
            <a:ext cx="2560320" cy="548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3" name="Text 21"/>
          <p:cNvSpPr/>
          <p:nvPr/>
        </p:nvSpPr>
        <p:spPr>
          <a:xfrm>
            <a:off x="3319272" y="173736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Model/Process 이중구조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52160" y="1664208"/>
            <a:ext cx="4389120" cy="548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5" name="Text 23"/>
          <p:cNvSpPr/>
          <p:nvPr/>
        </p:nvSpPr>
        <p:spPr>
          <a:xfrm>
            <a:off x="5925312" y="1737360"/>
            <a:ext cx="4242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Raw(불변) + Cube(시맨틱) = 생성과정 + 생성모델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287000" y="1664208"/>
            <a:ext cx="1463040" cy="548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78440" y="1801368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1A4E20"/>
          </a:solidFill>
          <a:ln/>
        </p:spPr>
      </p:sp>
      <p:sp>
        <p:nvSpPr>
          <p:cNvPr id="28" name="Text 26"/>
          <p:cNvSpPr/>
          <p:nvPr/>
        </p:nvSpPr>
        <p:spPr>
          <a:xfrm>
            <a:off x="10378440" y="1801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완전 정합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249424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" y="2322576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#07 Mathematical Framework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46120" y="2249424"/>
            <a:ext cx="25603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319272" y="2322576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Blanket 수학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52160" y="2249424"/>
            <a:ext cx="4389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925312" y="2322576"/>
            <a:ext cx="4242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Hypercube = 다차원 Markov Blanket의 구조적 표현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287000" y="2249424"/>
            <a:ext cx="14630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78440" y="2386584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5A3010"/>
          </a:solidFill>
          <a:ln/>
        </p:spPr>
      </p:sp>
      <p:sp>
        <p:nvSpPr>
          <p:cNvPr id="37" name="Text 35"/>
          <p:cNvSpPr/>
          <p:nvPr/>
        </p:nvSpPr>
        <p:spPr>
          <a:xfrm>
            <a:off x="10378440" y="23865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개념적 정합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2834640"/>
            <a:ext cx="2926080" cy="548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9" name="Text 37"/>
          <p:cNvSpPr/>
          <p:nvPr/>
        </p:nvSpPr>
        <p:spPr>
          <a:xfrm>
            <a:off x="347472" y="290779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#08 AI Architecture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46120" y="2834640"/>
            <a:ext cx="2560320" cy="548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41" name="Text 39"/>
          <p:cNvSpPr/>
          <p:nvPr/>
        </p:nvSpPr>
        <p:spPr>
          <a:xfrm>
            <a:off x="3319272" y="2907792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Inference 3계층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852160" y="2834640"/>
            <a:ext cx="4389120" cy="548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43" name="Text 41"/>
          <p:cNvSpPr/>
          <p:nvPr/>
        </p:nvSpPr>
        <p:spPr>
          <a:xfrm>
            <a:off x="5925312" y="2907792"/>
            <a:ext cx="4242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PAI/AAI/AsAI = 중첩 Markov Blanket의 위계 구조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287000" y="2834640"/>
            <a:ext cx="1463040" cy="548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45" name="Shape 43"/>
          <p:cNvSpPr/>
          <p:nvPr/>
        </p:nvSpPr>
        <p:spPr>
          <a:xfrm>
            <a:off x="10378440" y="297180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1A4E20"/>
          </a:solidFill>
          <a:ln/>
        </p:spPr>
      </p:sp>
      <p:sp>
        <p:nvSpPr>
          <p:cNvPr id="46" name="Text 44"/>
          <p:cNvSpPr/>
          <p:nvPr/>
        </p:nvSpPr>
        <p:spPr>
          <a:xfrm>
            <a:off x="10378440" y="2971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완전 정합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3419856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347472" y="3493008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#09 Three-Layer AI System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46120" y="3419856"/>
            <a:ext cx="25603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3319272" y="3493008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경험 기반 학습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52160" y="3419856"/>
            <a:ext cx="4389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5925312" y="3493008"/>
            <a:ext cx="4242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PAI의 SEU 축적 = '아이가 몇 번의 경험으로 아 를 배우는' 방식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0287000" y="3419856"/>
            <a:ext cx="14630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10378440" y="3557016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1A4E20"/>
          </a:solidFill>
          <a:ln/>
        </p:spPr>
      </p:sp>
      <p:sp>
        <p:nvSpPr>
          <p:cNvPr id="55" name="Text 53"/>
          <p:cNvSpPr/>
          <p:nvPr/>
        </p:nvSpPr>
        <p:spPr>
          <a:xfrm>
            <a:off x="10378440" y="35570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핵심 정합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4320" y="4005072"/>
            <a:ext cx="2926080" cy="548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57" name="Text 55"/>
          <p:cNvSpPr/>
          <p:nvPr/>
        </p:nvSpPr>
        <p:spPr>
          <a:xfrm>
            <a:off x="347472" y="4078224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#19 Cognition Cube System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46120" y="4005072"/>
            <a:ext cx="2560320" cy="548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59" name="Text 57"/>
          <p:cNvSpPr/>
          <p:nvPr/>
        </p:nvSpPr>
        <p:spPr>
          <a:xfrm>
            <a:off x="3319272" y="4078224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Action-Perception Loop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852160" y="4005072"/>
            <a:ext cx="4389120" cy="548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61" name="Text 59"/>
          <p:cNvSpPr/>
          <p:nvPr/>
        </p:nvSpPr>
        <p:spPr>
          <a:xfrm>
            <a:off x="5925312" y="4078224"/>
            <a:ext cx="4242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T/C/I/E 4축 = FEP의 구조적 구현, I축 = 의도 기반 인지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0287000" y="4005072"/>
            <a:ext cx="1463040" cy="548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63" name="Shape 61"/>
          <p:cNvSpPr/>
          <p:nvPr/>
        </p:nvSpPr>
        <p:spPr>
          <a:xfrm>
            <a:off x="10378440" y="4142232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1A4E20"/>
          </a:solidFill>
          <a:ln/>
        </p:spPr>
      </p:sp>
      <p:sp>
        <p:nvSpPr>
          <p:cNvPr id="64" name="Text 62"/>
          <p:cNvSpPr/>
          <p:nvPr/>
        </p:nvSpPr>
        <p:spPr>
          <a:xfrm>
            <a:off x="10378440" y="4142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핵심 정합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4590288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347472" y="4663440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#22 H6-Based 6G RAN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246120" y="4590288"/>
            <a:ext cx="25603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3319272" y="466344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6G / ISAC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852160" y="4590288"/>
            <a:ext cx="4389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5925312" y="4663440"/>
            <a:ext cx="4242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 광코어 = 물리적 Action-Perception 채널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10287000" y="4590288"/>
            <a:ext cx="14630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>
            <a:off x="10378440" y="4727448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5A3010"/>
          </a:solidFill>
          <a:ln/>
        </p:spPr>
      </p:sp>
      <p:sp>
        <p:nvSpPr>
          <p:cNvPr id="73" name="Text 71"/>
          <p:cNvSpPr/>
          <p:nvPr/>
        </p:nvSpPr>
        <p:spPr>
          <a:xfrm>
            <a:off x="10378440" y="4727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구조적 정합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74320" y="5175504"/>
            <a:ext cx="2926080" cy="548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75" name="Text 73"/>
          <p:cNvSpPr/>
          <p:nvPr/>
        </p:nvSpPr>
        <p:spPr>
          <a:xfrm>
            <a:off x="347472" y="5248656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#11 IVGF / Governance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246120" y="5175504"/>
            <a:ext cx="2560320" cy="548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77" name="Text 75"/>
          <p:cNvSpPr/>
          <p:nvPr/>
        </p:nvSpPr>
        <p:spPr>
          <a:xfrm>
            <a:off x="3319272" y="5248656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Causality / Teleology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852160" y="5175504"/>
            <a:ext cx="4389120" cy="548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79" name="Text 77"/>
          <p:cNvSpPr/>
          <p:nvPr/>
        </p:nvSpPr>
        <p:spPr>
          <a:xfrm>
            <a:off x="5925312" y="5248656"/>
            <a:ext cx="4242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 거버넌스 = 목적 기반 피드백 제어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10287000" y="5175504"/>
            <a:ext cx="1463040" cy="54864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81" name="Shape 79"/>
          <p:cNvSpPr/>
          <p:nvPr/>
        </p:nvSpPr>
        <p:spPr>
          <a:xfrm>
            <a:off x="10378440" y="5312664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5A3010"/>
          </a:solidFill>
          <a:ln/>
        </p:spPr>
      </p:sp>
      <p:sp>
        <p:nvSpPr>
          <p:cNvPr id="82" name="Text 80"/>
          <p:cNvSpPr/>
          <p:nvPr/>
        </p:nvSpPr>
        <p:spPr>
          <a:xfrm>
            <a:off x="10378440" y="5312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개념적 정합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274320" y="5760720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82"/>
          <p:cNvSpPr/>
          <p:nvPr/>
        </p:nvSpPr>
        <p:spPr>
          <a:xfrm>
            <a:off x="347472" y="583387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#21 AI Safety by Architecture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246120" y="5760720"/>
            <a:ext cx="25603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4"/>
          <p:cNvSpPr/>
          <p:nvPr/>
        </p:nvSpPr>
        <p:spPr>
          <a:xfrm>
            <a:off x="3319272" y="5833872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(XAI)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5852160" y="5760720"/>
            <a:ext cx="4389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6"/>
          <p:cNvSpPr/>
          <p:nvPr/>
        </p:nvSpPr>
        <p:spPr>
          <a:xfrm>
            <a:off x="5925312" y="5833872"/>
            <a:ext cx="4242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 설명가능성 = 마틴이 지적한 Blackbox AI 한계 극복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10287000" y="5760720"/>
            <a:ext cx="14630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Shape 88"/>
          <p:cNvSpPr/>
          <p:nvPr/>
        </p:nvSpPr>
        <p:spPr>
          <a:xfrm>
            <a:off x="10378440" y="589788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1A4E20"/>
          </a:solidFill>
          <a:ln/>
        </p:spPr>
      </p:sp>
      <p:sp>
        <p:nvSpPr>
          <p:cNvPr id="91" name="Text 89"/>
          <p:cNvSpPr/>
          <p:nvPr/>
        </p:nvSpPr>
        <p:spPr>
          <a:xfrm>
            <a:off x="10378440" y="5897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완전 정합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완전 정합: 마틴의 개념과 벨사넷 구조가 수학적/구조적으로 동일한 원리를 공유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7680960" y="6400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3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개념적 정합: 동일한 철학적 방향성을 공유하나 구현 레벨에서 상이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통찰  —  마틴이 찾고 있는 것 vs 벨사넷이 만든 것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74320" y="713232"/>
            <a:ext cx="5577840" cy="347472"/>
          </a:xfrm>
          <a:prstGeom prst="rect">
            <a:avLst/>
          </a:prstGeom>
          <a:solidFill>
            <a:srgbClr val="0B2A5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132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마틴 마이어가 탐구하는 방향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309360" y="713232"/>
            <a:ext cx="5577840" cy="347472"/>
          </a:xfrm>
          <a:prstGeom prst="rect">
            <a:avLst/>
          </a:prstGeom>
          <a:solidFill>
            <a:srgbClr val="0B2A50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0" y="7132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벨사넷이 구조적으로 구현한 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5577840" cy="960120"/>
          </a:xfrm>
          <a:prstGeom prst="rect">
            <a:avLst/>
          </a:prstGeom>
          <a:solidFill>
            <a:srgbClr val="0D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23444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Inference 에이전트에게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 몸이 필요하다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64792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6G ISAC으로 감각 접지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97880" y="144475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09360" y="1170432"/>
            <a:ext cx="5577840" cy="960120"/>
          </a:xfrm>
          <a:prstGeom prst="rect">
            <a:avLst/>
          </a:prstGeom>
          <a:solidFill>
            <a:srgbClr val="1A0D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23444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광코어 1개 = 개인 E2E 연결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1764792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4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물리적 Markov Blanket의 구현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21992"/>
            <a:ext cx="5577840" cy="960120"/>
          </a:xfrm>
          <a:prstGeom prst="rect">
            <a:avLst/>
          </a:prstGeom>
          <a:solidFill>
            <a:srgbClr val="0D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28600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오버레이가 아니라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구조 자체여야 한다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816352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Net4AI: 네트워크 for AI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897880" y="249631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09360" y="2221992"/>
            <a:ext cx="5577840" cy="960120"/>
          </a:xfrm>
          <a:prstGeom prst="rect">
            <a:avLst/>
          </a:prstGeom>
          <a:solidFill>
            <a:srgbClr val="1A0D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228600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위상기하학 기반 네트워크 공간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2816352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4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네트워크 구조가 AI의 몸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273552"/>
            <a:ext cx="5577840" cy="960120"/>
          </a:xfrm>
          <a:prstGeom prst="rect">
            <a:avLst/>
          </a:prstGeom>
          <a:solidFill>
            <a:srgbClr val="0D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333756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경험에서 인지로 — 아이처럼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몇 번의 경험으로 학습한다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867912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SEU 기반 경험 축적 + Cognition Cube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354787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309360" y="3273552"/>
            <a:ext cx="5577840" cy="960120"/>
          </a:xfrm>
          <a:prstGeom prst="rect">
            <a:avLst/>
          </a:prstGeom>
          <a:solidFill>
            <a:srgbClr val="1A0D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333756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= 시간 경계 경험 단위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(0.8~1.5초)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3867912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4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마틴의 '경험 기반 학습' 구조체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325112"/>
            <a:ext cx="5577840" cy="960120"/>
          </a:xfrm>
          <a:prstGeom prst="rect">
            <a:avLst/>
          </a:prstGeom>
          <a:solidFill>
            <a:srgbClr val="0D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1480" y="438912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의도(Intent)가 중심인 AI가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진정한 AI다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4919472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I축 (Intent Axis): 의도 기반 인지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59943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309360" y="4325112"/>
            <a:ext cx="5577840" cy="960120"/>
          </a:xfrm>
          <a:prstGeom prst="rect">
            <a:avLst/>
          </a:prstGeom>
          <a:solidFill>
            <a:srgbClr val="1A0D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46520" y="438912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 Cube T/C/I/E 4축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46520" y="4919472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4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Active Inference의 POMDP 구조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5376672"/>
            <a:ext cx="5577840" cy="960120"/>
          </a:xfrm>
          <a:prstGeom prst="rect">
            <a:avLst/>
          </a:prstGeom>
          <a:solidFill>
            <a:srgbClr val="0D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11480" y="544068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모듈이 아니라 살아있는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생태계여야 한다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5971032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PAI/AAI/AsAI 중첩 Markov 구조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65099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309360" y="5376672"/>
            <a:ext cx="5577840" cy="960120"/>
          </a:xfrm>
          <a:prstGeom prst="rect">
            <a:avLst/>
          </a:prstGeom>
          <a:solidFill>
            <a:srgbClr val="1A0D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46520" y="544068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PAI→AAI→AsAI 3계층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46520" y="5971032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4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중첩 Markov Blanket 위계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마틴은 개념(What)을 탐구하고, 벨사넷은 구조(How)를 설계했다 — 완벽한 협력 관계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④  Dark-Room Problem &amp; Psychoactives — 창의성의 열쇠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74320" y="713232"/>
            <a:ext cx="3474720" cy="2286000"/>
          </a:xfrm>
          <a:prstGeom prst="rect">
            <a:avLst/>
          </a:prstGeom>
          <a:solidFill>
            <a:srgbClr val="1A1A4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804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Dark-Room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FEP의 역설: 놀라움을 최소화하면 어두운 방에 들어가 아무것도 안 하면 된다.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하지만 생물체는 그러지 않는다.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탐구, 창의성, 놀이가 왜 존재하는가?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Active Inference에 '무언가 더 큰 원리'가 필요함을 시사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023360" y="713232"/>
            <a:ext cx="3474720" cy="2286000"/>
          </a:xfrm>
          <a:prstGeom prst="rect">
            <a:avLst/>
          </a:prstGeom>
          <a:solidFill>
            <a:srgbClr val="3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0" y="804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REBUS 모델 (Psychoactives)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170432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사이키델릭은 FEP를 일시적으로 '위반'하여 뇌 엔트로피를 증가시킨다.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RElaxed Beliefs Under pSychedelics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자유에너지 지형을 평탄화, 창의성 폭발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정신치료에서 신경가소성 극대화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Psychedelic Afterglow: 일시적 효과가 영구적 변화로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0" y="713232"/>
            <a:ext cx="4114800" cy="2286000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0" y="804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Enlightened Brain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0" y="1170432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Dark-Room Problem의 해결책은 외부 환경을 더 자극적으로 만드는 게 아니라, 내면으로 향하는 것일 수 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 Network(DMN): 뇌 에너지의 60-80%가 '아무것도 안 할 때' 소비된다.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뇌의 Dark Energy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Enlightenment &gt; AI Embodiment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154680"/>
            <a:ext cx="1161288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3154680"/>
            <a:ext cx="1161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벨사넷 연관성 분석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93592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657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#19 Cognition Cube — E축 (Emotion Axis)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096512"/>
            <a:ext cx="1645920" cy="237744"/>
          </a:xfrm>
          <a:prstGeom prst="roundRect">
            <a:avLst>
              <a:gd name="adj" fmla="val 11538"/>
            </a:avLst>
          </a:prstGeom>
          <a:solidFill>
            <a:srgbClr val="1A4E2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0965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잠재적 정합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4407408"/>
            <a:ext cx="356616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E축의 감정 상태(Affective State)와 중요도 가중치는 Psychoactives가 FEP를 일시 위반해 새로운 패턴을 학습하는 메커니즘과 유사. 중요도 가중치 재조정 = 일종의 구조적 Psychedelic 효과.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06240" y="3593592"/>
            <a:ext cx="3749040" cy="256032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97680" y="3657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#09 PAI 레이어 — 경험 축적 구조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4096512"/>
            <a:ext cx="1645920" cy="237744"/>
          </a:xfrm>
          <a:prstGeom prst="roundRect">
            <a:avLst>
              <a:gd name="adj" fmla="val 11538"/>
            </a:avLst>
          </a:prstGeom>
          <a:solidFill>
            <a:srgbClr val="1A4E20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40965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개념적 정합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0" y="4407408"/>
            <a:ext cx="356616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PAI가 경험을 축적할 때 '어두운 방 문제'와 동일한 딜레마 직면: 새로운 경험 탐색 vs 기존 패턴 강화. 벨사넷의 PAI 설계에 탐색-활용 균형 메커니즘 추가 고려 필요.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38160" y="3593592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0" y="3657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연구 방향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0" y="4096512"/>
            <a:ext cx="1645920" cy="237744"/>
          </a:xfrm>
          <a:prstGeom prst="roundRect">
            <a:avLst>
              <a:gd name="adj" fmla="val 11538"/>
            </a:avLst>
          </a:prstGeom>
          <a:solidFill>
            <a:srgbClr val="1A4E20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40965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미래 과제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0" y="4407408"/>
            <a:ext cx="356616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마틴의 Psychoactives 연구는 벨사넷의 AI 학습 메커니즘에 '구조적 창의성'을 추가할 수 있는 이론적 기반. FEP를 일시적으로 위반하는 탐색 모드를 벨사넷 AI 계층에 통합하는 연구 가치 있음.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Maier et al., INFOCOM EIN Workshop; Maier et al., IEEE IS submitted (REBUS + Active Inference)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 —  마틴 마이어 × 벨사넷: 개념과 구조의 만남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669280" cy="2331720"/>
          </a:xfrm>
          <a:prstGeom prst="rect">
            <a:avLst/>
          </a:prstGeom>
          <a:solidFill>
            <a:srgbClr val="0D1E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0" cy="2331720"/>
          </a:xfrm>
          <a:prstGeom prst="rect">
            <a:avLst/>
          </a:prstGeom>
          <a:solidFill>
            <a:srgbClr val="0B7A8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8745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16128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마틴은 '왜'를 탐구한다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4754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Inference, FEP, 균근 네트워크 — 마틴의 연구는 지능이 어떻게 작동하는가에 대한 근본 원리를 탐구합니다. 수학과 생물학에서 AI의 미래를 찾습니다.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051560"/>
            <a:ext cx="5669280" cy="2331720"/>
          </a:xfrm>
          <a:prstGeom prst="rect">
            <a:avLst/>
          </a:prstGeom>
          <a:solidFill>
            <a:srgbClr val="0D1E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051560"/>
            <a:ext cx="640080" cy="2331720"/>
          </a:xfrm>
          <a:prstGeom prst="rect">
            <a:avLst/>
          </a:prstGeom>
          <a:solidFill>
            <a:srgbClr val="C47B00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745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95160" y="116128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벨사넷은 '어떻게'를 설계했다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5160" y="1600200"/>
            <a:ext cx="4754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광코어 E2E, 다면체 위상, PAI/AAI/AsAI, Cognition Cube — 벨사넷은 마틴이 탐구하는 원리를 네트워크 구조로 구현한 아키텍처입니다. 개념의 구조적 실체화.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5669280" cy="2331720"/>
          </a:xfrm>
          <a:prstGeom prst="rect">
            <a:avLst/>
          </a:prstGeom>
          <a:solidFill>
            <a:srgbClr val="0D1E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11880"/>
            <a:ext cx="640080" cy="23317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44348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372160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접근은 완벽하게 보완적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4160520"/>
            <a:ext cx="4754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마틴: 개념(Concept) → 수학(Math) → 시뮬레이션(Simulation)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벨사넷: 구조(Structure) → 표준(Standard) → 구현(Implementation)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접근이 만나면 진정한 AI-Native 6G가 탄생합니다.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3611880"/>
            <a:ext cx="5669280" cy="2331720"/>
          </a:xfrm>
          <a:prstGeom prst="rect">
            <a:avLst/>
          </a:prstGeom>
          <a:solidFill>
            <a:srgbClr val="0D1E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3611880"/>
            <a:ext cx="640080" cy="2331720"/>
          </a:xfrm>
          <a:prstGeom prst="rect">
            <a:avLst/>
          </a:prstGeom>
          <a:solidFill>
            <a:srgbClr val="1A6E3A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4348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95160" y="372160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FG-EAI/AINN 기고의 의미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4160520"/>
            <a:ext cx="4754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협력은 단순한 학술 교류가 아닙니다. 마틴의 Active Inference 개념 + 벨사넷의 구조적 구현 = ITU 국제표준으로 기록될 AI-Native 네트워크의 철학적·구조적 기반입니다.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"마틴은 개념의 우주를 탐험하고, 벨사넷은 그 우주의 건축물을 짓는다"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2026-04-09T23:17:22Z</dcterms:created>
  <dcterms:modified xsi:type="dcterms:W3CDTF">2026-04-09T23:17:22Z</dcterms:modified>
</cp:coreProperties>
</file>