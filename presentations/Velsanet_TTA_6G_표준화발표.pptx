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82296"/>
            <a:ext cx="320040" cy="49789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0" y="274320"/>
            <a:ext cx="4114800" cy="4114800"/>
          </a:xfrm>
          <a:prstGeom prst="ellipse">
            <a:avLst/>
          </a:prstGeom>
          <a:solidFill>
            <a:srgbClr val="1A2F5E">
              <a:alpha val="60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005840"/>
            <a:ext cx="2560320" cy="256032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822960"/>
            <a:ext cx="310896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8229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ITU-T SG13  |  ICT 표준화 전략 Ver.2027  이동통신 분과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Velsanet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548640" y="217627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6G 구조 네이티브 이동통신 아키텍처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267004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2E8F0"/>
                </a:solidFill>
              </a:rPr>
              <a:t>표준화 수요조사 발표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218688"/>
            <a:ext cx="438912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401568"/>
            <a:ext cx="160020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0156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Contribution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12848" y="34015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6G RAN 구조 혁신  —  DU/CU 없는 광학 네이티브 무선접속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85616"/>
            <a:ext cx="160020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78561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Contribution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12848" y="3785616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6G AI-Native 망 지능화  —  구조 내장 AI 및 주권 거버넌스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73752"/>
            <a:ext cx="9144000" cy="187452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873752"/>
            <a:ext cx="822960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TTA ICT 표준화 전략 Ver.2027  |  이동통신 분과  |  2025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6G / IMT-2030  —  이동통신 분과의 핵심 과제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0233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402336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22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5G O-RAN 구조의 한계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749040" cy="5669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08760"/>
            <a:ext cx="64008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5361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RU → DU → CU → 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764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3단계 기능 분리로 인한 처리 지연 누적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67128"/>
            <a:ext cx="3749040" cy="5669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167128"/>
            <a:ext cx="64008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194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패킷 교환 기반 전송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소프트웨어 스케줄링 한계 — 비결정적 지연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825496"/>
            <a:ext cx="3749040" cy="5669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825496"/>
            <a:ext cx="64008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8529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AI 외부 오버레이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30815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망 위에 AI를 덧붙이는 구조 — 실시간 한계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483864"/>
            <a:ext cx="3749040" cy="566928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483864"/>
            <a:ext cx="64008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5112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인터페이스 복잡성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" y="3739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eCPRI / F1 / N3 — 다중 인터페이스 관리 부담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822960"/>
            <a:ext cx="402336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822960"/>
            <a:ext cx="4023360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8229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IMT-2030 (6G) 핵심 요구사항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937760" y="1508760"/>
            <a:ext cx="374904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37760" y="1508760"/>
            <a:ext cx="64008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15361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서브밀리초 지연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74920" y="1764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패킷 처리 계층 제거 → 구조적으로만 달성 가능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2167128"/>
            <a:ext cx="374904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37760" y="2167128"/>
            <a:ext cx="64008" cy="5669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2194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극한 신뢰성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74920" y="24231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소프트웨어 보상이 아닌 물리 구조로 보장 필요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37760" y="2825496"/>
            <a:ext cx="374904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37760" y="2825496"/>
            <a:ext cx="6400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74920" y="28529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AI-Native 망 운용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74920" y="30815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AI가 망 위가 아닌 망 내부 구조에 내장되어야 함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937760" y="3483864"/>
            <a:ext cx="3749040" cy="566928"/>
          </a:xfrm>
          <a:prstGeom prst="rect">
            <a:avLst/>
          </a:prstGeom>
          <a:solidFill>
            <a:srgbClr val="F0FDFA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0" y="3483864"/>
            <a:ext cx="64008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74920" y="35112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국가 주권 보장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74920" y="37398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정책이 아닌 네트워크 구조 자체에 인코딩 필요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Velsanet  |  ITU-T SG13 표준화 수요조사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55448"/>
            <a:ext cx="16916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54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Contribution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286000" y="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6G RAN 구조 혁신  —  DU/CU 없는 광학 네이티브 무선접속  (WI-A, B, E)  |  Q22/13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402336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4023360" cy="47548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0467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기존 5G O-RAN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1444752"/>
            <a:ext cx="77724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4475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기지국 (RU)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261872" y="144475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417320" y="1444752"/>
            <a:ext cx="77724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144475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분산장치 (DU)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130552" y="144475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0" y="1444752"/>
            <a:ext cx="77724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144475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중앙장치 (CU)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99232" y="1444752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54680" y="1444752"/>
            <a:ext cx="77724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1444752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코어망 (Core)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20848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✕  eCPRI / F1 / N3 — 3개 인터페이스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23317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✕  DU: PHY/MAC 처리 + 스케줄링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5786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✕  CU: 세션 관리 + 라우팅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8254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✕  패킷 경쟁 → 비결정적 지연 구조적 내재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407408" y="1645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</a:rPr>
              <a:t>→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4800600" y="804672"/>
            <a:ext cx="4023360" cy="2377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804672"/>
            <a:ext cx="402336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80467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Velsanet H6 기반 6G RAN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83480" y="1444752"/>
            <a:ext cx="1051560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44475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6G 기지국 (RU)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989320" y="144475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→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72200" y="1444752"/>
            <a:ext cx="1051560" cy="45720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144475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H6 노드 Face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178040" y="1444752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→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60920" y="1444752"/>
            <a:ext cx="1051560" cy="457200"/>
          </a:xfrm>
          <a:prstGeom prst="rect">
            <a:avLst/>
          </a:prstGeom>
          <a:solidFill>
            <a:srgbClr val="A7F3D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60920" y="144475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광코어 E2E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937760" y="20848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✓  MOCT 리본케이블 1개 — 단일 물리 연결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0" y="23317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✓  DU / CU 불필요 — 구조적으로 기능 대체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37760" y="25786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✓  물리 격리 광코어 — 패킷 경쟁 없음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937760" y="282549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✓  서브밀리초 지연 — 구조적 보장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338328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3383280"/>
            <a:ext cx="269748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3383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WI-A  6G 구조 프리미티브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11480" y="3895344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H6 노드 기반 폴리헤드럴 위상 구조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— 6G 소형셀 밀집 배치 최적 설계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154680" y="338328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3154680" y="3383280"/>
            <a:ext cx="2697480" cy="4572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46120" y="3383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WI-B  광학 네이티브 전송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3246120" y="3895344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MOCT 기반 물리 격리 광코어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— 결정적 E2E 연결, 커넥터 없음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989320" y="3383280"/>
            <a:ext cx="269748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989320" y="3383280"/>
            <a:ext cx="269748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80760" y="3383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WI-E  구조 수학 기반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080760" y="3895344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다층 그래프 이론 형식화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— 비충돌 제약으로 병렬성 보장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Velsanet  |  ITU-T SG13 표준화 수요조사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55448"/>
            <a:ext cx="16916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5544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3E"/>
                </a:solidFill>
              </a:rPr>
              <a:t>Contribution 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286000" y="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6G AI-Native 망 지능화 및 구조 기반 주권 거버넌스  (WI-C, D)  |  Q20/13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4160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416052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0467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B3E"/>
                </a:solidFill>
              </a:rPr>
              <a:t>WI-C  |  6G AI-Native 망 지능화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1828800" cy="347472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173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기존 6G AI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18105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망 위에 AI 서비스 계층 추가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→ 지연·거버넌스 갭 발생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59152" y="1719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vs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06624" y="1417320"/>
            <a:ext cx="164592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06624" y="14173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Velsanet AI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06624" y="18105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망 구조 내부에 AI 내장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→ 구조적으로 보장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239572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3계층 구조 내장 AI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761488"/>
            <a:ext cx="3566160" cy="594360"/>
          </a:xfrm>
          <a:prstGeom prst="rect">
            <a:avLst/>
          </a:prstGeom>
          <a:solidFill>
            <a:srgbClr val="7C3AED">
              <a:alpha val="9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276148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AsAI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43000" y="2761488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I₂₀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45920" y="27614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사회적 합의 기반 전략 AI — 국가 간 조율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6928" y="3465576"/>
            <a:ext cx="3337560" cy="594360"/>
          </a:xfrm>
          <a:prstGeom prst="rect">
            <a:avLst/>
          </a:prstGeom>
          <a:solidFill>
            <a:srgbClr val="0369A1">
              <a:alpha val="92000"/>
            </a:srgbClr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46557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AAI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52728" y="3465576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D₁₂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55648" y="3465576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지역 클러스터 조율 AI — O8 간 조정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" y="4169664"/>
            <a:ext cx="3108960" cy="594360"/>
          </a:xfrm>
          <a:prstGeom prst="rect">
            <a:avLst/>
          </a:prstGeom>
          <a:solidFill>
            <a:srgbClr val="0D9488">
              <a:alpha val="9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41696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62456" y="4169664"/>
            <a:ext cx="457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O₈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865376" y="416966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로컬 의사결정 AI — 엣지 인텔리전스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804672"/>
            <a:ext cx="41605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804672"/>
            <a:ext cx="4160520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804672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WI-D  |  구조 기반 국가 주권 거버넌스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4800600" y="1444752"/>
            <a:ext cx="3886200" cy="91440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1444752"/>
            <a:ext cx="64008" cy="9144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148132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</a:rPr>
              <a:t>프로젝션 기반 조율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937760" y="177393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상위 계층이 명령이 아닌 구조적 상태 투영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 중앙 통제 없이 글로벌 조율 실현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00600" y="2496312"/>
            <a:ext cx="3886200" cy="91440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2496312"/>
            <a:ext cx="64008" cy="9144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253288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</a:rPr>
              <a:t>국가 주권 구조 인코딩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937760" y="282549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국가 주권이 Q4 레이어 자체에 인코딩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→ 정책이 아닌 아키텍처로 보장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00600" y="3547872"/>
            <a:ext cx="3886200" cy="914400"/>
          </a:xfrm>
          <a:prstGeom prst="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0600" y="3547872"/>
            <a:ext cx="64008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358444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3E"/>
                </a:solidFill>
              </a:rPr>
              <a:t>기존 정책 거버넌스 대비 우위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937760" y="3877056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정책은 우회·무시 가능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Velsanet은 구조적으로 위반 불가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983480"/>
            <a:ext cx="82296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Velsanet  |  ITU-T SG13 표준화 수요조사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61204"/>
            <a:ext cx="9144000" cy="822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표준화 항목 제안 요약  &amp;  참고 백서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D9488"/>
                </a:solidFill>
              </a:rPr>
              <a:t>ICT 표준화 전략 Ver.2027  |  이동통신 분과  |  ITU-T SG13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3886200" cy="2331720"/>
          </a:xfrm>
          <a:prstGeom prst="rect">
            <a:avLst/>
          </a:prstGeom>
          <a:solidFill>
            <a:srgbClr val="1A2F5E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24128"/>
            <a:ext cx="3886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2412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Contribution 1  |  Q22/13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664208"/>
            <a:ext cx="6400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66420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WI-A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07008" y="166420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6G 구조 네이티브 네트워크 위상 설계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6400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21284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WI-B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07008" y="221284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광학 네이티브 E2E 전송 (MOCT)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761488"/>
            <a:ext cx="64008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76148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WI-E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07008" y="276148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구조 수학 기반 형식화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37760" y="1024128"/>
            <a:ext cx="3886200" cy="2331720"/>
          </a:xfrm>
          <a:prstGeom prst="rect">
            <a:avLst/>
          </a:prstGeom>
          <a:solidFill>
            <a:srgbClr val="1A2F5E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1024128"/>
            <a:ext cx="388620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02412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</a:rPr>
              <a:t>Contribution 2  |  Q20/13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120640" y="1664208"/>
            <a:ext cx="64008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66420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WI-C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24728" y="166420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6G AI-Native 3계층 망 지능화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20640" y="2212848"/>
            <a:ext cx="640080" cy="43891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21284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3E"/>
                </a:solidFill>
              </a:rPr>
              <a:t>WI-D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24728" y="221284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구조 기반 국가 주권 거버넌스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70832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</a:rPr>
              <a:t>+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320040" y="3493008"/>
            <a:ext cx="8503920" cy="347472"/>
          </a:xfrm>
          <a:prstGeom prst="rect">
            <a:avLst/>
          </a:prstGeom>
          <a:solidFill>
            <a:srgbClr val="243B6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4930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참고 백서 (상세 내용)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11480" y="3941064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90448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WP#01 Network Architecture Overview  /  WP#03 MOCT Architecture  /  WP#05 Spatial Genesis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1480" y="4178808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1422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WP#09 PAI/AAI/AsAI Three-Layer AI  /  WP#10 Network AI (Hypercube)  /  WP#12 Foundation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11480" y="4416552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379976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WP#15 Identity  /  WP#17 Path Lifecycle  /  WP#18 Global Governance  /  WP#22 H6 6G RAN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1480" y="4654296"/>
            <a:ext cx="109728" cy="1097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617720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ITU-R M.2160 (IMT-2030 Framework)  /  O-RAN Architecture v7.0  /  3GPP TS 38.401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Velsanet 6G 표준화 수요조사</dc:title>
  <dc:subject>PptxGenJS Presentation</dc:subject>
  <dc:creator>PptxGenJS</dc:creator>
  <cp:lastModifiedBy>PptxGenJS</cp:lastModifiedBy>
  <cp:revision>1</cp:revision>
  <dcterms:created xsi:type="dcterms:W3CDTF">2026-03-18T00:19:35Z</dcterms:created>
  <dcterms:modified xsi:type="dcterms:W3CDTF">2026-03-18T00:19:35Z</dcterms:modified>
</cp:coreProperties>
</file>