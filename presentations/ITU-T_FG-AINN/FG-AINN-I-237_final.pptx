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3" d="100"/>
          <a:sy n="133" d="100"/>
        </p:scale>
        <p:origin x="13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6717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0"/>
            <a:ext cx="3200400" cy="43891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65760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657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ITU-T  FG-AINN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FG-AINN-I-237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5303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for a Topology-First,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Optical-Native Network Architecture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IMT-2030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2918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A: Topology-First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14600" y="329184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32918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B: Optical-Native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329184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32918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E: Math Framework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0" y="4572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Meeting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5–7 May 2026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0" y="1417320"/>
            <a:ext cx="2194560" cy="0"/>
          </a:xfrm>
          <a:prstGeom prst="line">
            <a:avLst/>
          </a:prstGeom>
          <a:noFill/>
          <a:ln w="6350">
            <a:solidFill>
              <a:srgbClr val="AEB6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508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26480" y="17830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Changho Song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joa337@gmail.com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the Foundation — Not Optimizing the Past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46720" y="44805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Current Networks Cannot Meet IMT-2030 Targets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132320" y="164592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1645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FG-AINN-I-237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62179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— Structural limitations that cannot be resolved through optimization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737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Changho Song  |  FG-AINN  |  Virtual, 5–7 May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46720" y="4873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097280"/>
            <a:ext cx="41148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097280"/>
            <a:ext cx="73152" cy="150876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2070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Congestion &amp; Latency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157276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queuing introduces non-determinism. No software can eliminate it — it is architectural.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097280"/>
            <a:ext cx="41148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097280"/>
            <a:ext cx="73152" cy="150876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2070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Address-Based Security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157276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is detached from physical transmission paths, making spoofing structurally possible.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788920"/>
            <a:ext cx="41148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788920"/>
            <a:ext cx="73152" cy="150876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8986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 an Overlay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26440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is applied to a network not designed for it — inference latency, coordination overhead.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788920"/>
            <a:ext cx="41148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788920"/>
            <a:ext cx="73152" cy="150876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28986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Topology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37760" y="326440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space is undefined before addressing. Structural verification at design time is impossible.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4320" y="452628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not bugs — they are consequences of a foundational design choice made 50 years ago.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Velsanet — Five Work Items for IMT-2030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132320" y="164592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1645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FG-AINN-I-237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62179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structural framework for IMT-2030 — two contributions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737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Changho Song  |  FG-AINN  |  Virtual, 5–7 May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46720" y="4873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" y="987552"/>
            <a:ext cx="1444752" cy="228600"/>
          </a:xfrm>
          <a:prstGeom prst="roundRect">
            <a:avLst>
              <a:gd name="adj" fmla="val 16000"/>
            </a:avLst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987552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FG-AINN-I-237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37160" y="1252728"/>
            <a:ext cx="1627632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37160" y="1252728"/>
            <a:ext cx="1627632" cy="438912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" y="1271016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1168" y="1755648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Topology-First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1168" y="2093976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before address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01168" y="2377440"/>
            <a:ext cx="149961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polyhedral primitives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(T4,H6,O8,D12,I20) define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space before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addressing occurs.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002536" y="987552"/>
            <a:ext cx="1444752" cy="228600"/>
          </a:xfrm>
          <a:prstGeom prst="roundRect">
            <a:avLst>
              <a:gd name="adj" fmla="val 16000"/>
            </a:avLst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02536" y="987552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FG-AINN-I-237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911096" y="1252728"/>
            <a:ext cx="1627632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911096" y="1252728"/>
            <a:ext cx="1627632" cy="438912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75104" y="1271016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B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975104" y="1755648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Optical-Native E2E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975104" y="2093976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packet switching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75104" y="2377440"/>
            <a:ext cx="149961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MOCT: physically isolated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optical cores.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Parallelism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by structure.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776472" y="987552"/>
            <a:ext cx="1444752" cy="228600"/>
          </a:xfrm>
          <a:prstGeom prst="roundRect">
            <a:avLst>
              <a:gd name="adj" fmla="val 16000"/>
            </a:avLst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76472" y="987552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FG-AINN-I-236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685032" y="1252728"/>
            <a:ext cx="1627632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85032" y="1252728"/>
            <a:ext cx="1627632" cy="438912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49040" y="1271016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C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749040" y="1755648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AI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749040" y="2093976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inside, not on top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749040" y="2377440"/>
            <a:ext cx="149961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 / AAI / AsAI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bound to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topological domain.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API, no round-trip.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550408" y="987552"/>
            <a:ext cx="1444752" cy="228600"/>
          </a:xfrm>
          <a:prstGeom prst="roundRect">
            <a:avLst>
              <a:gd name="adj" fmla="val 16000"/>
            </a:avLst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50408" y="987552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FG-AINN-I-236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458968" y="1252728"/>
            <a:ext cx="1627632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458968" y="1252728"/>
            <a:ext cx="1627632" cy="43891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22976" y="1271016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522976" y="1755648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522976" y="2093976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projection-based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522976" y="2377440"/>
            <a:ext cx="149961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projection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(Q2 global → Q4 national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Q7 district).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Sovereignty as structural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 — no central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required.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324344" y="987552"/>
            <a:ext cx="1444752" cy="228600"/>
          </a:xfrm>
          <a:prstGeom prst="roundRect">
            <a:avLst>
              <a:gd name="adj" fmla="val 16000"/>
            </a:avLst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24344" y="987552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FG-AINN-I-237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232904" y="1252728"/>
            <a:ext cx="1627632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232904" y="1252728"/>
            <a:ext cx="1627632" cy="438912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296912" y="1271016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296912" y="1755648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Framework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296912" y="2093976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structural grounding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296912" y="2377440"/>
            <a:ext cx="149961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graph G=(V,E,L)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hypercube mapping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Non-collision constraint: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Core(rᵢ)∩Core(rⱼ)=∅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with ITU-T Y.3001 and ITU-R M.2160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132320" y="164592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1645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FG-AINN-I-237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62179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Velsanet structurally meets IMT-2030 requirements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737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Changho Song  |  FG-AINN  |  Virtual, 5–7 May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46720" y="4873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097280"/>
            <a:ext cx="3474720" cy="594360"/>
          </a:xfrm>
          <a:prstGeom prst="rect">
            <a:avLst/>
          </a:prstGeom>
          <a:solidFill>
            <a:srgbClr val="E1F5EE"/>
          </a:solidFill>
          <a:ln w="6350">
            <a:solidFill>
              <a:srgbClr val="148F7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86200" y="1097280"/>
            <a:ext cx="49377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1430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data rate: 1 Tbps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005072" y="1133856"/>
            <a:ext cx="4709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MOCT core carries a dedicated 1 Tbps light path. Throughput scales linearly with core count.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1810512"/>
            <a:ext cx="3474720" cy="594360"/>
          </a:xfrm>
          <a:prstGeom prst="rect">
            <a:avLst/>
          </a:prstGeom>
          <a:solidFill>
            <a:srgbClr val="E1F5EE"/>
          </a:solidFill>
          <a:ln w="6350">
            <a:solidFill>
              <a:srgbClr val="148F7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86200" y="1810512"/>
            <a:ext cx="49377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185623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Over-the-air latency: &lt; 0.1 ms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005072" y="1847088"/>
            <a:ext cx="4709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queuing eliminated entirely. E2E traversal bounded by propagation delay alone — structural guarantee.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2523744"/>
            <a:ext cx="3474720" cy="594360"/>
          </a:xfrm>
          <a:prstGeom prst="rect">
            <a:avLst/>
          </a:prstGeom>
          <a:solidFill>
            <a:srgbClr val="E1F5EE"/>
          </a:solidFill>
          <a:ln w="6350">
            <a:solidFill>
              <a:srgbClr val="148F7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86200" y="2523744"/>
            <a:ext cx="49377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56946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density: 10M devices/km²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005072" y="2560320"/>
            <a:ext cx="4709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Parallelism: Core(rᵢ) ∩ Core(rⱼ) = ∅. No contention under load.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3236976"/>
            <a:ext cx="3474720" cy="594360"/>
          </a:xfrm>
          <a:prstGeom prst="rect">
            <a:avLst/>
          </a:prstGeom>
          <a:solidFill>
            <a:srgbClr val="E1F5EE"/>
          </a:solidFill>
          <a:ln w="6350">
            <a:solidFill>
              <a:srgbClr val="148F7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86200" y="3236976"/>
            <a:ext cx="49377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282696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AI integration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005072" y="3273552"/>
            <a:ext cx="4709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embedded structurally at each polyhedral node tier — not as external service.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3950208"/>
            <a:ext cx="3474720" cy="594360"/>
          </a:xfrm>
          <a:prstGeom prst="rect">
            <a:avLst/>
          </a:prstGeom>
          <a:solidFill>
            <a:srgbClr val="E1F5EE"/>
          </a:solidFill>
          <a:ln w="6350">
            <a:solidFill>
              <a:srgbClr val="148F7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86200" y="3950208"/>
            <a:ext cx="49377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399592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Zero-trust security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005072" y="3986784"/>
            <a:ext cx="4709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established at spatial genesis phase through structural conformance, not cryptographic protocols.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74320" y="9418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IMT-2030 Requirement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886200" y="94183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Velsanet Structural Response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A — Topology-First Network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132320" y="164592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1645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FG-AINN-I-237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62179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Pre-coordinate spatial definition using five polyhedral structural primitives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737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Changho Song  |  FG-AINN  |  Virtual, 5–7 May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46720" y="4873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0058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Velsanet, network space is defined before addressing.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existence is a geometric property — not a routing computation.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691640"/>
            <a:ext cx="155448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691640"/>
            <a:ext cx="1554480" cy="50292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719072"/>
            <a:ext cx="1463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Tetrahedron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" y="22585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faces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" y="257860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entry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point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011680" y="1691640"/>
            <a:ext cx="155448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011680" y="1691640"/>
            <a:ext cx="1554480" cy="50292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57400" y="1719072"/>
            <a:ext cx="1463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H6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Hexahedron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057400" y="22585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faces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057400" y="257860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Wired / wireless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node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749040" y="1691640"/>
            <a:ext cx="155448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49040" y="1691640"/>
            <a:ext cx="1554480" cy="50292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94760" y="1719072"/>
            <a:ext cx="1463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O8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Octahedron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794760" y="22585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faces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794760" y="257860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  ·  City-scale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center node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0" y="1691640"/>
            <a:ext cx="155448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86400" y="1691640"/>
            <a:ext cx="1554480" cy="50292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32120" y="1719072"/>
            <a:ext cx="1463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Dodecahedron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32120" y="22585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faces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32120" y="257860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AAI  ·  Regional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center node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223760" y="1691640"/>
            <a:ext cx="155448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223760" y="1691640"/>
            <a:ext cx="1554480" cy="50292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69480" y="1719072"/>
            <a:ext cx="1463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I20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Icosahedron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269480" y="22585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faces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269480" y="257860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AsAI  ·  National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center node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691640" y="2971800"/>
            <a:ext cx="320040" cy="0"/>
          </a:xfrm>
          <a:prstGeom prst="line">
            <a:avLst/>
          </a:prstGeom>
          <a:noFill/>
          <a:ln w="12700">
            <a:solidFill>
              <a:srgbClr val="AEB6B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429000" y="2971800"/>
            <a:ext cx="320040" cy="0"/>
          </a:xfrm>
          <a:prstGeom prst="line">
            <a:avLst/>
          </a:prstGeom>
          <a:noFill/>
          <a:ln w="12700">
            <a:solidFill>
              <a:srgbClr val="AEB6B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166360" y="2971800"/>
            <a:ext cx="320040" cy="0"/>
          </a:xfrm>
          <a:prstGeom prst="line">
            <a:avLst/>
          </a:prstGeom>
          <a:noFill/>
          <a:ln w="12700">
            <a:solidFill>
              <a:srgbClr val="AEB6B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903720" y="2971800"/>
            <a:ext cx="320040" cy="0"/>
          </a:xfrm>
          <a:prstGeom prst="line">
            <a:avLst/>
          </a:prstGeom>
          <a:noFill/>
          <a:ln w="12700">
            <a:solidFill>
              <a:srgbClr val="AEB6B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36168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grammar — no additional primitives needed or admitted. Topology verifiable at construction time.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B — MOCT Physical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132320" y="164592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1645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FG-AINN-I-237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62179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Velsanet Multi-Optical-Core Transceiver — four-layer integrated structure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737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Changho Song  |  FG-AINN  |  Virtual, 5–7 May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46720" y="4873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MOCT is a fixed, non-pluggable photonic module integrated directly with the polyhedral matrix.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connectors. No switching. No round-trip.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1490472"/>
            <a:ext cx="8595360" cy="795528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490472"/>
            <a:ext cx="1188720" cy="795528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" y="1682496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00200" y="1536192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Polymer-form Optical Core Layer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00200" y="181776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core divided into 8 fixed physical channels: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Ch1 — Sensing &amp; control (auth, alignment, bootstrap)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Ch2–8 — Parallel optical data transmission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&amp; non-switchable → deterministic, passive, immune to interference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377440"/>
            <a:ext cx="8595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377440"/>
            <a:ext cx="1188720" cy="713232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" y="2487168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600200" y="2441448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Ultra-fine Mechanical Contact Layer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600200" y="269748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Micron-level alignment between optical core and semiconductor matrix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(no moving/switching elements) · Permanent pressure &amp; alignment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Vibration-resistant · Zero operational power required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182112"/>
            <a:ext cx="8595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182112"/>
            <a:ext cx="1188720" cy="71323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" y="3291840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600200" y="3246120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Semiconductor &amp; MEMS Alignment Layer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600200" y="350215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Silicon photonics matrix + static MEMS alignment structures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Lithographic precision · High-density optical contact arrays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hundreds of cores · Defective cores auto-excluded via Ch1 sensing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3986784"/>
            <a:ext cx="8595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3986784"/>
            <a:ext cx="1188720" cy="713232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2608" y="4096512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600200" y="4050792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Pre-attached Fiber Layer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600200" y="430682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Permanently fused at factory — 5m+ length, non-detachable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connector loss · No insertion-loss variation · No field maintenance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optical substrate from matrix to extended physical layer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74320" y="480060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fixed optics · semiconductor-grade alignment · MEMS stability · permanently fused fibers → solid-state optical medium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E — Mathematical Framework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132320" y="164592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1645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FG-AINN-I-237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62179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graph theory, Q7 hypercube mapping, non-collision constraint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737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Changho Song  |  FG-AINN  |  Virtual, 5–7 May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46720" y="4873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051560"/>
            <a:ext cx="265176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051560"/>
            <a:ext cx="2651760" cy="438912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069848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Graph Model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" y="1572768"/>
            <a:ext cx="243230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= (V, E, L)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polyhedral nodes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directed optical connections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structural layers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Super-adjacency matrix enforces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decomposition at design time.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0" y="1051560"/>
            <a:ext cx="265176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051560"/>
            <a:ext cx="2651760" cy="43891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0128" y="1069848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Hypercube Mapping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10128" y="1572768"/>
            <a:ext cx="243230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Q⁷ = ({0,1}⁷, E)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(u,v) ∈ E  ↔  |u⊕v| = 1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Bisection bandwidth = 64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point of failure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locality guaranteed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expansion guaranteed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26480" y="1051560"/>
            <a:ext cx="265176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051560"/>
            <a:ext cx="2651760" cy="438912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36208" y="1069848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Parallelism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36208" y="1572768"/>
            <a:ext cx="243230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Non-collision constraint: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Core(rᵢ) ∩ Core(rⱼ) = ∅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all i ≠ j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— not statistical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invariant under load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verification at design time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 from Existing IMT-2030 Proposals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132320" y="164592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1645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FG-AINN-I-237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62179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Velsanet a different class — not an optimization of existing approaches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737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Changho Song  |  FG-AINN  |  Virtual, 5–7 May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46720" y="4873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078992"/>
            <a:ext cx="8595360" cy="594360"/>
          </a:xfrm>
          <a:prstGeom prst="rect">
            <a:avLst/>
          </a:prstGeom>
          <a:solidFill>
            <a:srgbClr val="FFFFFF"/>
          </a:solidFill>
          <a:ln w="3810">
            <a:solidFill>
              <a:srgbClr val="AEB6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078992"/>
            <a:ext cx="73152" cy="59436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143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switching is not retained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03320" y="112471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Velsanet does not extend or optimize packet-based transport. It replaces it with physically isolated optical cores.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1783080"/>
            <a:ext cx="8595360" cy="594360"/>
          </a:xfrm>
          <a:prstGeom prst="rect">
            <a:avLst/>
          </a:prstGeom>
          <a:solidFill>
            <a:srgbClr val="E1F5EE"/>
          </a:solidFill>
          <a:ln w="3810">
            <a:solidFill>
              <a:srgbClr val="AEB6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1783080"/>
            <a:ext cx="73152" cy="59436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18470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 precedes addressing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03320" y="18288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all IP-based architectures, Velsanet defines spatial structure before introducing coordinate systems.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2487168"/>
            <a:ext cx="8595360" cy="594360"/>
          </a:xfrm>
          <a:prstGeom prst="rect">
            <a:avLst/>
          </a:prstGeom>
          <a:solidFill>
            <a:srgbClr val="FFFFFF"/>
          </a:solidFill>
          <a:ln w="3810">
            <a:solidFill>
              <a:srgbClr val="AEB6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487168"/>
            <a:ext cx="73152" cy="59436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55117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is physical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03320" y="253288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is established through structural conformance at spatial genesis — not through cryptographic protocols.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3191256"/>
            <a:ext cx="8595360" cy="594360"/>
          </a:xfrm>
          <a:prstGeom prst="rect">
            <a:avLst/>
          </a:prstGeom>
          <a:solidFill>
            <a:srgbClr val="E1F5EE"/>
          </a:solidFill>
          <a:ln w="3810">
            <a:solidFill>
              <a:srgbClr val="AEB6B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191256"/>
            <a:ext cx="73152" cy="59436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25526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not a service layer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703320" y="3236976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is embedded structurally at each node tier, operating within topologically defined authority boundaries.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3895344"/>
            <a:ext cx="8595360" cy="594360"/>
          </a:xfrm>
          <a:prstGeom prst="rect">
            <a:avLst/>
          </a:prstGeom>
          <a:solidFill>
            <a:srgbClr val="FFFFFF"/>
          </a:solidFill>
          <a:ln w="3810">
            <a:solidFill>
              <a:srgbClr val="AEB6B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3895344"/>
            <a:ext cx="73152" cy="59436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9593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is structural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703320" y="394106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sovereignty encoded into Q4 layer architecture — not enforced through policy agreements.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Work Items for FG-AINN Consideration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132320" y="164592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1645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FG-AINN-I-237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62179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Requesting FG-AINN to initiate study under the IMT-2030 work programme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737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Changho Song  |  FG-AINN  |  Virtual, 5–7 May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46720" y="4873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078992"/>
            <a:ext cx="85953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078992"/>
            <a:ext cx="1463040" cy="105156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1426464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20240" y="117043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Topology-First Network Architecture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20240" y="1490472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definition of pre-coordinate topological space as an architectural foundation for future networks. Study of polyhedral structural primitives (T4, H6, O8, D12, I20) as a grammar for network space generation.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267712"/>
            <a:ext cx="85953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267712"/>
            <a:ext cx="1463040" cy="105156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" y="2615184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B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920240" y="235915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Optical-Native E2E Connectivity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920240" y="2679192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of physically isolated, multi-core optical path architecture as an alternative to packet-switched transport. Evaluation of MOCT-class hardware for deterministic parallel connectivity.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456432"/>
            <a:ext cx="85953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456432"/>
            <a:ext cx="1463040" cy="105156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" y="3803904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920240" y="354787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Framework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920240" y="3867912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study of multi-layer graph model G=(V,E,L), Q7 hypercube mapping, and non-collision constraint as foundations for next-generation network design.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FG-AINN-I-237  ·  Summary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658368"/>
            <a:ext cx="8412480" cy="804672"/>
          </a:xfrm>
          <a:prstGeom prst="rect">
            <a:avLst/>
          </a:prstGeom>
          <a:solidFill>
            <a:srgbClr val="0D2137"/>
          </a:solidFill>
          <a:ln w="6350">
            <a:solidFill>
              <a:srgbClr val="148F7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658368"/>
            <a:ext cx="1325880" cy="804672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905256"/>
            <a:ext cx="1289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0" y="722376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Topology-First Network Architecture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0" y="1024128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Pre-coordinate topological space. Polyhedral primitives (T4, H6, O8, D12, I20) as grammar for network space generation.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572768"/>
            <a:ext cx="8412480" cy="804672"/>
          </a:xfrm>
          <a:prstGeom prst="rect">
            <a:avLst/>
          </a:prstGeom>
          <a:solidFill>
            <a:srgbClr val="0D2137"/>
          </a:solidFill>
          <a:ln w="6350">
            <a:solidFill>
              <a:srgbClr val="148F7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572768"/>
            <a:ext cx="1325880" cy="804672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819656"/>
            <a:ext cx="1289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B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28800" y="1636776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Optical-Native E2E Connectivity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1938528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isolated multi-core optical path (MOCT). Deterministic parallel connectivity — no packet switching.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487168"/>
            <a:ext cx="8412480" cy="804672"/>
          </a:xfrm>
          <a:prstGeom prst="rect">
            <a:avLst/>
          </a:prstGeom>
          <a:solidFill>
            <a:srgbClr val="0D2137"/>
          </a:solidFill>
          <a:ln w="6350">
            <a:solidFill>
              <a:srgbClr val="148F7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487168"/>
            <a:ext cx="1325880" cy="804672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734056"/>
            <a:ext cx="1289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28800" y="2551176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Framework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28800" y="2852928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graph G=(V,E,L) · Q7 hypercube mapping · Non-collision constraint: Core(rᵢ)∩Core(rⱼ)=∅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3493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respectfully request FG-AINN to initiate study of Work Items A, B, and 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IMT-2030 work programme.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Changho Song  ·  joa337@gmail.com</a:t>
            </a:r>
            <a:endParaRPr lang="en-US" sz="900" dirty="0"/>
          </a:p>
          <a:p>
            <a:pPr algn="ctr"/>
            <a:r>
              <a:rPr lang="en-US" sz="8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github.com/joa337/velsanet-whitepapers  ·  joa337.github.io/velsanet-whitepapers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1303</Words>
  <Application>Microsoft Office PowerPoint</Application>
  <PresentationFormat>화면 슬라이드 쇼(16:9)</PresentationFormat>
  <Paragraphs>237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FG-AINN-I-237: Topology-First, Optical-Native Network Architecture</dc:title>
  <dc:subject>PptxGenJS Presentation</dc:subject>
  <dc:creator>Changho Song</dc:creator>
  <cp:lastModifiedBy>Master</cp:lastModifiedBy>
  <cp:revision>2</cp:revision>
  <dcterms:created xsi:type="dcterms:W3CDTF">2026-04-08T21:44:50Z</dcterms:created>
  <dcterms:modified xsi:type="dcterms:W3CDTF">2026-04-08T21:48:40Z</dcterms:modified>
</cp:coreProperties>
</file>