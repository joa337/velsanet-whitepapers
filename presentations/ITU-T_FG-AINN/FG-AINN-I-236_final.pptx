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44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9601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3200400" cy="43891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65760"/>
            <a:ext cx="1645920" cy="347472"/>
          </a:xfrm>
          <a:prstGeom prst="roundRect">
            <a:avLst>
              <a:gd name="adj" fmla="val 21053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657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ITU-T  FG-AINN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7B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for Structurally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AI and Decentralized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in IMT-2030 Networks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291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C: Embedded AI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14600" y="3291840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3291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D: Governance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26480" y="457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Meeting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 May 2026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0" y="1417320"/>
            <a:ext cx="2194560" cy="0"/>
          </a:xfrm>
          <a:prstGeom prst="line">
            <a:avLst/>
          </a:prstGeom>
          <a:noFill/>
          <a:ln w="6350">
            <a:solidFill>
              <a:srgbClr val="AEB6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508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joa337@gmail.com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must be structural — not a service applied after the fact.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46720" y="4480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AI-as-Overlay Cannot Work for IMT-2030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— Three structural problems with conventional AI integration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097280"/>
            <a:ext cx="8595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097280"/>
            <a:ext cx="73152" cy="96012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1887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Inference Latency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15179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decisions travel through multiple software layers before affecting network behaviour — incompatible with IMT-2030 sub-0.1 ms targets.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194560"/>
            <a:ext cx="8595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194560"/>
            <a:ext cx="73152" cy="96012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Authority Ambiguity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261518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definition of which AI system has authority over which network domain. Conflicts resolved by software policy — not architecture.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91840"/>
            <a:ext cx="8595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291840"/>
            <a:ext cx="73152" cy="96012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383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Trust Boundary Violation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37124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systems operating across network domains lack structurally enforced isolation — creating potential for cross-domain interference.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4320" y="441655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all existing architectures, AI correctness is a software property — not a structural invariant.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Velsanet — Five Work Items for IMT-2030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structural framework for IMT-2030 — two contributions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8600" y="987552"/>
            <a:ext cx="1444752" cy="228600"/>
          </a:xfrm>
          <a:prstGeom prst="roundRect">
            <a:avLst>
              <a:gd name="adj" fmla="val 16000"/>
            </a:avLst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98755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FG-AINN-I-237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37160" y="1252728"/>
            <a:ext cx="1627632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37160" y="1252728"/>
            <a:ext cx="1627632" cy="438912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" y="1271016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1168" y="1755648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Topology-First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" y="209397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before address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1168" y="2377440"/>
            <a:ext cx="14996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polyhedral primitives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(T4,C6,O8,D12,I20) define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space before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addressing occurs.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002536" y="987552"/>
            <a:ext cx="1444752" cy="228600"/>
          </a:xfrm>
          <a:prstGeom prst="roundRect">
            <a:avLst>
              <a:gd name="adj" fmla="val 16000"/>
            </a:avLst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02536" y="98755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FG-AINN-I-237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911096" y="1252728"/>
            <a:ext cx="1627632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911096" y="1252728"/>
            <a:ext cx="1627632" cy="438912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75104" y="1271016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75104" y="1755648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Optical-Native E2E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975104" y="209397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packet switching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75104" y="2377440"/>
            <a:ext cx="14996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MOCT: physically isolated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optical cores.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Parallelism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by structure.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776472" y="987552"/>
            <a:ext cx="1444752" cy="228600"/>
          </a:xfrm>
          <a:prstGeom prst="roundRect">
            <a:avLst>
              <a:gd name="adj" fmla="val 16000"/>
            </a:avLst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76472" y="98755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85032" y="1252728"/>
            <a:ext cx="1627632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85032" y="1252728"/>
            <a:ext cx="1627632" cy="43891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49040" y="1271016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C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749040" y="1755648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AI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749040" y="209397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inside, not on top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749040" y="2377440"/>
            <a:ext cx="14996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 / AAI / AsAI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bound to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domain.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API, no round-trip.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50408" y="987552"/>
            <a:ext cx="1444752" cy="228600"/>
          </a:xfrm>
          <a:prstGeom prst="roundRect">
            <a:avLst>
              <a:gd name="adj" fmla="val 16000"/>
            </a:avLst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50408" y="98755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458968" y="1252728"/>
            <a:ext cx="1627632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458968" y="1252728"/>
            <a:ext cx="1627632" cy="43891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22976" y="1271016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522976" y="1755648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522976" y="209397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 as invariant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22976" y="2377440"/>
            <a:ext cx="14996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projection-based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governance.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sovereignty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structural invariant.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24344" y="987552"/>
            <a:ext cx="1444752" cy="228600"/>
          </a:xfrm>
          <a:prstGeom prst="roundRect">
            <a:avLst>
              <a:gd name="adj" fmla="val 16000"/>
            </a:avLst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24344" y="98755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FG-AINN-I-237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232904" y="1252728"/>
            <a:ext cx="1627632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232904" y="1252728"/>
            <a:ext cx="1627632" cy="438912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96912" y="1271016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296912" y="1755648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Framework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296912" y="209397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structural grounding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96912" y="2377440"/>
            <a:ext cx="14996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graph G=(V,E,L)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hypercube mapping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Non-collision constraint: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Core(rᵢ)∩Core(rⱼ)=∅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ITU-T Y.3001 and ITU-R M.2160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Velsanet structurally meets IMT-2030 AI integration requirements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097280"/>
            <a:ext cx="3474720" cy="594360"/>
          </a:xfrm>
          <a:prstGeom prst="rect">
            <a:avLst/>
          </a:prstGeom>
          <a:solidFill>
            <a:srgbClr val="EDE7F6"/>
          </a:solidFill>
          <a:ln w="6350">
            <a:solidFill>
              <a:srgbClr val="6C348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86200" y="1097280"/>
            <a:ext cx="49377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1430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Sub-0.1 ms latency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05072" y="1133856"/>
            <a:ext cx="4709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Parallelism: packet queuing eliminated. AI operates at hardware speed — no API boundary.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1810512"/>
            <a:ext cx="3474720" cy="594360"/>
          </a:xfrm>
          <a:prstGeom prst="rect">
            <a:avLst/>
          </a:prstGeom>
          <a:solidFill>
            <a:srgbClr val="EDE7F6"/>
          </a:solidFill>
          <a:ln w="6350">
            <a:solidFill>
              <a:srgbClr val="6C348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86200" y="1810512"/>
            <a:ext cx="49377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185623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AI integration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05072" y="1847088"/>
            <a:ext cx="4709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PAI/AAI/AsAI structurally embedded at each polyhedral tier. AI correctness is architectural, not behavioral.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2523744"/>
            <a:ext cx="3474720" cy="594360"/>
          </a:xfrm>
          <a:prstGeom prst="rect">
            <a:avLst/>
          </a:prstGeom>
          <a:solidFill>
            <a:srgbClr val="EDE7F6"/>
          </a:solidFill>
          <a:ln w="6350">
            <a:solidFill>
              <a:srgbClr val="6C348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86200" y="2523744"/>
            <a:ext cx="49377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56946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 connection density/km²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05072" y="2560320"/>
            <a:ext cx="4709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Non-collision constraint Core(rᵢ)∩Core(rⱼ)=∅ guarantees no contention. AI decisions never delayed by load.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3236976"/>
            <a:ext cx="3474720" cy="594360"/>
          </a:xfrm>
          <a:prstGeom prst="rect">
            <a:avLst/>
          </a:prstGeom>
          <a:solidFill>
            <a:srgbClr val="EDE7F6"/>
          </a:solidFill>
          <a:ln w="6350">
            <a:solidFill>
              <a:srgbClr val="6C348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86200" y="3236976"/>
            <a:ext cx="49377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28269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awareness (Y.3001)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05072" y="3273552"/>
            <a:ext cx="4709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AI self-governs through structural projection rules — no centralized policy coordination required.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4320" y="3950208"/>
            <a:ext cx="3474720" cy="594360"/>
          </a:xfrm>
          <a:prstGeom prst="rect">
            <a:avLst/>
          </a:prstGeom>
          <a:solidFill>
            <a:srgbClr val="EDE7F6"/>
          </a:solidFill>
          <a:ln w="6350">
            <a:solidFill>
              <a:srgbClr val="6C348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86200" y="3950208"/>
            <a:ext cx="49377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9959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security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005072" y="3986784"/>
            <a:ext cx="4709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established through structural conformance — AI authority verifiable by structural inspection, not certificates.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74320" y="94183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IMT-2030 Requirement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886200" y="9418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Velsanet Structural Response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C — Structurally Embedded AI (PAI / AAI / AsAI)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distributed AI architecture native to network topology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Velsanet, AI is not an external service. Each layer is structurally bound to its topological domain.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417320"/>
            <a:ext cx="26974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1417320"/>
            <a:ext cx="2697480" cy="4572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43560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19385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O8 — Octahedron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 faces · City-scale E2E)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5760" y="231343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Scope: </a:t>
            </a:r>
            <a:r>
              <a:rPr lang="en-US" sz="950" b="1" dirty="0" smtClean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2578608"/>
            <a:ext cx="2514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Interprets individual intent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optical core allocation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integrity verification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anomaly detection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at hardware speed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1417320"/>
            <a:ext cx="26974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1417320"/>
            <a:ext cx="2697480" cy="457200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43560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91840" y="19385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D12 — Dodecahedron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 faces · Regional E2E)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91840" y="231343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Regional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91840" y="2578608"/>
            <a:ext cx="2514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validation gateway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path establishment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Inter-domain transitions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structural coherence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= topological region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26480" y="1417320"/>
            <a:ext cx="26974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1417320"/>
            <a:ext cx="2697480" cy="4572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143560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AI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19385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I20 — Icosahedron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 faces · National E2E)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17920" y="231343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Global / National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17920" y="2578608"/>
            <a:ext cx="2514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AAI-authorized requests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 coordination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Long-range path optimization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structural monitoring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structural projection rules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74320" y="4407408"/>
            <a:ext cx="8595360" cy="47548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4425696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Chain — PAI interprets intent → AAI validates socially → AsAI executes. Direct PAI→AsAI access is structurally impossible.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Safety Chain — Structural Authority by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 → AAI → AsAI: each boundary is a structural checkpoint, not a policy rule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8600" y="1051560"/>
            <a:ext cx="269748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1051560"/>
            <a:ext cx="2697480" cy="4572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06984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1572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Layer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1874520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Belongs to the individual.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 raw intent into 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structured, contextualized request.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execute — can only pass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interpreted intent to AAI.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 → AAI only.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path to AsAI.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926080" y="2606040"/>
            <a:ext cx="274320" cy="0"/>
          </a:xfrm>
          <a:prstGeom prst="line">
            <a:avLst/>
          </a:prstGeom>
          <a:noFill/>
          <a:ln w="19050">
            <a:solidFill>
              <a:srgbClr val="AEB6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44368" y="2487168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0" y="1051560"/>
            <a:ext cx="269748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1051560"/>
            <a:ext cx="2697480" cy="457200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06984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91840" y="1572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Validation Gateway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91840" y="1874520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interpreted intent from PAI.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against social, ethical,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and policy constraints.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inconsistent → refused.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override mechanism exists.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intent reaches AsAI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passing through AAI.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97880" y="2606040"/>
            <a:ext cx="274320" cy="0"/>
          </a:xfrm>
          <a:prstGeom prst="line">
            <a:avLst/>
          </a:prstGeom>
          <a:noFill/>
          <a:ln w="19050">
            <a:solidFill>
              <a:srgbClr val="AEB6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16168" y="2487168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1051560"/>
            <a:ext cx="269748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72200" y="1051560"/>
            <a:ext cx="2697480" cy="4572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1069848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AsAI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AI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1572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Layer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1874520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only AAI-authorized requests.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no direct relationship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any individual.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at infrastructure scale.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multiple AAI instances.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 from PAI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structurally impossible.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4636008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Principle: A rule can be broken — an architectural impossibility cannot.  (WP#21 AI Safety by Architecture)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D — Projection-Based Sovereign Governance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hypercube hierarchy — national sovereignty as a structural invariant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governance without centralized control — sovereignty encoded into the architecture, not enforced by policy.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463040"/>
            <a:ext cx="8412480" cy="402336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630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— Global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14630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Inter-continental coordination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1938528"/>
            <a:ext cx="7498080" cy="402336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19385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— Continental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80360" y="1938528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bloc coordination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280160" y="2414016"/>
            <a:ext cx="6583680" cy="402336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241401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— National 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37560" y="241401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boundary — structural invariant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7360" y="2889504"/>
            <a:ext cx="5486400" cy="402336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0" y="288950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— Regional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794760" y="288950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Sub-national administrative domains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194560" y="3364992"/>
            <a:ext cx="4206240" cy="402336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0" y="33649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Q7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City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251960" y="3364992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network management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0" y="38404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— District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09160" y="38404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operation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44074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Q4 — Cross-national communication requires structural authorization defined at Q4 interface — not a policy check.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Global Coherence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hypercube guarantees — no single point of failure or central control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051560"/>
            <a:ext cx="265176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051560"/>
            <a:ext cx="2651760" cy="43891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1069848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 Hypercube Formal Definition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4048" y="1572768"/>
            <a:ext cx="2432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Q⁷ = ({0,1}⁷, 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(u,v) ∈ E  ↔  |u⊕v| = 1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Bisection bandwidth = 64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point of failure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point of control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locality guaranteed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1051560"/>
            <a:ext cx="265176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051560"/>
            <a:ext cx="2651760" cy="43891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1069848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Sovereignty (Q4)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10128" y="1572768"/>
            <a:ext cx="2432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sovereignty is a structural invariant.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Cross-Q4 data/control requires structural authorization — not software policy.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 is enforced by the architecture — not by agreements that can be bypassed.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2651760" cy="43891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36208" y="1069848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36208" y="1572768"/>
            <a:ext cx="2432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follows the same projection rules as network governance.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system can exceed its topologically defined authority boundary.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is verifiable — not declarative.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 Items for FG-AINN Consideration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132320" y="16459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64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62179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FG-AINN to initiate study under the IMT-2030 work programme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737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|  FG-AINN  |  Virtual, 5–7 May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0" y="4873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188720"/>
            <a:ext cx="85953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188720"/>
            <a:ext cx="1463040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16459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920240" y="12801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Embedded AI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1645920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three-layer distributed AI architecture (PAI/AAI/AsAI) native to network topology. Definition of structural authority boundaries for AI systems. Comparison with external AI overlay models in terms of latency, trust, and governance.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2651760"/>
            <a:ext cx="85953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AEB6BF"/>
            </a:solidFill>
            <a:prstDash val="solid"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651760"/>
            <a:ext cx="1463040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" y="310896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2743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Projection-Based Sovereign Governance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920240" y="3108960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hierarchical projection model (Q2–Q7) for global network coordination without centralized control. Evaluation of structural sovereignty encoding at national layer (Q4). Comparison with policy-based governance models.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206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work items complement FG-AINN-I-237 (Work Items A, B, E) — together forming a complete structural framework for IMT-2030.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7B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FG-AINN-I-236  ·  Summary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Velsanet proposes that AI governance must be: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54864" cy="41148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325880"/>
            <a:ext cx="731520" cy="256032"/>
          </a:xfrm>
          <a:prstGeom prst="roundRect">
            <a:avLst>
              <a:gd name="adj" fmla="val 14286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258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417320" y="126187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embedded — not applied as an external overlay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54864" cy="41148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984248"/>
            <a:ext cx="731520" cy="256032"/>
          </a:xfrm>
          <a:prstGeom prst="roundRect">
            <a:avLst>
              <a:gd name="adj" fmla="val 14286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9842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417320" y="19202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Authority-bounded — each AI layer confined to its topological domain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578608"/>
            <a:ext cx="54864" cy="41148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642616"/>
            <a:ext cx="731520" cy="256032"/>
          </a:xfrm>
          <a:prstGeom prst="roundRect">
            <a:avLst>
              <a:gd name="adj" fmla="val 14286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64261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417320" y="25786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Sovereignty-preserving — national boundaries encoded as structural invariants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respectfully request FG-AINN to initiate study of Work Items C and 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IMT-2030 work programme.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05072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005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14600" y="4005072"/>
            <a:ext cx="1920240" cy="347472"/>
          </a:xfrm>
          <a:prstGeom prst="roundRect">
            <a:avLst>
              <a:gd name="adj" fmla="val 21053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14600" y="4005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 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663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Changho Song  ·  joa337@gmail.com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github.com/joa337/velsanet-whitepapers  ·  joa337.github.io/velsanet-whitepapers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1279</Words>
  <Application>Microsoft Office PowerPoint</Application>
  <PresentationFormat>화면 슬라이드 쇼(16:9)</PresentationFormat>
  <Paragraphs>246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FG-AINN-I-236: Structurally Embedded AI and Decentralized Governance</dc:title>
  <dc:subject>PptxGenJS Presentation</dc:subject>
  <dc:creator>Changho Song</dc:creator>
  <cp:lastModifiedBy>Master</cp:lastModifiedBy>
  <cp:revision>2</cp:revision>
  <dcterms:created xsi:type="dcterms:W3CDTF">2026-04-09T08:51:46Z</dcterms:created>
  <dcterms:modified xsi:type="dcterms:W3CDTF">2026-04-09T08:53:26Z</dcterms:modified>
</cp:coreProperties>
</file>