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18872" cy="1188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256032"/>
            <a:ext cx="118872" cy="118872"/>
          </a:xfrm>
          <a:prstGeom prst="ellipse">
            <a:avLst/>
          </a:prstGeom>
          <a:solidFill>
            <a:srgbClr val="00B4D8">
              <a:alpha val="88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256032"/>
            <a:ext cx="118872" cy="118872"/>
          </a:xfrm>
          <a:prstGeom prst="ellipse">
            <a:avLst/>
          </a:prstGeom>
          <a:solidFill>
            <a:srgbClr val="00B4D8">
              <a:alpha val="7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99616" y="256032"/>
            <a:ext cx="118872" cy="118872"/>
          </a:xfrm>
          <a:prstGeom prst="ellipse">
            <a:avLst/>
          </a:prstGeom>
          <a:solidFill>
            <a:srgbClr val="00B4D8">
              <a:alpha val="64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47088" y="256032"/>
            <a:ext cx="118872" cy="118872"/>
          </a:xfrm>
          <a:prstGeom prst="ellipse">
            <a:avLst/>
          </a:prstGeom>
          <a:solidFill>
            <a:srgbClr val="00B4D8">
              <a:alpha val="5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94560" y="256032"/>
            <a:ext cx="118872" cy="11887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42032" y="256032"/>
            <a:ext cx="118872" cy="118872"/>
          </a:xfrm>
          <a:prstGeom prst="ellipse">
            <a:avLst/>
          </a:prstGeom>
          <a:solidFill>
            <a:srgbClr val="00B4D8">
              <a:alpha val="28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74980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VELSANET — COMPLETE ARCHITECTURE FOR IMT-2030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1234440"/>
            <a:ext cx="6400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Structural Framework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6G Networks, Embedded AI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Embodied Intelligence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502920" y="3090672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interlocking Work Items spanning network topology, optical hardware,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AI, sovereign governance, mathematical foundations,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embodied AI cognition — submitted across ITU FG-AINN and FG-EAI.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4005072"/>
            <a:ext cx="2651760" cy="566928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400507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  A B C D E — Submitted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37560" y="4005072"/>
            <a:ext cx="2651760" cy="566928"/>
          </a:xfrm>
          <a:prstGeom prst="rect">
            <a:avLst/>
          </a:prstGeom>
          <a:solidFill>
            <a:srgbClr val="F4A261">
              <a:alpha val="2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400507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FG-EAI 7th (May 2026)  F G — Submitted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4005072"/>
            <a:ext cx="2651760" cy="566928"/>
          </a:xfrm>
          <a:prstGeom prst="rect">
            <a:avLst/>
          </a:prstGeom>
          <a:solidFill>
            <a:srgbClr val="8EAAB8">
              <a:alpha val="20000"/>
            </a:srgbClr>
          </a:solidFill>
          <a:ln w="12700">
            <a:solidFill>
              <a:srgbClr val="8EAA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400507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FG-EAI Next Meeting  H I — To be submitted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VELSANET FRAMEWORK — 9 WORK ITEMS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domains. One architecture. Each item a necessary condition for the one above 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28600" y="1207008"/>
            <a:ext cx="4206240" cy="365760"/>
          </a:xfrm>
          <a:prstGeom prst="rect">
            <a:avLst/>
          </a:prstGeom>
          <a:solidFill>
            <a:srgbClr val="00B4D8">
              <a:alpha val="22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" y="12070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LAYER  ·  FG-AINN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17720" y="1207008"/>
            <a:ext cx="2103120" cy="365760"/>
          </a:xfrm>
          <a:prstGeom prst="rect">
            <a:avLst/>
          </a:prstGeom>
          <a:solidFill>
            <a:srgbClr val="F4A261">
              <a:alpha val="22000"/>
            </a:srgbClr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90872" y="12070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 ·  FG-EAI (Submitted)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903720" y="1207008"/>
            <a:ext cx="1920240" cy="365760"/>
          </a:xfrm>
          <a:prstGeom prst="rect">
            <a:avLst/>
          </a:prstGeom>
          <a:solidFill>
            <a:srgbClr val="8EAAB8">
              <a:alpha val="22000"/>
            </a:srgbClr>
          </a:solidFill>
          <a:ln w="19050">
            <a:solidFill>
              <a:srgbClr val="8EAA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76872" y="12070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&amp; HUMAN  ·  FG-EAI (Next)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691640"/>
            <a:ext cx="384048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8600" y="169164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3232" y="1700784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Topology-First Architecture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" y="1837944"/>
            <a:ext cx="7040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Polyhedral space defined before addressing — path existence is geometric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19872" y="1728216"/>
            <a:ext cx="777240" cy="201168"/>
          </a:xfrm>
          <a:prstGeom prst="rect">
            <a:avLst/>
          </a:prstGeom>
          <a:solidFill>
            <a:srgbClr val="00B4D8">
              <a:alpha val="60000"/>
            </a:srgbClr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19872" y="172821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 ✓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28600" y="2002536"/>
            <a:ext cx="8686800" cy="0"/>
          </a:xfrm>
          <a:prstGeom prst="line">
            <a:avLst/>
          </a:prstGeom>
          <a:noFill/>
          <a:ln w="6350">
            <a:solidFill>
              <a:srgbClr val="DDEE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2037283"/>
            <a:ext cx="384048" cy="2743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8600" y="2037283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" y="2046427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Optical-Native E2E (MOCT)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3232" y="2183587"/>
            <a:ext cx="7040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isolated parallel optical cores — no packet switching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119872" y="2073859"/>
            <a:ext cx="777240" cy="201168"/>
          </a:xfrm>
          <a:prstGeom prst="rect">
            <a:avLst/>
          </a:prstGeom>
          <a:solidFill>
            <a:srgbClr val="00B4D8">
              <a:alpha val="60000"/>
            </a:srgbClr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19872" y="2073859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 ✓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28600" y="2348179"/>
            <a:ext cx="8686800" cy="0"/>
          </a:xfrm>
          <a:prstGeom prst="line">
            <a:avLst/>
          </a:prstGeom>
          <a:noFill/>
          <a:ln w="6350">
            <a:solidFill>
              <a:srgbClr val="DDEE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2382926"/>
            <a:ext cx="384048" cy="27432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28600" y="238292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3232" y="2392070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Embedded AI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3232" y="2529230"/>
            <a:ext cx="7040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 / AAI / AsAI native to topology — AI correctness is architectural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119872" y="2419502"/>
            <a:ext cx="777240" cy="201168"/>
          </a:xfrm>
          <a:prstGeom prst="rect">
            <a:avLst/>
          </a:prstGeom>
          <a:solidFill>
            <a:srgbClr val="00B4D8">
              <a:alpha val="60000"/>
            </a:srgbClr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19872" y="241950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 ✓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28600" y="2693822"/>
            <a:ext cx="8686800" cy="0"/>
          </a:xfrm>
          <a:prstGeom prst="line">
            <a:avLst/>
          </a:prstGeom>
          <a:noFill/>
          <a:ln w="6350">
            <a:solidFill>
              <a:srgbClr val="DDEE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" y="2728570"/>
            <a:ext cx="384048" cy="27432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28600" y="272857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13232" y="2737714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Governance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3232" y="2874874"/>
            <a:ext cx="7040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projection — national sovereignty as structural invariant, not policy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119872" y="2765146"/>
            <a:ext cx="777240" cy="201168"/>
          </a:xfrm>
          <a:prstGeom prst="rect">
            <a:avLst/>
          </a:prstGeom>
          <a:solidFill>
            <a:srgbClr val="00B4D8">
              <a:alpha val="60000"/>
            </a:srgbClr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19872" y="276514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 ✓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28600" y="3039466"/>
            <a:ext cx="8686800" cy="0"/>
          </a:xfrm>
          <a:prstGeom prst="line">
            <a:avLst/>
          </a:prstGeom>
          <a:noFill/>
          <a:ln w="6350">
            <a:solidFill>
              <a:srgbClr val="DDEE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8600" y="3074213"/>
            <a:ext cx="384048" cy="274320"/>
          </a:xfrm>
          <a:prstGeom prst="rect">
            <a:avLst/>
          </a:prstGeom>
          <a:solidFill>
            <a:srgbClr val="D4850A"/>
          </a:solidFill>
          <a:ln w="12700">
            <a:solidFill>
              <a:srgbClr val="D4850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7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28600" y="3074213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13232" y="3083357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Framework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13232" y="3220517"/>
            <a:ext cx="7040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graph · Q7 hypercube · non-collision constraint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119872" y="3110789"/>
            <a:ext cx="777240" cy="201168"/>
          </a:xfrm>
          <a:prstGeom prst="rect">
            <a:avLst/>
          </a:prstGeom>
          <a:solidFill>
            <a:srgbClr val="00B4D8">
              <a:alpha val="60000"/>
            </a:srgbClr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19872" y="3110789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 ✓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28600" y="3385109"/>
            <a:ext cx="8686800" cy="0"/>
          </a:xfrm>
          <a:prstGeom prst="line">
            <a:avLst/>
          </a:prstGeom>
          <a:noFill/>
          <a:ln w="6350">
            <a:solidFill>
              <a:srgbClr val="DDEEF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28600" y="3419856"/>
            <a:ext cx="384048" cy="274320"/>
          </a:xfrm>
          <a:prstGeom prst="rect">
            <a:avLst/>
          </a:prstGeom>
          <a:solidFill>
            <a:srgbClr val="E05A3A"/>
          </a:solidFill>
          <a:ln w="12700">
            <a:solidFill>
              <a:srgbClr val="E05A3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7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28600" y="341985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13232" y="3429000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Decomposition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13232" y="3566160"/>
            <a:ext cx="7040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primitive · 8-channel independent perception · channel traceability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119872" y="3456432"/>
            <a:ext cx="777240" cy="201168"/>
          </a:xfrm>
          <a:prstGeom prst="rect">
            <a:avLst/>
          </a:prstGeom>
          <a:solidFill>
            <a:srgbClr val="F4A261">
              <a:alpha val="60000"/>
            </a:srgbClr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19872" y="34564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FG-EAI ✓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28600" y="3730752"/>
            <a:ext cx="8686800" cy="0"/>
          </a:xfrm>
          <a:prstGeom prst="line">
            <a:avLst/>
          </a:prstGeom>
          <a:noFill/>
          <a:ln w="6350">
            <a:solidFill>
              <a:srgbClr val="DDEEF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28600" y="3765499"/>
            <a:ext cx="384048" cy="274320"/>
          </a:xfrm>
          <a:prstGeom prst="rect">
            <a:avLst/>
          </a:prstGeom>
          <a:solidFill>
            <a:srgbClr val="B03028"/>
          </a:solidFill>
          <a:ln w="12700">
            <a:solidFill>
              <a:srgbClr val="B0302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7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228600" y="3765499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13232" y="3774643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Cognition Cube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13232" y="3911803"/>
            <a:ext cx="7040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T/C/I/E four-axis synthesis · dual-layer memory (raw + semantic)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119872" y="3802075"/>
            <a:ext cx="777240" cy="201168"/>
          </a:xfrm>
          <a:prstGeom prst="rect">
            <a:avLst/>
          </a:prstGeom>
          <a:solidFill>
            <a:srgbClr val="F4A261">
              <a:alpha val="60000"/>
            </a:srgbClr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119872" y="3802075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FG-EAI ✓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228600" y="4076395"/>
            <a:ext cx="8686800" cy="0"/>
          </a:xfrm>
          <a:prstGeom prst="line">
            <a:avLst/>
          </a:prstGeom>
          <a:noFill/>
          <a:ln w="6350">
            <a:solidFill>
              <a:srgbClr val="DDEEF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28600" y="4111142"/>
            <a:ext cx="384048" cy="274320"/>
          </a:xfrm>
          <a:prstGeom prst="rect">
            <a:avLst/>
          </a:prstGeom>
          <a:solidFill>
            <a:srgbClr val="E8842A"/>
          </a:solidFill>
          <a:ln w="12700">
            <a:solidFill>
              <a:srgbClr val="E8842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7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228600" y="411114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713232" y="4120286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E2E Control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13232" y="4257446"/>
            <a:ext cx="7040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16-channel separation · pre-cognitive action · CH11 safety override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119872" y="4147718"/>
            <a:ext cx="777240" cy="201168"/>
          </a:xfrm>
          <a:prstGeom prst="rect">
            <a:avLst/>
          </a:prstGeom>
          <a:solidFill>
            <a:srgbClr val="8EAAB8">
              <a:alpha val="50000"/>
            </a:srgbClr>
          </a:solidFill>
          <a:ln w="10160">
            <a:solidFill>
              <a:srgbClr val="8EAAB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119872" y="414771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◷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28600" y="4422038"/>
            <a:ext cx="8686800" cy="0"/>
          </a:xfrm>
          <a:prstGeom prst="line">
            <a:avLst/>
          </a:prstGeom>
          <a:noFill/>
          <a:ln w="6350">
            <a:solidFill>
              <a:srgbClr val="DDEEF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28600" y="4456786"/>
            <a:ext cx="384048" cy="274320"/>
          </a:xfrm>
          <a:prstGeom prst="rect">
            <a:avLst/>
          </a:prstGeom>
          <a:solidFill>
            <a:srgbClr val="8A6800"/>
          </a:solidFill>
          <a:ln w="12700">
            <a:solidFill>
              <a:srgbClr val="8A680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7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228600" y="445678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713232" y="4465930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Projection Interface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713232" y="4603090"/>
            <a:ext cx="7040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glasses → M-Axis accumulation → structural autonomy emergence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8119872" y="4493362"/>
            <a:ext cx="777240" cy="201168"/>
          </a:xfrm>
          <a:prstGeom prst="rect">
            <a:avLst/>
          </a:prstGeom>
          <a:solidFill>
            <a:srgbClr val="8EAAB8">
              <a:alpha val="50000"/>
            </a:srgbClr>
          </a:solidFill>
          <a:ln w="10160">
            <a:solidFill>
              <a:srgbClr val="8EAAB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119872" y="449336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◷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INTERNET CANNOT MEET IMT-2030 — AND WHY VELSANET CAN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01168" y="804672"/>
            <a:ext cx="4206240" cy="19385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804672"/>
            <a:ext cx="420624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" y="9144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Latency is Architectural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" y="128016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50976" y="12801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queuing introduces non-determinism. No software can eliminate it — it is built into the foundation.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0896" y="181051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Velsanet: 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50976" y="181051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Items A+B: Topology-first + physically isolated optical cores eliminate queuing entirely.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81728" y="804672"/>
            <a:ext cx="4206240" cy="19385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1728" y="804672"/>
            <a:ext cx="420624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1456" y="9144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Security is Address-Based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91456" y="128016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31536" y="12801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detached from physical paths. Spoofing is structurally possible — not patchable.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91456" y="181051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Velsanet: 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31536" y="181051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A: Trust established at spatial genesis through structural conformance.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1168" y="2862072"/>
            <a:ext cx="4206240" cy="19385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1168" y="2862072"/>
            <a:ext cx="420624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" y="29718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AI is an Overlay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0896" y="333756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50976" y="33375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applied on top of a network not designed for it — inference latency, authority ambiguity, trust violations.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10896" y="386791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Velsanet: 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50976" y="386791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C: PAI/AAI/AsAI embedded natively at each polyhedral node tier. AI correctness is structural.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81728" y="2862072"/>
            <a:ext cx="4206240" cy="19385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81728" y="2862072"/>
            <a:ext cx="420624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91456" y="29718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Governance is Policy-Based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91456" y="333756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31536" y="33375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sovereignty enforced through agreements that can be bypassed. No structural invariant.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91456" y="386791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Velsanet: 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31536" y="386791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D: Q7 hypercube encodes sovereignty at the Q4 layer as a structural invariant.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01168" y="4773168"/>
            <a:ext cx="8741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not bugs. They are consequences of a foundational design choice made fifty years ago. The solution requires a new foundation — not a better patch.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  ·  WORK ITEMS A &amp; B — Network Foundation  [Submitted]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Topology-First Architecture  +  Optical-Native E2E Connectivity via MOCT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1207008"/>
            <a:ext cx="4206240" cy="3657600"/>
          </a:xfrm>
          <a:prstGeom prst="rect">
            <a:avLst/>
          </a:prstGeom>
          <a:solidFill>
            <a:srgbClr val="E8F4F8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64208" y="1115568"/>
            <a:ext cx="914400" cy="9144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64208" y="111556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20848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Topology-First Architecture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" y="2606040"/>
            <a:ext cx="384048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polyhedral primitives — the complete grammar of network space:
</a:t>
            </a:r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 </a:t>
            </a:r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Tetrahedron — device access &amp; origin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  </a:t>
            </a:r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Hexahedron — wired/wireless convergence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O8  </a:t>
            </a:r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Octahedron — PAI layer · city-scale E2E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D12 </a:t>
            </a:r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Dodecahedron — AAI layer · regional E2E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I20 </a:t>
            </a:r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Icosahedron — AsAI layer · national governance
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is verifiable at construction time. Path existence is a geometric property — not a routing computation.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36592" y="1207008"/>
            <a:ext cx="4206240" cy="3657600"/>
          </a:xfrm>
          <a:prstGeom prst="rect">
            <a:avLst/>
          </a:prstGeom>
          <a:solidFill>
            <a:srgbClr val="E8F4F8"/>
          </a:solidFill>
          <a:ln w="25400">
            <a:solidFill>
              <a:srgbClr val="0077A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99632" y="1115568"/>
            <a:ext cx="914400" cy="91440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9632" y="111556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864608" y="20848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Optical-Native E2E (MOCT)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64608" y="2606040"/>
            <a:ext cx="388620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Multi-Optical-Core Transceiver — no packet switching:
</a:t>
            </a:r>
            <a:pPr indent="0" marL="0">
              <a:buNone/>
            </a:pPr>
            <a:r>
              <a:rPr lang="en-US" sz="1050" b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Non-collision: </a:t>
            </a:r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Core(rᵢ) ∩ Core(rⱼ) = ∅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channels per core: </a:t>
            </a:r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CH1 sensing/control · CH2–8 data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Tbps per core </a:t>
            </a:r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scales linearly with core count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pre-fused fibers </a:t>
            </a:r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zero connector loss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Sub-0.1ms latency </a:t>
            </a:r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bounded by propagation delay alone
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is invariant under load — a structural guarantee, not a statistical target.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  ·  WORK ITEMS C &amp; D — Embedded AI and Sovereign Governance  [Submitted]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not a service applied after the fact. Governance is not a policy agreement. Both are structural.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1168" y="1207008"/>
            <a:ext cx="4206240" cy="3657600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7B5EA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64208" y="1115568"/>
            <a:ext cx="914400" cy="914400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64208" y="111556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20848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Embedded AI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" y="2606040"/>
            <a:ext cx="384048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AI native to network topology:
</a:t>
            </a:r>
            <a:pPr indent="0" marL="0">
              <a:buNone/>
            </a:pPr>
            <a:r>
              <a:rPr lang="en-US" sz="1050" b="1" dirty="0">
                <a:solidFill>
                  <a:srgbClr val="CC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 — Personal AI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(O8 nodes)
User-bound · DIKWEI cognitive cycle · Cube memory · device-bound identity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CC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AAI — Ambient AI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(D12 nodes)
Regional sovereign · intent mediation · multi-PAI stream synthesis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CC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AsAI — Associative AI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(I20 nodes)
Global execution · wisdom-based · 100+ face pairs
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access from individual to AsAI is structurally impossible — AI safety by architecture.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36592" y="1207008"/>
            <a:ext cx="4206240" cy="3657600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2DC65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99632" y="1115568"/>
            <a:ext cx="914400" cy="91440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9632" y="111556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864608" y="20848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Projection-Based Sovereign Governance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64608" y="2606040"/>
            <a:ext cx="388620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hypercube projection — global coordination without centralized control:
</a:t>
            </a:r>
            <a:pPr indent="0" marL="0">
              <a:buNone/>
            </a:pPr>
            <a:r>
              <a:rPr lang="en-US" sz="1050" b="1" dirty="0">
                <a:solidFill>
                  <a:srgbClr val="AA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Network AI (VELSA-IVGF)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AA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Continental coordination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AA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sovereignty — structural invariant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AA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Q5–Q7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→ city → district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 encoded at Q4 as an architectural invariant — not enforced through policy agreements that can be bypassed.
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is verifiable — not declarative.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  ·  WORK ITEM E — Mathematical Framework  [Submitted]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formal spine connecting A, B, C, and D — without it, the other items are assertions, not verifiable guarantees.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1168" y="1207008"/>
            <a:ext cx="2743200" cy="3611880"/>
          </a:xfrm>
          <a:prstGeom prst="rect">
            <a:avLst/>
          </a:prstGeom>
          <a:solidFill>
            <a:srgbClr val="E8F4F8"/>
          </a:solidFill>
          <a:ln w="25400">
            <a:solidFill>
              <a:srgbClr val="D4850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15568" y="1115568"/>
            <a:ext cx="914400" cy="914400"/>
          </a:xfrm>
          <a:prstGeom prst="ellipse">
            <a:avLst/>
          </a:prstGeom>
          <a:solidFill>
            <a:srgbClr val="D4850A"/>
          </a:solidFill>
          <a:ln w="12700">
            <a:solidFill>
              <a:srgbClr val="D485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11556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E₁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10896" y="208483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8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Graph Model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10896" y="2606040"/>
            <a:ext cx="2514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(V, E, L)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polyhedral nodes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directed optical connections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structural layers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Super-adjacency matrix enforces structural decomposition at design time. Intra-layer and inter-layer relations defined independently.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27248" y="1207008"/>
            <a:ext cx="2743200" cy="3611880"/>
          </a:xfrm>
          <a:prstGeom prst="rect">
            <a:avLst/>
          </a:prstGeom>
          <a:solidFill>
            <a:srgbClr val="E8F4F8"/>
          </a:solidFill>
          <a:ln w="25400">
            <a:solidFill>
              <a:srgbClr val="B0701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041648" y="1115568"/>
            <a:ext cx="914400" cy="914400"/>
          </a:xfrm>
          <a:prstGeom prst="ellipse">
            <a:avLst/>
          </a:prstGeom>
          <a:solidFill>
            <a:srgbClr val="B07010"/>
          </a:solidFill>
          <a:ln w="12700">
            <a:solidFill>
              <a:srgbClr val="B070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41648" y="111556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E₂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36976" y="208483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7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Hypercube Mapping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36976" y="2606040"/>
            <a:ext cx="2514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Q⁷ = ({0,1}⁷, 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(u,v) ∈ E ↔ |u⊕v| = 1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Bisection bandwidth = 64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structural locality, no single point of failure, and scalable expansion. National sovereignty encoded at Q4 layer of the hypercube.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53328" y="1207008"/>
            <a:ext cx="2743200" cy="3611880"/>
          </a:xfrm>
          <a:prstGeom prst="rect">
            <a:avLst/>
          </a:prstGeom>
          <a:solidFill>
            <a:srgbClr val="E8F4F8"/>
          </a:solidFill>
          <a:ln w="25400">
            <a:solidFill>
              <a:srgbClr val="007FA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67728" y="1115568"/>
            <a:ext cx="914400" cy="914400"/>
          </a:xfrm>
          <a:prstGeom prst="ellipse">
            <a:avLst/>
          </a:prstGeom>
          <a:solidFill>
            <a:srgbClr val="007FA8"/>
          </a:solidFill>
          <a:ln w="12700">
            <a:solidFill>
              <a:srgbClr val="007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67728" y="111556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E₃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63056" y="208483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Parallelism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63056" y="2606040"/>
            <a:ext cx="2514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Non-collision constraint: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∀i ≠ j: Core(rᵢ) ∩ Core(rⱼ) = ∅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— not statistical.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invariant under load.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verification at design time.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basis for 1 Tbps per core guarantee.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01168" y="4846320"/>
            <a:ext cx="8741664" cy="182880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84632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E is the formal grounding that makes every structural claim in A, B, C, and D mathematically verifiable.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05A3A"/>
          </a:solidFill>
          <a:ln w="12700">
            <a:solidFill>
              <a:srgbClr val="E05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FG-EAI  ·  WORK ITEMS F &amp; G — EAI Structural Cognition  [Submitted: 7th Meeting, May 2026]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structural cognition layer that connects the network (A–E) to embodied intelligence.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1168" y="1207008"/>
            <a:ext cx="4206240" cy="3657600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E05A3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64208" y="1115568"/>
            <a:ext cx="914400" cy="914400"/>
          </a:xfrm>
          <a:prstGeom prst="ellipse">
            <a:avLst/>
          </a:prstGeom>
          <a:solidFill>
            <a:srgbClr val="E05A3A"/>
          </a:solidFill>
          <a:ln w="12700">
            <a:solidFill>
              <a:srgbClr val="E05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64208" y="111556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208483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Multimodal Decomposition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" y="2606040"/>
            <a:ext cx="384048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(Signal Experience Unit)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minimal standardized primitive for EAI perception.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8-Channel independent decomposition: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CH1 Vision  ·  CH2 Audio  ·  CH3 Spatial
CH4 Biometric  ·  CH5 Behavioral
CH6 Environmental  ·  CH7 Network  ·  CH8 Control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independence preserved — full traceability from sensing to decision. No early fusion, no loss of modality identity.
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confirmed: No existing 3GPP, ETSI, ITU-T, or IEEE standard defines an SEU-level primitive.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36592" y="1207008"/>
            <a:ext cx="4206240" cy="3657600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B0302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99632" y="1115568"/>
            <a:ext cx="914400" cy="914400"/>
          </a:xfrm>
          <a:prstGeom prst="ellipse">
            <a:avLst/>
          </a:prstGeom>
          <a:solidFill>
            <a:srgbClr val="B03028"/>
          </a:solidFill>
          <a:ln w="12700">
            <a:solidFill>
              <a:srgbClr val="B030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9632" y="111556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864608" y="208483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Cognition Cube as EAI Perception Framework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64608" y="2606040"/>
            <a:ext cx="388620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Four-axis Cognition Cube synthesizing all 8 channels:
</a:t>
            </a:r>
            <a:pPr indent="0" marL="0">
              <a:buNone/>
            </a:pPr>
            <a:r>
              <a:rPr lang="en-US" sz="1050" b="1" dirty="0">
                <a:solidFill>
                  <a:srgbClr val="FF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— Temporal Anchor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Spatio-temporal sync across all modalities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Context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situational awareness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— Intent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purpose extracted from behavior — not commands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— Emotion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Affective state for adaptive human-AI co-presence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Dual-layer memory: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Memory Layer (immutable) + Cube Memory Layer (semantic index). High-fidelity reconstruction + high-speed cognitive retrieval.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FG-EAI  ·  WORK ITEMS H &amp; I — Control Independence &amp; Human Interface  [Next Meeting]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submitted at the next FG-EAI meeting — the final two layers completing the full A→I framework.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1168" y="1207008"/>
            <a:ext cx="4206240" cy="3657600"/>
          </a:xfrm>
          <a:prstGeom prst="rect">
            <a:avLst/>
          </a:prstGeom>
          <a:solidFill>
            <a:srgbClr val="E8F4F8"/>
          </a:solidFill>
          <a:ln w="25400">
            <a:solidFill>
              <a:srgbClr val="E8842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64208" y="1115568"/>
            <a:ext cx="914400" cy="914400"/>
          </a:xfrm>
          <a:prstGeom prst="ellipse">
            <a:avLst/>
          </a:prstGeom>
          <a:solidFill>
            <a:srgbClr val="E8842A"/>
          </a:solidFill>
          <a:ln w="12700">
            <a:solidFill>
              <a:srgbClr val="E884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64208" y="111556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20848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E2E Control Architecture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" y="2606040"/>
            <a:ext cx="384048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EAI shares a single channel for perception and control — control is blocked until perception resolves.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16-channel Dual E2E separation: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#1 (CH1–8): </a:t>
            </a:r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plane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#2 (CH9–16): </a:t>
            </a:r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connects directly to M-Axis of Cognition Cube → pre-cognitive action: EAI acts on accumulated experience before real-time perception resolves.
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E88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CH11 Safety Override: architecture-level safety independent of sensor availability.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36592" y="1207008"/>
            <a:ext cx="4206240" cy="3657600"/>
          </a:xfrm>
          <a:prstGeom prst="rect">
            <a:avLst/>
          </a:prstGeom>
          <a:solidFill>
            <a:srgbClr val="E8F4F8"/>
          </a:solidFill>
          <a:ln w="25400">
            <a:solidFill>
              <a:srgbClr val="8A680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99632" y="1115568"/>
            <a:ext cx="914400" cy="914400"/>
          </a:xfrm>
          <a:prstGeom prst="ellipse">
            <a:avLst/>
          </a:prstGeom>
          <a:solidFill>
            <a:srgbClr val="8A6800"/>
          </a:solidFill>
          <a:ln w="12700">
            <a:solidFill>
              <a:srgbClr val="8A6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9632" y="111556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864608" y="20848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Projection Cognitive Interface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64608" y="2606040"/>
            <a:ext cx="388620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interfaces are coarse. Operator expertise is transactional — never structurally transferred to the EAI.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Projection via smart glasses: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glasses → PAI bridge → EAI Cognition Cube (CH1–8). Not a command — a cognitive projection.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M-Axis accumulation: </a:t>
            </a:r>
            <a:pPr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mission deposits experience. Dependency on human projection decreases progressively.
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is not a feature switch. It is a structural property that emerges as experience deepens.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DEPENDENCY CHAIN — Work Items A Through 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any one layer and everything above it loses its structural foundation.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207008"/>
            <a:ext cx="8595360" cy="347472"/>
          </a:xfrm>
          <a:prstGeom prst="rect">
            <a:avLst/>
          </a:prstGeom>
          <a:solidFill>
            <a:srgbClr val="00B4D8">
              <a:alpha val="82000"/>
            </a:srgbClr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07008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1225296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Topology-First Architecture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9808" y="1399032"/>
            <a:ext cx="6675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space before addressing — geometric path existence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52360" y="128930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 ✓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1609344"/>
            <a:ext cx="7863840" cy="347472"/>
          </a:xfrm>
          <a:prstGeom prst="rect">
            <a:avLst/>
          </a:prstGeom>
          <a:solidFill>
            <a:srgbClr val="0077A8">
              <a:alpha val="82000"/>
            </a:srgbClr>
          </a:solidFill>
          <a:ln w="19050">
            <a:solidFill>
              <a:srgbClr val="0077A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609344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162763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Optical-Native E2E (MOCT)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15568" y="1801368"/>
            <a:ext cx="5943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isolated optical cores — deterministic parallelism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86600" y="169164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 ✓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05840" y="2011680"/>
            <a:ext cx="7132320" cy="347472"/>
          </a:xfrm>
          <a:prstGeom prst="rect">
            <a:avLst/>
          </a:prstGeom>
          <a:solidFill>
            <a:srgbClr val="7B5EA7">
              <a:alpha val="82000"/>
            </a:srgbClr>
          </a:solidFill>
          <a:ln w="19050">
            <a:solidFill>
              <a:srgbClr val="7B5EA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05840" y="2011680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81328" y="2029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Embedded AI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481328" y="2203704"/>
            <a:ext cx="5212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 / AAI / AsAI native to topology — AI safety by structure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20840" y="209397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 ✓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371600" y="2414016"/>
            <a:ext cx="6400800" cy="347472"/>
          </a:xfrm>
          <a:prstGeom prst="rect">
            <a:avLst/>
          </a:prstGeom>
          <a:solidFill>
            <a:srgbClr val="2DC653">
              <a:alpha val="82000"/>
            </a:srgbClr>
          </a:solidFill>
          <a:ln w="19050">
            <a:solidFill>
              <a:srgbClr val="2DC65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371600" y="2414016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847088" y="243230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Governance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847088" y="2606040"/>
            <a:ext cx="4480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projection — sovereignty encoded as structural invariant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55080" y="249631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 ✓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37360" y="2816352"/>
            <a:ext cx="5669280" cy="347472"/>
          </a:xfrm>
          <a:prstGeom prst="rect">
            <a:avLst/>
          </a:prstGeom>
          <a:solidFill>
            <a:srgbClr val="D4850A">
              <a:alpha val="82000"/>
            </a:srgbClr>
          </a:solidFill>
          <a:ln w="19050">
            <a:solidFill>
              <a:srgbClr val="D4850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737360" y="2816352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212848" y="28346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Framework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212848" y="3008376"/>
            <a:ext cx="3749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graph · Q7 hypercube · non-collision constraint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89320" y="289864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 ✓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103120" y="3218688"/>
            <a:ext cx="4937760" cy="347472"/>
          </a:xfrm>
          <a:prstGeom prst="rect">
            <a:avLst/>
          </a:prstGeom>
          <a:solidFill>
            <a:srgbClr val="E05A3A">
              <a:alpha val="82000"/>
            </a:srgbClr>
          </a:solidFill>
          <a:ln w="19050">
            <a:solidFill>
              <a:srgbClr val="E05A3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103120" y="3218688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578608" y="323697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Decomposition (SEU)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578608" y="3410712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8-channel independent perception — the EAI sensing primitive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23560" y="330098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FG-EAI ✓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468880" y="3621024"/>
            <a:ext cx="4206240" cy="347472"/>
          </a:xfrm>
          <a:prstGeom prst="rect">
            <a:avLst/>
          </a:prstGeom>
          <a:solidFill>
            <a:srgbClr val="B03028">
              <a:alpha val="82000"/>
            </a:srgbClr>
          </a:solidFill>
          <a:ln w="19050">
            <a:solidFill>
              <a:srgbClr val="B0302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7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468880" y="3621024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944368" y="36393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Cognition Cube (T/C/I/E)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944368" y="3813048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Four-axis synthesis · dual-layer memory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57800" y="370332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FG-EAI ✓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834640" y="4023360"/>
            <a:ext cx="3474720" cy="347472"/>
          </a:xfrm>
          <a:prstGeom prst="rect">
            <a:avLst/>
          </a:prstGeom>
          <a:solidFill>
            <a:srgbClr val="E8842A">
              <a:alpha val="38000"/>
            </a:srgbClr>
          </a:solidFill>
          <a:ln w="12700">
            <a:solidFill>
              <a:srgbClr val="E8842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7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834640" y="4023360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310128" y="404164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E2E Control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92040" y="410565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◷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00400" y="4425696"/>
            <a:ext cx="2743200" cy="347472"/>
          </a:xfrm>
          <a:prstGeom prst="rect">
            <a:avLst/>
          </a:prstGeom>
          <a:solidFill>
            <a:srgbClr val="8A6800">
              <a:alpha val="38000"/>
            </a:srgbClr>
          </a:solidFill>
          <a:ln w="12700">
            <a:solidFill>
              <a:srgbClr val="8A680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7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200400" y="4425696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675888" y="444398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Projection Interface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526280" y="450799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◷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Narrower toward the top: each item is a necessary condition for the one above it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architecture.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structural invariants.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804672" cy="502920"/>
          </a:xfrm>
          <a:prstGeom prst="rect">
            <a:avLst/>
          </a:prstGeom>
          <a:solidFill>
            <a:srgbClr val="00B4D8">
              <a:alpha val="7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38528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A–E  FG-AINN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463040" y="1975104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topology, optical hardware, embedded AI, sovereign governance, and mathematical foundations — submitted and under study.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804672" cy="502920"/>
          </a:xfrm>
          <a:prstGeom prst="rect">
            <a:avLst/>
          </a:prstGeom>
          <a:solidFill>
            <a:srgbClr val="F4A261">
              <a:alpha val="72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51760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F–G  FG-EAI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463040" y="2688336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SEU-based multimodal decomposition and Cognition Cube synthesis — submitted at the 7th meeting, May 2026.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364992"/>
            <a:ext cx="804672" cy="502920"/>
          </a:xfrm>
          <a:prstGeom prst="rect">
            <a:avLst/>
          </a:prstGeom>
          <a:solidFill>
            <a:srgbClr val="8EAAB8">
              <a:alpha val="72000"/>
            </a:srgbClr>
          </a:solidFill>
          <a:ln w="12700">
            <a:solidFill>
              <a:srgbClr val="8EAA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364992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H–I  FG-EAI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463040" y="3401568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E2E control independence and human cognitive projection interface — to be submitted at the next FG-EAI meeting.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Correctness. Security. Intelligence. Governance. Cognition. Autonomy.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structural invariants — not emergent properties.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4805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  |  Velsanet Architecture Group  |  joa337@gmail.com  |  github.com/joa337/velsanet-whitepapers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Velsanet — Complete Architecture for IMT-2030</dc:title>
  <dc:subject>PptxGenJS Presentation</dc:subject>
  <dc:creator>PptxGenJS</dc:creator>
  <cp:lastModifiedBy>PptxGenJS</cp:lastModifiedBy>
  <cp:revision>1</cp:revision>
  <dcterms:created xsi:type="dcterms:W3CDTF">2026-04-29T16:37:57Z</dcterms:created>
  <dcterms:modified xsi:type="dcterms:W3CDTF">2026-04-29T16:37:57Z</dcterms:modified>
</cp:coreProperties>
</file>