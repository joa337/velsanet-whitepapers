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73" r:id="rId4"/>
    <p:sldId id="256" r:id="rId5"/>
    <p:sldId id="258" r:id="rId6"/>
    <p:sldId id="259" r:id="rId7"/>
    <p:sldId id="278" r:id="rId8"/>
    <p:sldId id="261" r:id="rId9"/>
    <p:sldId id="262" r:id="rId10"/>
    <p:sldId id="263" r:id="rId11"/>
    <p:sldId id="266" r:id="rId12"/>
    <p:sldId id="265" r:id="rId13"/>
    <p:sldId id="269" r:id="rId14"/>
    <p:sldId id="274" r:id="rId15"/>
    <p:sldId id="270" r:id="rId16"/>
    <p:sldId id="271" r:id="rId17"/>
    <p:sldId id="268" r:id="rId18"/>
    <p:sldId id="275" r:id="rId19"/>
    <p:sldId id="276" r:id="rId20"/>
    <p:sldId id="277" r:id="rId21"/>
    <p:sldId id="279" r:id="rId22"/>
    <p:sldId id="280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3" d="100"/>
          <a:sy n="93" d="100"/>
        </p:scale>
        <p:origin x="4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44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97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053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35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1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464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83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14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85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024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34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8532E-75BF-430C-8473-92EB1104060B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04FB7-EB04-4626-923C-F1EF8841D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72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Velsanet AI White Paper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8912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526"/>
            <a:ext cx="11909816" cy="675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2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48" y="2630369"/>
            <a:ext cx="6791624" cy="2580458"/>
          </a:xfrm>
          <a:prstGeom prst="rect">
            <a:avLst/>
          </a:prstGeom>
        </p:spPr>
      </p:pic>
      <p:pic>
        <p:nvPicPr>
          <p:cNvPr id="5" name="그림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1007" y="2454846"/>
            <a:ext cx="2644966" cy="1590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직선 화살표 연결선 6"/>
          <p:cNvCxnSpPr>
            <a:stCxn id="8" idx="1"/>
          </p:cNvCxnSpPr>
          <p:nvPr/>
        </p:nvCxnSpPr>
        <p:spPr>
          <a:xfrm flipH="1">
            <a:off x="7465511" y="3264210"/>
            <a:ext cx="2059645" cy="22124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9525156" y="2468759"/>
            <a:ext cx="2417523" cy="159090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7465511" y="488486"/>
            <a:ext cx="3031299" cy="1744158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7465512" y="463463"/>
            <a:ext cx="3031299" cy="179122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>
            <a:stCxn id="11" idx="2"/>
          </p:cNvCxnSpPr>
          <p:nvPr/>
        </p:nvCxnSpPr>
        <p:spPr>
          <a:xfrm flipH="1">
            <a:off x="6914367" y="2254685"/>
            <a:ext cx="2066795" cy="81419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팔각형 13"/>
          <p:cNvSpPr/>
          <p:nvPr/>
        </p:nvSpPr>
        <p:spPr>
          <a:xfrm>
            <a:off x="7673444" y="3596506"/>
            <a:ext cx="274320" cy="224444"/>
          </a:xfrm>
          <a:prstGeom prst="octagon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C000"/>
                </a:solidFill>
              </a:rPr>
              <a:t>8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17" name="십이각형 16"/>
          <p:cNvSpPr/>
          <p:nvPr/>
        </p:nvSpPr>
        <p:spPr>
          <a:xfrm>
            <a:off x="6892436" y="2320398"/>
            <a:ext cx="594987" cy="451034"/>
          </a:xfrm>
          <a:prstGeom prst="dodecago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7030A0"/>
                </a:solidFill>
              </a:rPr>
              <a:t>12</a:t>
            </a:r>
            <a:endParaRPr lang="ko-KR" altLang="en-US" dirty="0">
              <a:solidFill>
                <a:srgbClr val="7030A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082417" y="3507495"/>
            <a:ext cx="839244" cy="40032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C000"/>
                </a:solidFill>
              </a:rPr>
              <a:t>PAI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608387" y="2837145"/>
            <a:ext cx="889348" cy="40083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7030A0"/>
                </a:solidFill>
              </a:rPr>
              <a:t>AAI</a:t>
            </a:r>
            <a:endParaRPr lang="ko-KR" altLang="en-US" dirty="0">
              <a:solidFill>
                <a:srgbClr val="7030A0"/>
              </a:solidFill>
            </a:endParaRPr>
          </a:p>
        </p:txBody>
      </p:sp>
      <p:sp>
        <p:nvSpPr>
          <p:cNvPr id="20" name="십이각형 19"/>
          <p:cNvSpPr/>
          <p:nvPr/>
        </p:nvSpPr>
        <p:spPr>
          <a:xfrm>
            <a:off x="3814866" y="2024350"/>
            <a:ext cx="594987" cy="451034"/>
          </a:xfrm>
          <a:prstGeom prst="dodecagon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70C0"/>
                </a:solidFill>
              </a:rPr>
              <a:t>20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91254" y="388210"/>
            <a:ext cx="3131507" cy="14905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2649946" y="2049450"/>
            <a:ext cx="889348" cy="40083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70C0"/>
                </a:solidFill>
              </a:rPr>
              <a:t>AsAI</a:t>
            </a:r>
            <a:endParaRPr lang="ko-KR" altLang="en-US" dirty="0">
              <a:solidFill>
                <a:srgbClr val="0070C0"/>
              </a:solidFill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4022761" y="1183613"/>
            <a:ext cx="684239" cy="1587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팔각형 27"/>
          <p:cNvSpPr/>
          <p:nvPr/>
        </p:nvSpPr>
        <p:spPr>
          <a:xfrm>
            <a:off x="7280015" y="3934355"/>
            <a:ext cx="274320" cy="224444"/>
          </a:xfrm>
          <a:prstGeom prst="octagon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B050"/>
                </a:solidFill>
              </a:rPr>
              <a:t>6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29" name="팔각형 28"/>
          <p:cNvSpPr/>
          <p:nvPr/>
        </p:nvSpPr>
        <p:spPr>
          <a:xfrm>
            <a:off x="7673444" y="4541149"/>
            <a:ext cx="274320" cy="224444"/>
          </a:xfrm>
          <a:prstGeom prst="octag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4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8087505" y="3991027"/>
            <a:ext cx="839244" cy="40032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B050"/>
                </a:solidFill>
              </a:rPr>
              <a:t>RAN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8087505" y="4474559"/>
            <a:ext cx="839244" cy="400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rgbClr val="FF0000"/>
                </a:solidFill>
              </a:rPr>
              <a:t>Access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4272136" y="736675"/>
            <a:ext cx="2917803" cy="35689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</a:rPr>
              <a:t>Velsanet AI White Paper (v1.2_20251202)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5" name="직선 화살표 연결선 34"/>
          <p:cNvCxnSpPr>
            <a:endCxn id="19" idx="0"/>
          </p:cNvCxnSpPr>
          <p:nvPr/>
        </p:nvCxnSpPr>
        <p:spPr>
          <a:xfrm>
            <a:off x="6093911" y="1106795"/>
            <a:ext cx="1959150" cy="1730350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endCxn id="18" idx="0"/>
          </p:cNvCxnSpPr>
          <p:nvPr/>
        </p:nvCxnSpPr>
        <p:spPr>
          <a:xfrm>
            <a:off x="6078601" y="1109297"/>
            <a:ext cx="2423438" cy="2398198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endCxn id="24" idx="0"/>
          </p:cNvCxnSpPr>
          <p:nvPr/>
        </p:nvCxnSpPr>
        <p:spPr>
          <a:xfrm rot="10800000" flipV="1">
            <a:off x="3094620" y="1106794"/>
            <a:ext cx="2998118" cy="942656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모서리가 둥근 직사각형 41"/>
          <p:cNvSpPr/>
          <p:nvPr/>
        </p:nvSpPr>
        <p:spPr>
          <a:xfrm>
            <a:off x="2083333" y="5459951"/>
            <a:ext cx="3032152" cy="35689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Velsanet White Paper(v2.0_251018)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/>
          <p:cNvCxnSpPr>
            <a:stCxn id="42" idx="0"/>
            <a:endCxn id="29" idx="4"/>
          </p:cNvCxnSpPr>
          <p:nvPr/>
        </p:nvCxnSpPr>
        <p:spPr>
          <a:xfrm rot="5400000" flipH="1" flipV="1">
            <a:off x="5256379" y="3042887"/>
            <a:ext cx="760095" cy="4074035"/>
          </a:xfrm>
          <a:prstGeom prst="curvedConnector2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42" idx="0"/>
            <a:endCxn id="28" idx="4"/>
          </p:cNvCxnSpPr>
          <p:nvPr/>
        </p:nvCxnSpPr>
        <p:spPr>
          <a:xfrm rot="5400000" flipH="1" flipV="1">
            <a:off x="4756268" y="2936204"/>
            <a:ext cx="1366889" cy="3680606"/>
          </a:xfrm>
          <a:prstGeom prst="curvedConnector2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42" idx="0"/>
            <a:endCxn id="14" idx="5"/>
          </p:cNvCxnSpPr>
          <p:nvPr/>
        </p:nvCxnSpPr>
        <p:spPr>
          <a:xfrm rot="5400000" flipH="1" flipV="1">
            <a:off x="4737572" y="2524080"/>
            <a:ext cx="1797708" cy="4074035"/>
          </a:xfrm>
          <a:prstGeom prst="curvedConnector2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42" idx="0"/>
            <a:endCxn id="17" idx="6"/>
          </p:cNvCxnSpPr>
          <p:nvPr/>
        </p:nvCxnSpPr>
        <p:spPr>
          <a:xfrm rot="5400000" flipH="1" flipV="1">
            <a:off x="3911307" y="2399105"/>
            <a:ext cx="2748949" cy="3372744"/>
          </a:xfrm>
          <a:prstGeom prst="curvedConnector2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42" idx="0"/>
            <a:endCxn id="20" idx="5"/>
          </p:cNvCxnSpPr>
          <p:nvPr/>
        </p:nvCxnSpPr>
        <p:spPr>
          <a:xfrm flipV="1">
            <a:off x="3599409" y="2475384"/>
            <a:ext cx="433233" cy="2984567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팔각형 52"/>
          <p:cNvSpPr/>
          <p:nvPr/>
        </p:nvSpPr>
        <p:spPr>
          <a:xfrm>
            <a:off x="236706" y="3341806"/>
            <a:ext cx="274320" cy="224444"/>
          </a:xfrm>
          <a:prstGeom prst="octagon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C000"/>
                </a:solidFill>
              </a:rPr>
              <a:t>8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54" name="십이각형 53"/>
          <p:cNvSpPr/>
          <p:nvPr/>
        </p:nvSpPr>
        <p:spPr>
          <a:xfrm>
            <a:off x="100812" y="2771432"/>
            <a:ext cx="594987" cy="451034"/>
          </a:xfrm>
          <a:prstGeom prst="dodecagon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7030A0"/>
                </a:solidFill>
              </a:rPr>
              <a:t>12</a:t>
            </a:r>
            <a:endParaRPr lang="ko-KR" altLang="en-US" dirty="0">
              <a:solidFill>
                <a:srgbClr val="7030A0"/>
              </a:solidFill>
            </a:endParaRPr>
          </a:p>
        </p:txBody>
      </p:sp>
      <p:sp>
        <p:nvSpPr>
          <p:cNvPr id="55" name="십이각형 54"/>
          <p:cNvSpPr/>
          <p:nvPr/>
        </p:nvSpPr>
        <p:spPr>
          <a:xfrm>
            <a:off x="96590" y="2179335"/>
            <a:ext cx="594987" cy="451034"/>
          </a:xfrm>
          <a:prstGeom prst="dodecagon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70C0"/>
                </a:solidFill>
              </a:rPr>
              <a:t>20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57" name="팔각형 56"/>
          <p:cNvSpPr/>
          <p:nvPr/>
        </p:nvSpPr>
        <p:spPr>
          <a:xfrm>
            <a:off x="256577" y="4158799"/>
            <a:ext cx="274320" cy="224444"/>
          </a:xfrm>
          <a:prstGeom prst="octagon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B050"/>
                </a:solidFill>
              </a:rPr>
              <a:t>6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58" name="팔각형 57"/>
          <p:cNvSpPr/>
          <p:nvPr/>
        </p:nvSpPr>
        <p:spPr>
          <a:xfrm>
            <a:off x="278012" y="4890653"/>
            <a:ext cx="274320" cy="224444"/>
          </a:xfrm>
          <a:prstGeom prst="octag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4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0" y="2024350"/>
            <a:ext cx="891254" cy="375959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모서리가 둥근 직사각형 59"/>
          <p:cNvSpPr/>
          <p:nvPr/>
        </p:nvSpPr>
        <p:spPr>
          <a:xfrm>
            <a:off x="172576" y="6291352"/>
            <a:ext cx="3105665" cy="239672"/>
          </a:xfrm>
          <a:prstGeom prst="round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Velsanet Network AI </a:t>
            </a:r>
            <a:r>
              <a:rPr lang="en-US" altLang="ko-KR" sz="1000">
                <a:solidFill>
                  <a:schemeClr val="tx1"/>
                </a:solidFill>
              </a:rPr>
              <a:t>White </a:t>
            </a:r>
            <a:r>
              <a:rPr lang="en-US" altLang="ko-KR" sz="1000" smtClean="0">
                <a:solidFill>
                  <a:schemeClr val="tx1"/>
                </a:solidFill>
              </a:rPr>
              <a:t>Paper(v1.3_20251222)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/>
          <p:cNvCxnSpPr>
            <a:stCxn id="60" idx="0"/>
          </p:cNvCxnSpPr>
          <p:nvPr/>
        </p:nvCxnSpPr>
        <p:spPr>
          <a:xfrm flipH="1" flipV="1">
            <a:off x="904667" y="5712992"/>
            <a:ext cx="820742" cy="57836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6"/>
          <p:cNvSpPr/>
          <p:nvPr/>
        </p:nvSpPr>
        <p:spPr>
          <a:xfrm>
            <a:off x="7280015" y="5867969"/>
            <a:ext cx="4284691" cy="35689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Velsanet Wired Wireless ConvergenceWhite Paper(v1.0_20251208)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9" name="직선 화살표 연결선 68"/>
          <p:cNvCxnSpPr>
            <a:stCxn id="67" idx="0"/>
            <a:endCxn id="32" idx="3"/>
          </p:cNvCxnSpPr>
          <p:nvPr/>
        </p:nvCxnSpPr>
        <p:spPr>
          <a:xfrm flipH="1" flipV="1">
            <a:off x="8926749" y="4674720"/>
            <a:ext cx="495612" cy="119324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67" idx="0"/>
            <a:endCxn id="31" idx="3"/>
          </p:cNvCxnSpPr>
          <p:nvPr/>
        </p:nvCxnSpPr>
        <p:spPr>
          <a:xfrm flipH="1" flipV="1">
            <a:off x="8926749" y="4191188"/>
            <a:ext cx="495612" cy="167678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67" idx="0"/>
            <a:endCxn id="18" idx="3"/>
          </p:cNvCxnSpPr>
          <p:nvPr/>
        </p:nvCxnSpPr>
        <p:spPr>
          <a:xfrm flipH="1" flipV="1">
            <a:off x="8921661" y="3707656"/>
            <a:ext cx="500700" cy="216031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타원 80"/>
          <p:cNvSpPr/>
          <p:nvPr/>
        </p:nvSpPr>
        <p:spPr>
          <a:xfrm>
            <a:off x="6789107" y="4541149"/>
            <a:ext cx="125260" cy="133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/>
          <p:cNvSpPr/>
          <p:nvPr/>
        </p:nvSpPr>
        <p:spPr>
          <a:xfrm>
            <a:off x="5919520" y="4059957"/>
            <a:ext cx="125260" cy="133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/>
          <p:cNvSpPr/>
          <p:nvPr/>
        </p:nvSpPr>
        <p:spPr>
          <a:xfrm>
            <a:off x="5474498" y="4209042"/>
            <a:ext cx="125260" cy="133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/>
          <p:cNvSpPr/>
          <p:nvPr/>
        </p:nvSpPr>
        <p:spPr>
          <a:xfrm>
            <a:off x="6626329" y="3580873"/>
            <a:ext cx="125260" cy="133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타원 85"/>
          <p:cNvSpPr/>
          <p:nvPr/>
        </p:nvSpPr>
        <p:spPr>
          <a:xfrm>
            <a:off x="5644032" y="3406148"/>
            <a:ext cx="125260" cy="133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/>
          <p:cNvSpPr/>
          <p:nvPr/>
        </p:nvSpPr>
        <p:spPr>
          <a:xfrm>
            <a:off x="2923623" y="3214763"/>
            <a:ext cx="125260" cy="133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/>
          <p:cNvSpPr/>
          <p:nvPr/>
        </p:nvSpPr>
        <p:spPr>
          <a:xfrm>
            <a:off x="4816802" y="3016483"/>
            <a:ext cx="125260" cy="133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>
            <a:off x="5398718" y="2773574"/>
            <a:ext cx="125260" cy="133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화살표 연결선 90"/>
          <p:cNvCxnSpPr>
            <a:stCxn id="92" idx="0"/>
            <a:endCxn id="81" idx="4"/>
          </p:cNvCxnSpPr>
          <p:nvPr/>
        </p:nvCxnSpPr>
        <p:spPr>
          <a:xfrm flipH="1" flipV="1">
            <a:off x="6851737" y="4674719"/>
            <a:ext cx="254894" cy="778680"/>
          </a:xfrm>
          <a:prstGeom prst="straightConnector1">
            <a:avLst/>
          </a:prstGeom>
          <a:ln>
            <a:solidFill>
              <a:schemeClr val="accent1">
                <a:alpha val="83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모서리가 둥근 직사각형 91"/>
          <p:cNvSpPr/>
          <p:nvPr/>
        </p:nvSpPr>
        <p:spPr>
          <a:xfrm>
            <a:off x="5291601" y="5453399"/>
            <a:ext cx="3630059" cy="3568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Velsanet Multi-Optical-Core Transceiver (MOCT) White Paper(v1.1_20251207)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14" name="직선 연결선 113"/>
          <p:cNvCxnSpPr>
            <a:endCxn id="84" idx="6"/>
          </p:cNvCxnSpPr>
          <p:nvPr/>
        </p:nvCxnSpPr>
        <p:spPr>
          <a:xfrm flipH="1" flipV="1">
            <a:off x="5599758" y="4275827"/>
            <a:ext cx="1189349" cy="265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>
            <a:stCxn id="84" idx="6"/>
            <a:endCxn id="83" idx="3"/>
          </p:cNvCxnSpPr>
          <p:nvPr/>
        </p:nvCxnSpPr>
        <p:spPr>
          <a:xfrm flipV="1">
            <a:off x="5599758" y="4173966"/>
            <a:ext cx="338106" cy="101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>
            <a:stCxn id="83" idx="7"/>
            <a:endCxn id="85" idx="3"/>
          </p:cNvCxnSpPr>
          <p:nvPr/>
        </p:nvCxnSpPr>
        <p:spPr>
          <a:xfrm flipV="1">
            <a:off x="6026436" y="3694882"/>
            <a:ext cx="618237" cy="384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 flipH="1" flipV="1">
            <a:off x="5784867" y="3485454"/>
            <a:ext cx="833225" cy="176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>
            <a:stCxn id="86" idx="2"/>
            <a:endCxn id="87" idx="1"/>
          </p:cNvCxnSpPr>
          <p:nvPr/>
        </p:nvCxnSpPr>
        <p:spPr>
          <a:xfrm flipH="1" flipV="1">
            <a:off x="2941967" y="3234324"/>
            <a:ext cx="2702065" cy="238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>
            <a:stCxn id="87" idx="1"/>
            <a:endCxn id="88" idx="6"/>
          </p:cNvCxnSpPr>
          <p:nvPr/>
        </p:nvCxnSpPr>
        <p:spPr>
          <a:xfrm flipV="1">
            <a:off x="2941967" y="3083268"/>
            <a:ext cx="2000095" cy="151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>
            <a:stCxn id="88" idx="6"/>
            <a:endCxn id="89" idx="7"/>
          </p:cNvCxnSpPr>
          <p:nvPr/>
        </p:nvCxnSpPr>
        <p:spPr>
          <a:xfrm flipV="1">
            <a:off x="4942062" y="2793135"/>
            <a:ext cx="563572" cy="290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/>
          <p:cNvCxnSpPr/>
          <p:nvPr/>
        </p:nvCxnSpPr>
        <p:spPr>
          <a:xfrm flipH="1" flipV="1">
            <a:off x="2083332" y="2793135"/>
            <a:ext cx="2556000" cy="0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/>
          <p:cNvSpPr/>
          <p:nvPr/>
        </p:nvSpPr>
        <p:spPr>
          <a:xfrm>
            <a:off x="0" y="56342"/>
            <a:ext cx="11942679" cy="2742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Velsanet Full Architecture Overview</a:t>
            </a:r>
            <a:endParaRPr lang="ko-KR" altLang="en-US" dirty="0"/>
          </a:p>
        </p:txBody>
      </p:sp>
      <p:sp>
        <p:nvSpPr>
          <p:cNvPr id="63" name="모서리가 둥근 직사각형 62"/>
          <p:cNvSpPr/>
          <p:nvPr/>
        </p:nvSpPr>
        <p:spPr>
          <a:xfrm>
            <a:off x="4272136" y="341370"/>
            <a:ext cx="2917803" cy="35689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Velsanet Three-Layer AI System White Paper(v1.0_20251213)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2088725" y="5874521"/>
            <a:ext cx="3026760" cy="35689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</a:rPr>
              <a:t>Velsanet Matrix White Paper(v1.1_20251208)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9294304" y="4590763"/>
            <a:ext cx="2648375" cy="52433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Velsanet Multimodal Cube Architecture White Paper(V1.0_20251209)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/>
          <p:cNvCxnSpPr>
            <a:stCxn id="79" idx="0"/>
            <a:endCxn id="18" idx="3"/>
          </p:cNvCxnSpPr>
          <p:nvPr/>
        </p:nvCxnSpPr>
        <p:spPr>
          <a:xfrm flipH="1" flipV="1">
            <a:off x="8921661" y="3707656"/>
            <a:ext cx="1696831" cy="883107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79" idx="0"/>
            <a:endCxn id="19" idx="3"/>
          </p:cNvCxnSpPr>
          <p:nvPr/>
        </p:nvCxnSpPr>
        <p:spPr>
          <a:xfrm flipH="1" flipV="1">
            <a:off x="8497735" y="3037562"/>
            <a:ext cx="2120757" cy="1553201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79" idx="0"/>
            <a:endCxn id="24" idx="3"/>
          </p:cNvCxnSpPr>
          <p:nvPr/>
        </p:nvCxnSpPr>
        <p:spPr>
          <a:xfrm flipH="1" flipV="1">
            <a:off x="3539294" y="2249867"/>
            <a:ext cx="7079198" cy="234089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67"/>
          <p:cNvSpPr/>
          <p:nvPr/>
        </p:nvSpPr>
        <p:spPr>
          <a:xfrm>
            <a:off x="4005644" y="6289091"/>
            <a:ext cx="3533515" cy="241933"/>
          </a:xfrm>
          <a:prstGeom prst="round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IVGF Conceptual Existence White_Paper(v1.0_20251213)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오른쪽 화살표 14"/>
          <p:cNvSpPr/>
          <p:nvPr/>
        </p:nvSpPr>
        <p:spPr>
          <a:xfrm>
            <a:off x="3449717" y="6349348"/>
            <a:ext cx="349132" cy="106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모서리가 둥근 직사각형 74"/>
          <p:cNvSpPr/>
          <p:nvPr/>
        </p:nvSpPr>
        <p:spPr>
          <a:xfrm>
            <a:off x="8301881" y="6289091"/>
            <a:ext cx="3640799" cy="241933"/>
          </a:xfrm>
          <a:prstGeom prst="round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Velsanet Operational Charter White Paper </a:t>
            </a:r>
            <a:r>
              <a:rPr lang="en-US" altLang="ko-KR" sz="1000" dirty="0" smtClean="0">
                <a:solidFill>
                  <a:schemeClr val="tx1"/>
                </a:solidFill>
              </a:rPr>
              <a:t>  (</a:t>
            </a:r>
            <a:r>
              <a:rPr lang="en-US" altLang="ko-KR" sz="1000" dirty="0">
                <a:solidFill>
                  <a:schemeClr val="tx1"/>
                </a:solidFill>
              </a:rPr>
              <a:t>In Preparation)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오른쪽 화살표 75"/>
          <p:cNvSpPr/>
          <p:nvPr/>
        </p:nvSpPr>
        <p:spPr>
          <a:xfrm>
            <a:off x="7745954" y="6349464"/>
            <a:ext cx="349132" cy="106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72576" y="6592284"/>
            <a:ext cx="11770103" cy="227909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Velsanet Mathematical White Paper(v1.0_20251221)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/       Velsanet </a:t>
            </a:r>
            <a:r>
              <a:rPr lang="en-US" altLang="ko-KR" sz="1200" dirty="0">
                <a:solidFill>
                  <a:schemeClr val="bg1"/>
                </a:solidFill>
              </a:rPr>
              <a:t>Spatial Genesis White Paper(v1.0_20251221)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457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팔각형 3"/>
          <p:cNvSpPr/>
          <p:nvPr/>
        </p:nvSpPr>
        <p:spPr>
          <a:xfrm>
            <a:off x="2086495" y="1604356"/>
            <a:ext cx="1787236" cy="1762299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8</a:t>
            </a:r>
            <a:endParaRPr lang="ko-KR" altLang="en-US" dirty="0"/>
          </a:p>
        </p:txBody>
      </p:sp>
      <p:cxnSp>
        <p:nvCxnSpPr>
          <p:cNvPr id="8" name="직선 화살표 연결선 7"/>
          <p:cNvCxnSpPr>
            <a:endCxn id="9" idx="1"/>
          </p:cNvCxnSpPr>
          <p:nvPr/>
        </p:nvCxnSpPr>
        <p:spPr>
          <a:xfrm flipV="1">
            <a:off x="3557847" y="698269"/>
            <a:ext cx="1687484" cy="1064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5245331" y="573578"/>
            <a:ext cx="465513" cy="2493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팔각형 10"/>
          <p:cNvSpPr/>
          <p:nvPr/>
        </p:nvSpPr>
        <p:spPr>
          <a:xfrm>
            <a:off x="2842953" y="1118062"/>
            <a:ext cx="274320" cy="224444"/>
          </a:xfrm>
          <a:prstGeom prst="oc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팔각형 11"/>
          <p:cNvSpPr/>
          <p:nvPr/>
        </p:nvSpPr>
        <p:spPr>
          <a:xfrm>
            <a:off x="3726180" y="1533699"/>
            <a:ext cx="274320" cy="224444"/>
          </a:xfrm>
          <a:prstGeom prst="oc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팔각형 12"/>
          <p:cNvSpPr/>
          <p:nvPr/>
        </p:nvSpPr>
        <p:spPr>
          <a:xfrm>
            <a:off x="4102331" y="2340033"/>
            <a:ext cx="274320" cy="224444"/>
          </a:xfrm>
          <a:prstGeom prst="oc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5245331" y="947651"/>
            <a:ext cx="465513" cy="2493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5245331" y="1284317"/>
            <a:ext cx="465513" cy="2493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/>
          <p:cNvCxnSpPr>
            <a:endCxn id="14" idx="1"/>
          </p:cNvCxnSpPr>
          <p:nvPr/>
        </p:nvCxnSpPr>
        <p:spPr>
          <a:xfrm flipV="1">
            <a:off x="3640975" y="1072342"/>
            <a:ext cx="1604356" cy="764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endCxn id="15" idx="1"/>
          </p:cNvCxnSpPr>
          <p:nvPr/>
        </p:nvCxnSpPr>
        <p:spPr>
          <a:xfrm flipV="1">
            <a:off x="3726180" y="1409008"/>
            <a:ext cx="1519151" cy="486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3726180" y="743990"/>
            <a:ext cx="844780" cy="33666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optical cores B001~192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832667" y="573578"/>
            <a:ext cx="415637" cy="960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/>
          <p:cNvCxnSpPr>
            <a:stCxn id="9" idx="3"/>
          </p:cNvCxnSpPr>
          <p:nvPr/>
        </p:nvCxnSpPr>
        <p:spPr>
          <a:xfrm>
            <a:off x="5710844" y="698269"/>
            <a:ext cx="2121823" cy="45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stCxn id="14" idx="3"/>
            <a:endCxn id="21" idx="1"/>
          </p:cNvCxnSpPr>
          <p:nvPr/>
        </p:nvCxnSpPr>
        <p:spPr>
          <a:xfrm flipV="1">
            <a:off x="5710844" y="1053639"/>
            <a:ext cx="2121823" cy="18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15" idx="3"/>
          </p:cNvCxnSpPr>
          <p:nvPr/>
        </p:nvCxnSpPr>
        <p:spPr>
          <a:xfrm>
            <a:off x="5710844" y="1409008"/>
            <a:ext cx="21218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5070764" y="1758143"/>
            <a:ext cx="739832" cy="35329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Cube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7670569" y="1667223"/>
            <a:ext cx="739832" cy="35329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PAI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361709" y="2261062"/>
            <a:ext cx="216131" cy="44057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4049857" y="3029989"/>
            <a:ext cx="844780" cy="3366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optical cores C001~024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/>
          <p:cNvCxnSpPr>
            <a:stCxn id="30" idx="1"/>
          </p:cNvCxnSpPr>
          <p:nvPr/>
        </p:nvCxnSpPr>
        <p:spPr>
          <a:xfrm flipH="1" flipV="1">
            <a:off x="3882044" y="2277687"/>
            <a:ext cx="1479665" cy="20366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37"/>
          <p:cNvSpPr/>
          <p:nvPr/>
        </p:nvSpPr>
        <p:spPr>
          <a:xfrm>
            <a:off x="5361709" y="2851265"/>
            <a:ext cx="216131" cy="44057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화살표 연결선 38"/>
          <p:cNvCxnSpPr>
            <a:stCxn id="38" idx="1"/>
          </p:cNvCxnSpPr>
          <p:nvPr/>
        </p:nvCxnSpPr>
        <p:spPr>
          <a:xfrm flipH="1" flipV="1">
            <a:off x="3863341" y="2486371"/>
            <a:ext cx="1498368" cy="58518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위쪽/아래쪽 화살표 40"/>
          <p:cNvSpPr/>
          <p:nvPr/>
        </p:nvSpPr>
        <p:spPr>
          <a:xfrm>
            <a:off x="6075045" y="2379254"/>
            <a:ext cx="45719" cy="17456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6180051" y="2634322"/>
            <a:ext cx="709698" cy="232235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8ch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7" name="빗면 46"/>
          <p:cNvSpPr/>
          <p:nvPr/>
        </p:nvSpPr>
        <p:spPr>
          <a:xfrm>
            <a:off x="6163886" y="573578"/>
            <a:ext cx="1322764" cy="1072343"/>
          </a:xfrm>
          <a:prstGeom prst="bevel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Velsanet Dedicated Equipment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빗면 47"/>
          <p:cNvSpPr/>
          <p:nvPr/>
        </p:nvSpPr>
        <p:spPr>
          <a:xfrm>
            <a:off x="7486650" y="2118762"/>
            <a:ext cx="1322764" cy="1072343"/>
          </a:xfrm>
          <a:prstGeom prst="bevel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Velsanet Dedicated Equipment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자유형 48"/>
          <p:cNvSpPr/>
          <p:nvPr/>
        </p:nvSpPr>
        <p:spPr>
          <a:xfrm>
            <a:off x="5572125" y="752475"/>
            <a:ext cx="3925413" cy="1581150"/>
          </a:xfrm>
          <a:custGeom>
            <a:avLst/>
            <a:gdLst>
              <a:gd name="connsiteX0" fmla="*/ 2686050 w 3925413"/>
              <a:gd name="connsiteY0" fmla="*/ 0 h 1581150"/>
              <a:gd name="connsiteX1" fmla="*/ 3667125 w 3925413"/>
              <a:gd name="connsiteY1" fmla="*/ 904875 h 1581150"/>
              <a:gd name="connsiteX2" fmla="*/ 3590925 w 3925413"/>
              <a:gd name="connsiteY2" fmla="*/ 1476375 h 1581150"/>
              <a:gd name="connsiteX3" fmla="*/ 0 w 3925413"/>
              <a:gd name="connsiteY3" fmla="*/ 1581150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5413" h="1581150">
                <a:moveTo>
                  <a:pt x="2686050" y="0"/>
                </a:moveTo>
                <a:cubicBezTo>
                  <a:pt x="3101181" y="329406"/>
                  <a:pt x="3516312" y="658812"/>
                  <a:pt x="3667125" y="904875"/>
                </a:cubicBezTo>
                <a:cubicBezTo>
                  <a:pt x="3817938" y="1150938"/>
                  <a:pt x="4202113" y="1363663"/>
                  <a:pt x="3590925" y="1476375"/>
                </a:cubicBezTo>
                <a:cubicBezTo>
                  <a:pt x="2979738" y="1589088"/>
                  <a:pt x="531812" y="1447800"/>
                  <a:pt x="0" y="158115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자유형 49"/>
          <p:cNvSpPr/>
          <p:nvPr/>
        </p:nvSpPr>
        <p:spPr>
          <a:xfrm>
            <a:off x="5581996" y="843565"/>
            <a:ext cx="3925413" cy="1581150"/>
          </a:xfrm>
          <a:custGeom>
            <a:avLst/>
            <a:gdLst>
              <a:gd name="connsiteX0" fmla="*/ 2686050 w 3925413"/>
              <a:gd name="connsiteY0" fmla="*/ 0 h 1581150"/>
              <a:gd name="connsiteX1" fmla="*/ 3667125 w 3925413"/>
              <a:gd name="connsiteY1" fmla="*/ 904875 h 1581150"/>
              <a:gd name="connsiteX2" fmla="*/ 3590925 w 3925413"/>
              <a:gd name="connsiteY2" fmla="*/ 1476375 h 1581150"/>
              <a:gd name="connsiteX3" fmla="*/ 0 w 3925413"/>
              <a:gd name="connsiteY3" fmla="*/ 1581150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5413" h="1581150">
                <a:moveTo>
                  <a:pt x="2686050" y="0"/>
                </a:moveTo>
                <a:cubicBezTo>
                  <a:pt x="3101181" y="329406"/>
                  <a:pt x="3516312" y="658812"/>
                  <a:pt x="3667125" y="904875"/>
                </a:cubicBezTo>
                <a:cubicBezTo>
                  <a:pt x="3817938" y="1150938"/>
                  <a:pt x="4202113" y="1363663"/>
                  <a:pt x="3590925" y="1476375"/>
                </a:cubicBezTo>
                <a:cubicBezTo>
                  <a:pt x="2979738" y="1589088"/>
                  <a:pt x="531812" y="1447800"/>
                  <a:pt x="0" y="158115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자유형 50"/>
          <p:cNvSpPr/>
          <p:nvPr/>
        </p:nvSpPr>
        <p:spPr>
          <a:xfrm>
            <a:off x="5572125" y="1053293"/>
            <a:ext cx="3925413" cy="1581150"/>
          </a:xfrm>
          <a:custGeom>
            <a:avLst/>
            <a:gdLst>
              <a:gd name="connsiteX0" fmla="*/ 2686050 w 3925413"/>
              <a:gd name="connsiteY0" fmla="*/ 0 h 1581150"/>
              <a:gd name="connsiteX1" fmla="*/ 3667125 w 3925413"/>
              <a:gd name="connsiteY1" fmla="*/ 904875 h 1581150"/>
              <a:gd name="connsiteX2" fmla="*/ 3590925 w 3925413"/>
              <a:gd name="connsiteY2" fmla="*/ 1476375 h 1581150"/>
              <a:gd name="connsiteX3" fmla="*/ 0 w 3925413"/>
              <a:gd name="connsiteY3" fmla="*/ 1581150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5413" h="1581150">
                <a:moveTo>
                  <a:pt x="2686050" y="0"/>
                </a:moveTo>
                <a:cubicBezTo>
                  <a:pt x="3101181" y="329406"/>
                  <a:pt x="3516312" y="658812"/>
                  <a:pt x="3667125" y="904875"/>
                </a:cubicBezTo>
                <a:cubicBezTo>
                  <a:pt x="3817938" y="1150938"/>
                  <a:pt x="4202113" y="1363663"/>
                  <a:pt x="3590925" y="1476375"/>
                </a:cubicBezTo>
                <a:cubicBezTo>
                  <a:pt x="2979738" y="1589088"/>
                  <a:pt x="531812" y="1447800"/>
                  <a:pt x="0" y="158115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2086495" y="4237146"/>
            <a:ext cx="7420914" cy="35329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PAI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562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십이각형 3"/>
          <p:cNvSpPr/>
          <p:nvPr/>
        </p:nvSpPr>
        <p:spPr>
          <a:xfrm>
            <a:off x="1951514" y="2576542"/>
            <a:ext cx="2053228" cy="1778696"/>
          </a:xfrm>
          <a:prstGeom prst="dodec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12</a:t>
            </a:r>
            <a:endParaRPr lang="ko-KR" altLang="en-US" dirty="0"/>
          </a:p>
        </p:txBody>
      </p:sp>
      <p:sp>
        <p:nvSpPr>
          <p:cNvPr id="5" name="팔각형 4"/>
          <p:cNvSpPr/>
          <p:nvPr/>
        </p:nvSpPr>
        <p:spPr>
          <a:xfrm>
            <a:off x="2840968" y="2090247"/>
            <a:ext cx="274320" cy="224444"/>
          </a:xfrm>
          <a:prstGeom prst="oc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팔각형 5"/>
          <p:cNvSpPr/>
          <p:nvPr/>
        </p:nvSpPr>
        <p:spPr>
          <a:xfrm>
            <a:off x="3568238" y="2333395"/>
            <a:ext cx="274320" cy="224444"/>
          </a:xfrm>
          <a:prstGeom prst="oc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팔각형 6"/>
          <p:cNvSpPr/>
          <p:nvPr/>
        </p:nvSpPr>
        <p:spPr>
          <a:xfrm>
            <a:off x="4080769" y="2791288"/>
            <a:ext cx="274320" cy="224444"/>
          </a:xfrm>
          <a:prstGeom prst="oc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1047404" y="2431763"/>
            <a:ext cx="1097280" cy="50984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971377" y="2557839"/>
            <a:ext cx="1097280" cy="50984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/>
        </p:nvSpPr>
        <p:spPr>
          <a:xfrm>
            <a:off x="5361709" y="2333395"/>
            <a:ext cx="465513" cy="2493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5361709" y="2812763"/>
            <a:ext cx="465513" cy="2493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5361709" y="3292131"/>
            <a:ext cx="465513" cy="2493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>
            <a:endCxn id="10" idx="1"/>
          </p:cNvCxnSpPr>
          <p:nvPr/>
        </p:nvCxnSpPr>
        <p:spPr>
          <a:xfrm flipV="1">
            <a:off x="3842558" y="2458086"/>
            <a:ext cx="1519151" cy="44542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endCxn id="11" idx="1"/>
          </p:cNvCxnSpPr>
          <p:nvPr/>
        </p:nvCxnSpPr>
        <p:spPr>
          <a:xfrm flipV="1">
            <a:off x="3906982" y="2937454"/>
            <a:ext cx="1454727" cy="7827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881149" y="3416822"/>
            <a:ext cx="107036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881148" y="3602473"/>
            <a:ext cx="107036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/>
          <p:cNvSpPr/>
          <p:nvPr/>
        </p:nvSpPr>
        <p:spPr>
          <a:xfrm>
            <a:off x="5361709" y="3771499"/>
            <a:ext cx="465513" cy="2493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>
            <a:endCxn id="12" idx="1"/>
          </p:cNvCxnSpPr>
          <p:nvPr/>
        </p:nvCxnSpPr>
        <p:spPr>
          <a:xfrm>
            <a:off x="3906982" y="3062145"/>
            <a:ext cx="1454727" cy="3546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4" idx="1"/>
            <a:endCxn id="17" idx="1"/>
          </p:cNvCxnSpPr>
          <p:nvPr/>
        </p:nvCxnSpPr>
        <p:spPr>
          <a:xfrm>
            <a:off x="4004742" y="3227578"/>
            <a:ext cx="1356967" cy="6686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5224549" y="1825625"/>
            <a:ext cx="739832" cy="35329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Cube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949508" y="2314946"/>
            <a:ext cx="415637" cy="17059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7786947" y="1825625"/>
            <a:ext cx="739832" cy="35329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</a:t>
            </a:r>
            <a:r>
              <a:rPr lang="en-US" altLang="ko-KR" sz="1400" dirty="0" smtClean="0">
                <a:solidFill>
                  <a:schemeClr val="tx1"/>
                </a:solidFill>
              </a:rPr>
              <a:t>AI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직선 연결선 22"/>
          <p:cNvCxnSpPr>
            <a:stCxn id="10" idx="3"/>
          </p:cNvCxnSpPr>
          <p:nvPr/>
        </p:nvCxnSpPr>
        <p:spPr>
          <a:xfrm>
            <a:off x="5827222" y="2458086"/>
            <a:ext cx="21218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5827222" y="2937454"/>
            <a:ext cx="21218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5827222" y="3416822"/>
            <a:ext cx="21218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5827222" y="3896190"/>
            <a:ext cx="21218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빗면 26"/>
          <p:cNvSpPr/>
          <p:nvPr/>
        </p:nvSpPr>
        <p:spPr>
          <a:xfrm>
            <a:off x="6241495" y="2646508"/>
            <a:ext cx="1322764" cy="1072343"/>
          </a:xfrm>
          <a:prstGeom prst="bevel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Velsanet Dedicated Equipment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팔각형 27"/>
          <p:cNvSpPr/>
          <p:nvPr/>
        </p:nvSpPr>
        <p:spPr>
          <a:xfrm>
            <a:off x="4144695" y="3387509"/>
            <a:ext cx="274320" cy="224444"/>
          </a:xfrm>
          <a:prstGeom prst="oc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팔각형 28"/>
          <p:cNvSpPr/>
          <p:nvPr/>
        </p:nvSpPr>
        <p:spPr>
          <a:xfrm>
            <a:off x="4032375" y="3874022"/>
            <a:ext cx="274320" cy="224444"/>
          </a:xfrm>
          <a:prstGeom prst="oc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팔각형 29"/>
          <p:cNvSpPr/>
          <p:nvPr/>
        </p:nvSpPr>
        <p:spPr>
          <a:xfrm>
            <a:off x="3568238" y="4355238"/>
            <a:ext cx="274320" cy="224444"/>
          </a:xfrm>
          <a:prstGeom prst="oct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자유형 34"/>
          <p:cNvSpPr/>
          <p:nvPr/>
        </p:nvSpPr>
        <p:spPr>
          <a:xfrm>
            <a:off x="5702530" y="2473739"/>
            <a:ext cx="4255163" cy="2177935"/>
          </a:xfrm>
          <a:custGeom>
            <a:avLst/>
            <a:gdLst>
              <a:gd name="connsiteX0" fmla="*/ 2601884 w 4196973"/>
              <a:gd name="connsiteY0" fmla="*/ 0 h 2227811"/>
              <a:gd name="connsiteX1" fmla="*/ 4089862 w 4196973"/>
              <a:gd name="connsiteY1" fmla="*/ 1928553 h 2227811"/>
              <a:gd name="connsiteX2" fmla="*/ 0 w 4196973"/>
              <a:gd name="connsiteY2" fmla="*/ 2227811 h 222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6973" h="2227811">
                <a:moveTo>
                  <a:pt x="2601884" y="0"/>
                </a:moveTo>
                <a:cubicBezTo>
                  <a:pt x="3562696" y="778625"/>
                  <a:pt x="4523509" y="1557251"/>
                  <a:pt x="4089862" y="1928553"/>
                </a:cubicBezTo>
                <a:cubicBezTo>
                  <a:pt x="3656215" y="2299855"/>
                  <a:pt x="820189" y="2074026"/>
                  <a:pt x="0" y="2227811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5486399" y="4582743"/>
            <a:ext cx="216131" cy="44057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자유형 36"/>
          <p:cNvSpPr/>
          <p:nvPr/>
        </p:nvSpPr>
        <p:spPr>
          <a:xfrm>
            <a:off x="5712056" y="2537811"/>
            <a:ext cx="4255163" cy="2177935"/>
          </a:xfrm>
          <a:custGeom>
            <a:avLst/>
            <a:gdLst>
              <a:gd name="connsiteX0" fmla="*/ 2601884 w 4196973"/>
              <a:gd name="connsiteY0" fmla="*/ 0 h 2227811"/>
              <a:gd name="connsiteX1" fmla="*/ 4089862 w 4196973"/>
              <a:gd name="connsiteY1" fmla="*/ 1928553 h 2227811"/>
              <a:gd name="connsiteX2" fmla="*/ 0 w 4196973"/>
              <a:gd name="connsiteY2" fmla="*/ 2227811 h 222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6973" h="2227811">
                <a:moveTo>
                  <a:pt x="2601884" y="0"/>
                </a:moveTo>
                <a:cubicBezTo>
                  <a:pt x="3562696" y="778625"/>
                  <a:pt x="4523509" y="1557251"/>
                  <a:pt x="4089862" y="1928553"/>
                </a:cubicBezTo>
                <a:cubicBezTo>
                  <a:pt x="3656215" y="2299855"/>
                  <a:pt x="820189" y="2074026"/>
                  <a:pt x="0" y="2227811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자유형 37"/>
          <p:cNvSpPr/>
          <p:nvPr/>
        </p:nvSpPr>
        <p:spPr>
          <a:xfrm>
            <a:off x="5712056" y="2776451"/>
            <a:ext cx="4255163" cy="2177935"/>
          </a:xfrm>
          <a:custGeom>
            <a:avLst/>
            <a:gdLst>
              <a:gd name="connsiteX0" fmla="*/ 2601884 w 4196973"/>
              <a:gd name="connsiteY0" fmla="*/ 0 h 2227811"/>
              <a:gd name="connsiteX1" fmla="*/ 4089862 w 4196973"/>
              <a:gd name="connsiteY1" fmla="*/ 1928553 h 2227811"/>
              <a:gd name="connsiteX2" fmla="*/ 0 w 4196973"/>
              <a:gd name="connsiteY2" fmla="*/ 2227811 h 222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6973" h="2227811">
                <a:moveTo>
                  <a:pt x="2601884" y="0"/>
                </a:moveTo>
                <a:cubicBezTo>
                  <a:pt x="3562696" y="778625"/>
                  <a:pt x="4523509" y="1557251"/>
                  <a:pt x="4089862" y="1928553"/>
                </a:cubicBezTo>
                <a:cubicBezTo>
                  <a:pt x="3656215" y="2299855"/>
                  <a:pt x="820189" y="2074026"/>
                  <a:pt x="0" y="2227811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위쪽/아래쪽 화살표 38"/>
          <p:cNvSpPr/>
          <p:nvPr/>
        </p:nvSpPr>
        <p:spPr>
          <a:xfrm>
            <a:off x="6025168" y="4715746"/>
            <a:ext cx="45719" cy="17456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화살표 연결선 40"/>
          <p:cNvCxnSpPr>
            <a:stCxn id="36" idx="1"/>
          </p:cNvCxnSpPr>
          <p:nvPr/>
        </p:nvCxnSpPr>
        <p:spPr>
          <a:xfrm flipH="1" flipV="1">
            <a:off x="3906982" y="3896190"/>
            <a:ext cx="1579417" cy="90684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모서리가 둥근 직사각형 41"/>
          <p:cNvSpPr/>
          <p:nvPr/>
        </p:nvSpPr>
        <p:spPr>
          <a:xfrm>
            <a:off x="5486399" y="5213536"/>
            <a:ext cx="216131" cy="44057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/>
          <p:cNvCxnSpPr>
            <a:stCxn id="42" idx="1"/>
          </p:cNvCxnSpPr>
          <p:nvPr/>
        </p:nvCxnSpPr>
        <p:spPr>
          <a:xfrm flipH="1" flipV="1">
            <a:off x="3842558" y="3986244"/>
            <a:ext cx="1643841" cy="144757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4028036" y="2047580"/>
            <a:ext cx="844780" cy="3366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optical cores C001~024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935350" y="4084953"/>
            <a:ext cx="844780" cy="3366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optical cores C001~024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618916" y="4730818"/>
            <a:ext cx="844780" cy="33666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optical cores E001~096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8" name="위쪽/아래쪽 화살표 47"/>
          <p:cNvSpPr/>
          <p:nvPr/>
        </p:nvSpPr>
        <p:spPr>
          <a:xfrm>
            <a:off x="8512948" y="2704004"/>
            <a:ext cx="45719" cy="17456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빗면 48"/>
          <p:cNvSpPr/>
          <p:nvPr/>
        </p:nvSpPr>
        <p:spPr>
          <a:xfrm>
            <a:off x="7703763" y="4396434"/>
            <a:ext cx="1322764" cy="1072343"/>
          </a:xfrm>
          <a:prstGeom prst="bevel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Velsanet Dedicated Equipment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48986" y="1862848"/>
            <a:ext cx="1005493" cy="3366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00B050"/>
                </a:solidFill>
              </a:rPr>
              <a:t>Gangnam District, PAI #1</a:t>
            </a:r>
            <a:endParaRPr lang="ko-KR" altLang="en-US" sz="900" dirty="0">
              <a:solidFill>
                <a:srgbClr val="00B050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80717" y="3745806"/>
            <a:ext cx="1005493" cy="3366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00B050"/>
                </a:solidFill>
              </a:rPr>
              <a:t>Gangnam District, PAI </a:t>
            </a:r>
            <a:r>
              <a:rPr lang="en-US" altLang="ko-KR" sz="900" dirty="0" smtClean="0">
                <a:solidFill>
                  <a:srgbClr val="00B050"/>
                </a:solidFill>
              </a:rPr>
              <a:t>#2</a:t>
            </a:r>
            <a:endParaRPr lang="ko-KR" altLang="en-US" sz="900" dirty="0">
              <a:solidFill>
                <a:srgbClr val="00B050"/>
              </a:solidFill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480717" y="5994273"/>
            <a:ext cx="9486501" cy="35329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</a:t>
            </a:r>
            <a:r>
              <a:rPr lang="en-US" altLang="ko-KR" sz="1400" dirty="0" smtClean="0">
                <a:solidFill>
                  <a:schemeClr val="tx1"/>
                </a:solidFill>
              </a:rPr>
              <a:t>AI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219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847899" y="581890"/>
            <a:ext cx="1388225" cy="964277"/>
            <a:chOff x="847899" y="581890"/>
            <a:chExt cx="3192085" cy="2011680"/>
          </a:xfrm>
        </p:grpSpPr>
        <p:sp>
          <p:nvSpPr>
            <p:cNvPr id="4" name="다이아몬드 3"/>
            <p:cNvSpPr/>
            <p:nvPr/>
          </p:nvSpPr>
          <p:spPr>
            <a:xfrm>
              <a:off x="2543693" y="798021"/>
              <a:ext cx="1496291" cy="1795549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" name="그룹 15"/>
            <p:cNvGrpSpPr/>
            <p:nvPr/>
          </p:nvGrpSpPr>
          <p:grpSpPr>
            <a:xfrm>
              <a:off x="847899" y="581890"/>
              <a:ext cx="1221970" cy="2011680"/>
              <a:chOff x="1537855" y="2394065"/>
              <a:chExt cx="1221970" cy="2011680"/>
            </a:xfrm>
          </p:grpSpPr>
          <p:sp>
            <p:nvSpPr>
              <p:cNvPr id="5" name="이등변 삼각형 4"/>
              <p:cNvSpPr/>
              <p:nvPr/>
            </p:nvSpPr>
            <p:spPr>
              <a:xfrm>
                <a:off x="1537855" y="2394065"/>
                <a:ext cx="1221970" cy="2011680"/>
              </a:xfrm>
              <a:prstGeom prst="triangl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7" name="직선 연결선 6"/>
              <p:cNvCxnSpPr>
                <a:stCxn id="5" idx="0"/>
              </p:cNvCxnSpPr>
              <p:nvPr/>
            </p:nvCxnSpPr>
            <p:spPr>
              <a:xfrm>
                <a:off x="2148840" y="2394065"/>
                <a:ext cx="610985" cy="1529542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/>
              <p:cNvCxnSpPr>
                <a:stCxn id="5" idx="4"/>
              </p:cNvCxnSpPr>
              <p:nvPr/>
            </p:nvCxnSpPr>
            <p:spPr>
              <a:xfrm flipV="1">
                <a:off x="2759825" y="3906982"/>
                <a:ext cx="0" cy="498763"/>
              </a:xfrm>
              <a:prstGeom prst="lin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/>
              <p:cNvCxnSpPr>
                <a:stCxn id="5" idx="2"/>
              </p:cNvCxnSpPr>
              <p:nvPr/>
            </p:nvCxnSpPr>
            <p:spPr>
              <a:xfrm flipV="1">
                <a:off x="1537855" y="3923607"/>
                <a:ext cx="1221970" cy="48213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" name="다이아몬드 16"/>
          <p:cNvSpPr/>
          <p:nvPr/>
        </p:nvSpPr>
        <p:spPr>
          <a:xfrm>
            <a:off x="5493589" y="1805510"/>
            <a:ext cx="1496291" cy="179554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육각형 21"/>
          <p:cNvSpPr/>
          <p:nvPr/>
        </p:nvSpPr>
        <p:spPr>
          <a:xfrm>
            <a:off x="8736677" y="482137"/>
            <a:ext cx="1057601" cy="106403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정육면체 22"/>
          <p:cNvSpPr/>
          <p:nvPr/>
        </p:nvSpPr>
        <p:spPr>
          <a:xfrm>
            <a:off x="10215979" y="482137"/>
            <a:ext cx="823323" cy="105033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다이아몬드 28"/>
          <p:cNvSpPr/>
          <p:nvPr/>
        </p:nvSpPr>
        <p:spPr>
          <a:xfrm>
            <a:off x="7365076" y="3601059"/>
            <a:ext cx="1496291" cy="179554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다이아몬드 29"/>
          <p:cNvSpPr/>
          <p:nvPr/>
        </p:nvSpPr>
        <p:spPr>
          <a:xfrm>
            <a:off x="3881460" y="166253"/>
            <a:ext cx="1496291" cy="179554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/>
          <p:cNvCxnSpPr/>
          <p:nvPr/>
        </p:nvCxnSpPr>
        <p:spPr>
          <a:xfrm>
            <a:off x="5020887" y="1532474"/>
            <a:ext cx="756458" cy="7784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6675120" y="1307090"/>
            <a:ext cx="2186247" cy="10038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>
            <a:off x="6675120" y="3158836"/>
            <a:ext cx="980902" cy="9559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H="1">
            <a:off x="3924128" y="2847823"/>
            <a:ext cx="1656771" cy="59546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 flipH="1">
            <a:off x="5193233" y="3196959"/>
            <a:ext cx="688020" cy="15439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2351918" y="3214710"/>
            <a:ext cx="1537271" cy="4588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2357433" y="3444134"/>
            <a:ext cx="104741" cy="229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2462174" y="3444134"/>
            <a:ext cx="104741" cy="229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왼쪽/오른쪽 화살표 46"/>
          <p:cNvSpPr/>
          <p:nvPr/>
        </p:nvSpPr>
        <p:spPr>
          <a:xfrm>
            <a:off x="2790526" y="3519470"/>
            <a:ext cx="723207" cy="4571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3784448" y="3443290"/>
            <a:ext cx="104741" cy="229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모서리가 접힌 도형 48"/>
          <p:cNvSpPr/>
          <p:nvPr/>
        </p:nvSpPr>
        <p:spPr>
          <a:xfrm>
            <a:off x="350730" y="3792252"/>
            <a:ext cx="4177484" cy="2923269"/>
          </a:xfrm>
          <a:prstGeom prst="foldedCorner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b="1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ko-KR" sz="1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ko-KR" sz="1000" b="1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ko-KR" sz="1000" b="1" dirty="0" smtClean="0">
                <a:solidFill>
                  <a:schemeClr val="tx1"/>
                </a:solidFill>
              </a:rPr>
              <a:t>Core1 </a:t>
            </a:r>
            <a:r>
              <a:rPr lang="en-US" altLang="ko-KR" sz="1000" b="1" dirty="0">
                <a:solidFill>
                  <a:schemeClr val="tx1"/>
                </a:solidFill>
              </a:rPr>
              <a:t>: Public E2E Optical Core</a:t>
            </a:r>
            <a:r>
              <a:rPr lang="en-US" altLang="ko-KR" sz="1000" b="1" i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(TCC </a:t>
            </a:r>
            <a:r>
              <a:rPr lang="en-US" altLang="ko-KR" sz="10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excluded)</a:t>
            </a:r>
            <a:endParaRPr lang="en-US" altLang="ko-KR" sz="1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Disaster Alert</a:t>
            </a:r>
            <a:b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Emergency audio warnings &amp; evacuation guidance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Fire Safety</a:t>
            </a: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Fire detection and direct fire department linkage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Security / Police</a:t>
            </a: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Surveillance cameras and police response linkage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Emergency Call</a:t>
            </a: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Direct emergency phone service (112 / 119)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 TV Broadcast</a:t>
            </a: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Disaster and public information broadcasting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Safety Status</a:t>
            </a: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Intrusion and abnormal situation signals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Environmental Status</a:t>
            </a: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sz="1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Gas, smoke, flood, and hazard detection</a:t>
            </a:r>
          </a:p>
          <a:p>
            <a:pPr algn="ctr"/>
            <a:endParaRPr lang="ko-KR" altLang="en-US" dirty="0"/>
          </a:p>
        </p:txBody>
      </p:sp>
      <p:sp>
        <p:nvSpPr>
          <p:cNvPr id="50" name="빗면 49"/>
          <p:cNvSpPr/>
          <p:nvPr/>
        </p:nvSpPr>
        <p:spPr>
          <a:xfrm>
            <a:off x="4821382" y="4740945"/>
            <a:ext cx="1521229" cy="404633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8575897" y="4943261"/>
            <a:ext cx="549870" cy="5320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/>
          <p:nvPr/>
        </p:nvCxnSpPr>
        <p:spPr>
          <a:xfrm flipH="1" flipV="1">
            <a:off x="3582785" y="91440"/>
            <a:ext cx="448596" cy="4904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>
            <a:off x="9401695" y="1654233"/>
            <a:ext cx="1122218" cy="13383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육각형 57"/>
          <p:cNvSpPr/>
          <p:nvPr/>
        </p:nvSpPr>
        <p:spPr>
          <a:xfrm>
            <a:off x="10465767" y="2728222"/>
            <a:ext cx="1057601" cy="106403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직선 화살표 연결선 59"/>
          <p:cNvCxnSpPr/>
          <p:nvPr/>
        </p:nvCxnSpPr>
        <p:spPr>
          <a:xfrm flipH="1" flipV="1">
            <a:off x="8021782" y="91440"/>
            <a:ext cx="714895" cy="5940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>
            <a:off x="11039302" y="3865418"/>
            <a:ext cx="681643" cy="10778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육각형 62"/>
          <p:cNvSpPr/>
          <p:nvPr/>
        </p:nvSpPr>
        <p:spPr>
          <a:xfrm>
            <a:off x="11192144" y="4943261"/>
            <a:ext cx="1057601" cy="106403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다이아몬드 63"/>
          <p:cNvSpPr/>
          <p:nvPr/>
        </p:nvSpPr>
        <p:spPr>
          <a:xfrm>
            <a:off x="8877992" y="4919971"/>
            <a:ext cx="1496291" cy="179554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/>
          <p:cNvCxnSpPr/>
          <p:nvPr/>
        </p:nvCxnSpPr>
        <p:spPr>
          <a:xfrm flipV="1">
            <a:off x="10048767" y="5194266"/>
            <a:ext cx="1255221" cy="1873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>
            <a:off x="10048767" y="6334298"/>
            <a:ext cx="417000" cy="5237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모서리가 접힌 도형 73"/>
          <p:cNvSpPr/>
          <p:nvPr/>
        </p:nvSpPr>
        <p:spPr>
          <a:xfrm>
            <a:off x="4830309" y="5381606"/>
            <a:ext cx="2769516" cy="750788"/>
          </a:xfrm>
          <a:prstGeom prst="foldedCorner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Core 2: PAI-dedicated Optical Core</a:t>
            </a:r>
            <a:br>
              <a:rPr lang="en-US" altLang="ko-KR" sz="1000" b="1" dirty="0">
                <a:solidFill>
                  <a:schemeClr val="tx1"/>
                </a:solidFill>
              </a:rPr>
            </a:br>
            <a:r>
              <a:rPr lang="en-US" altLang="ko-KR" sz="1000" dirty="0">
                <a:solidFill>
                  <a:schemeClr val="tx1"/>
                </a:solidFill>
              </a:rPr>
              <a:t>PAI Device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en-US" altLang="ko-KR" sz="1000" dirty="0">
                <a:solidFill>
                  <a:schemeClr val="tx1"/>
                </a:solidFill>
              </a:rPr>
              <a:t>(Optical-to-8 Wireless Channel Mapping)</a:t>
            </a:r>
            <a:endParaRPr lang="ko-KR" altLang="en-US" sz="10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892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정육면체 14"/>
          <p:cNvSpPr/>
          <p:nvPr/>
        </p:nvSpPr>
        <p:spPr>
          <a:xfrm>
            <a:off x="6803571" y="1611086"/>
            <a:ext cx="2111829" cy="44958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/>
          <p:cNvCxnSpPr>
            <a:stCxn id="41" idx="3"/>
          </p:cNvCxnSpPr>
          <p:nvPr/>
        </p:nvCxnSpPr>
        <p:spPr>
          <a:xfrm>
            <a:off x="4272644" y="1069796"/>
            <a:ext cx="2530927" cy="45639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6803571" y="5671457"/>
            <a:ext cx="154577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8349343" y="5170715"/>
            <a:ext cx="566057" cy="50074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stCxn id="14" idx="3"/>
          </p:cNvCxnSpPr>
          <p:nvPr/>
        </p:nvCxnSpPr>
        <p:spPr>
          <a:xfrm>
            <a:off x="4163787" y="5359406"/>
            <a:ext cx="2639784" cy="747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팔각형 4"/>
          <p:cNvSpPr/>
          <p:nvPr/>
        </p:nvSpPr>
        <p:spPr>
          <a:xfrm>
            <a:off x="1319354" y="4264280"/>
            <a:ext cx="1633058" cy="123831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화살표 10"/>
          <p:cNvSpPr/>
          <p:nvPr/>
        </p:nvSpPr>
        <p:spPr>
          <a:xfrm>
            <a:off x="3021414" y="4836710"/>
            <a:ext cx="1142373" cy="128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2761700" y="4311177"/>
            <a:ext cx="1402087" cy="128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13"/>
          <p:cNvSpPr/>
          <p:nvPr/>
        </p:nvSpPr>
        <p:spPr>
          <a:xfrm>
            <a:off x="2761700" y="5297990"/>
            <a:ext cx="1402087" cy="1228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위쪽/아래쪽 화살표 16"/>
          <p:cNvSpPr/>
          <p:nvPr/>
        </p:nvSpPr>
        <p:spPr>
          <a:xfrm>
            <a:off x="2074046" y="5613345"/>
            <a:ext cx="199341" cy="71261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위쪽/아래쪽 화살표 28"/>
          <p:cNvSpPr/>
          <p:nvPr/>
        </p:nvSpPr>
        <p:spPr>
          <a:xfrm rot="2690587">
            <a:off x="1090738" y="5242668"/>
            <a:ext cx="199341" cy="62499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위쪽/아래쪽 화살표 29"/>
          <p:cNvSpPr/>
          <p:nvPr/>
        </p:nvSpPr>
        <p:spPr>
          <a:xfrm rot="5400000">
            <a:off x="764237" y="4502464"/>
            <a:ext cx="151869" cy="82036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위쪽/아래쪽 화살표 30"/>
          <p:cNvSpPr/>
          <p:nvPr/>
        </p:nvSpPr>
        <p:spPr>
          <a:xfrm rot="7776274">
            <a:off x="1094822" y="3795689"/>
            <a:ext cx="151869" cy="82036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9153518" y="5170714"/>
            <a:ext cx="2733682" cy="424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ODF Room (Optical Distribution Frame Room)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803571" y="6302829"/>
            <a:ext cx="5083629" cy="42454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Public E2E Channel Control Zone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팔각형 35"/>
          <p:cNvSpPr/>
          <p:nvPr/>
        </p:nvSpPr>
        <p:spPr>
          <a:xfrm>
            <a:off x="1428211" y="1366232"/>
            <a:ext cx="1633058" cy="1238317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오른쪽 화살표 36"/>
          <p:cNvSpPr/>
          <p:nvPr/>
        </p:nvSpPr>
        <p:spPr>
          <a:xfrm>
            <a:off x="3130271" y="1938662"/>
            <a:ext cx="1142373" cy="128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오른쪽 화살표 37"/>
          <p:cNvSpPr/>
          <p:nvPr/>
        </p:nvSpPr>
        <p:spPr>
          <a:xfrm>
            <a:off x="2870557" y="1413129"/>
            <a:ext cx="1402087" cy="128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오른쪽 화살표 38"/>
          <p:cNvSpPr/>
          <p:nvPr/>
        </p:nvSpPr>
        <p:spPr>
          <a:xfrm>
            <a:off x="2870557" y="2399942"/>
            <a:ext cx="1402087" cy="1228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위쪽/아래쪽 화살표 39"/>
          <p:cNvSpPr/>
          <p:nvPr/>
        </p:nvSpPr>
        <p:spPr>
          <a:xfrm>
            <a:off x="2115363" y="2692166"/>
            <a:ext cx="174713" cy="140086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굽은 화살표 40"/>
          <p:cNvSpPr/>
          <p:nvPr/>
        </p:nvSpPr>
        <p:spPr>
          <a:xfrm>
            <a:off x="2194904" y="1009924"/>
            <a:ext cx="2077740" cy="23948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위쪽/아래쪽 화살표 41"/>
          <p:cNvSpPr/>
          <p:nvPr/>
        </p:nvSpPr>
        <p:spPr>
          <a:xfrm rot="2690587">
            <a:off x="1199595" y="2344620"/>
            <a:ext cx="199341" cy="62499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위쪽/아래쪽 화살표 42"/>
          <p:cNvSpPr/>
          <p:nvPr/>
        </p:nvSpPr>
        <p:spPr>
          <a:xfrm rot="5400000">
            <a:off x="873094" y="1604416"/>
            <a:ext cx="151869" cy="82036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위쪽/아래쪽 화살표 43"/>
          <p:cNvSpPr/>
          <p:nvPr/>
        </p:nvSpPr>
        <p:spPr>
          <a:xfrm rot="7776274">
            <a:off x="1203679" y="897641"/>
            <a:ext cx="151869" cy="82036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2761699" y="3201365"/>
            <a:ext cx="2059303" cy="5650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/>
          <p:cNvCxnSpPr/>
          <p:nvPr/>
        </p:nvCxnSpPr>
        <p:spPr>
          <a:xfrm>
            <a:off x="6792381" y="5105400"/>
            <a:ext cx="154577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 flipV="1">
            <a:off x="8338153" y="4604658"/>
            <a:ext cx="566057" cy="50074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6803571" y="4508776"/>
            <a:ext cx="154577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flipV="1">
            <a:off x="8349343" y="4008034"/>
            <a:ext cx="566057" cy="50074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6803571" y="3918049"/>
            <a:ext cx="154577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V="1">
            <a:off x="8330328" y="3417307"/>
            <a:ext cx="566057" cy="50074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6803571" y="3349685"/>
            <a:ext cx="154577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 flipV="1">
            <a:off x="8330328" y="2848943"/>
            <a:ext cx="566057" cy="50074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9153518" y="4604657"/>
            <a:ext cx="2733682" cy="424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Public E2E Channel Control Room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9153518" y="4008034"/>
            <a:ext cx="2733682" cy="424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PAI Connectivity &amp; Mapping Room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9153518" y="3417307"/>
            <a:ext cx="2733682" cy="424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District / Block E2E Federation Room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9153518" y="2820684"/>
            <a:ext cx="2733682" cy="424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City E2E Orchestration Room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9153518" y="2232576"/>
            <a:ext cx="2733682" cy="424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Emergency Override &amp; Exception Control Room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7" name="직선 연결선 66"/>
          <p:cNvCxnSpPr/>
          <p:nvPr/>
        </p:nvCxnSpPr>
        <p:spPr>
          <a:xfrm>
            <a:off x="6803571" y="2745528"/>
            <a:ext cx="154577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V="1">
            <a:off x="8330328" y="2244786"/>
            <a:ext cx="566057" cy="50074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9153518" y="1627057"/>
            <a:ext cx="2733682" cy="424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City E2E State Definition Layer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705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3848793" y="1030778"/>
            <a:ext cx="4572000" cy="540327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820487" y="2568633"/>
            <a:ext cx="2460568" cy="482138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Velsa_20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4716087" y="2568633"/>
            <a:ext cx="2460568" cy="482138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Velsa_20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9332422" y="2568633"/>
            <a:ext cx="2460568" cy="482138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Velsa_20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8" name="왼쪽/오른쪽 화살표 7"/>
          <p:cNvSpPr/>
          <p:nvPr/>
        </p:nvSpPr>
        <p:spPr>
          <a:xfrm>
            <a:off x="7448204" y="2693324"/>
            <a:ext cx="1429789" cy="23275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304798" y="4048299"/>
            <a:ext cx="2460568" cy="48213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Velsa_12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3003664" y="4048299"/>
            <a:ext cx="2460568" cy="48213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Velsa_12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702530" y="4048299"/>
            <a:ext cx="2460568" cy="48213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Velsa_12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9612853" y="4048299"/>
            <a:ext cx="2460568" cy="48213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Velsa_12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3" name="왼쪽/오른쪽 화살표 12"/>
          <p:cNvSpPr/>
          <p:nvPr/>
        </p:nvSpPr>
        <p:spPr>
          <a:xfrm>
            <a:off x="8574559" y="4207949"/>
            <a:ext cx="626833" cy="226266"/>
          </a:xfrm>
          <a:prstGeom prst="left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0" y="5527965"/>
            <a:ext cx="2460568" cy="482138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Velsa_8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2765366" y="5527965"/>
            <a:ext cx="2460568" cy="482138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Velsa_8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530732" y="5527965"/>
            <a:ext cx="2460568" cy="482138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Velsa_8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7" name="모서리가 둥근 직사각형 16"/>
          <p:cNvSpPr/>
          <p:nvPr/>
        </p:nvSpPr>
        <p:spPr>
          <a:xfrm>
            <a:off x="9666222" y="5527965"/>
            <a:ext cx="2460568" cy="482138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Velsa_8 (Network_AI)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9" name="왼쪽/오른쪽 화살표 18"/>
          <p:cNvSpPr/>
          <p:nvPr/>
        </p:nvSpPr>
        <p:spPr>
          <a:xfrm>
            <a:off x="8296098" y="5716084"/>
            <a:ext cx="1173579" cy="158623"/>
          </a:xfrm>
          <a:prstGeom prst="left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액자 20"/>
          <p:cNvSpPr/>
          <p:nvPr/>
        </p:nvSpPr>
        <p:spPr>
          <a:xfrm>
            <a:off x="0" y="6162806"/>
            <a:ext cx="12126790" cy="400832"/>
          </a:xfrm>
          <a:prstGeom prst="fram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Velsa_8 (large Q: Q6–Q8)</a:t>
            </a:r>
            <a:endParaRPr kumimoji="0" lang="ko-KR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액자 21"/>
          <p:cNvSpPr/>
          <p:nvPr/>
        </p:nvSpPr>
        <p:spPr>
          <a:xfrm>
            <a:off x="304798" y="4782668"/>
            <a:ext cx="11768623" cy="400832"/>
          </a:xfrm>
          <a:prstGeom prst="fram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Velsa_12 (medium Q: Q4–Q6)</a:t>
            </a:r>
            <a:endParaRPr kumimoji="0" lang="ko-KR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액자 22"/>
          <p:cNvSpPr/>
          <p:nvPr/>
        </p:nvSpPr>
        <p:spPr>
          <a:xfrm>
            <a:off x="1820486" y="3336707"/>
            <a:ext cx="9972503" cy="400832"/>
          </a:xfrm>
          <a:prstGeom prst="fram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Velsa_20 (small Q: Q3–Q4)</a:t>
            </a:r>
            <a:endParaRPr kumimoji="0" lang="ko-KR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" name="직선 화살표 연결선 24"/>
          <p:cNvCxnSpPr>
            <a:stCxn id="14" idx="0"/>
            <a:endCxn id="9" idx="2"/>
          </p:cNvCxnSpPr>
          <p:nvPr/>
        </p:nvCxnSpPr>
        <p:spPr>
          <a:xfrm flipV="1">
            <a:off x="1230284" y="4530437"/>
            <a:ext cx="304798" cy="99752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15" idx="0"/>
            <a:endCxn id="9" idx="2"/>
          </p:cNvCxnSpPr>
          <p:nvPr/>
        </p:nvCxnSpPr>
        <p:spPr>
          <a:xfrm flipH="1" flipV="1">
            <a:off x="1535082" y="4530437"/>
            <a:ext cx="2460568" cy="99752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16" idx="0"/>
            <a:endCxn id="9" idx="2"/>
          </p:cNvCxnSpPr>
          <p:nvPr/>
        </p:nvCxnSpPr>
        <p:spPr>
          <a:xfrm flipH="1" flipV="1">
            <a:off x="1535082" y="4530437"/>
            <a:ext cx="5225934" cy="99752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7" idx="0"/>
            <a:endCxn id="9" idx="2"/>
          </p:cNvCxnSpPr>
          <p:nvPr/>
        </p:nvCxnSpPr>
        <p:spPr>
          <a:xfrm flipH="1" flipV="1">
            <a:off x="1535082" y="4530437"/>
            <a:ext cx="9361424" cy="99752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>
            <a:stCxn id="9" idx="0"/>
            <a:endCxn id="5" idx="2"/>
          </p:cNvCxnSpPr>
          <p:nvPr/>
        </p:nvCxnSpPr>
        <p:spPr>
          <a:xfrm flipV="1">
            <a:off x="1535082" y="3050771"/>
            <a:ext cx="1515689" cy="99752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10" idx="0"/>
            <a:endCxn id="5" idx="2"/>
          </p:cNvCxnSpPr>
          <p:nvPr/>
        </p:nvCxnSpPr>
        <p:spPr>
          <a:xfrm flipH="1" flipV="1">
            <a:off x="3050771" y="3050771"/>
            <a:ext cx="1183177" cy="99752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1" idx="0"/>
            <a:endCxn id="5" idx="2"/>
          </p:cNvCxnSpPr>
          <p:nvPr/>
        </p:nvCxnSpPr>
        <p:spPr>
          <a:xfrm flipH="1" flipV="1">
            <a:off x="3050771" y="3050771"/>
            <a:ext cx="3882043" cy="99752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12" idx="0"/>
            <a:endCxn id="5" idx="2"/>
          </p:cNvCxnSpPr>
          <p:nvPr/>
        </p:nvCxnSpPr>
        <p:spPr>
          <a:xfrm flipH="1" flipV="1">
            <a:off x="3050771" y="3050771"/>
            <a:ext cx="7792366" cy="99752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5" idx="0"/>
            <a:endCxn id="4" idx="2"/>
          </p:cNvCxnSpPr>
          <p:nvPr/>
        </p:nvCxnSpPr>
        <p:spPr>
          <a:xfrm flipV="1">
            <a:off x="3050771" y="1571105"/>
            <a:ext cx="3084022" cy="99752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6" idx="0"/>
            <a:endCxn id="4" idx="2"/>
          </p:cNvCxnSpPr>
          <p:nvPr/>
        </p:nvCxnSpPr>
        <p:spPr>
          <a:xfrm flipV="1">
            <a:off x="5946371" y="1571105"/>
            <a:ext cx="188422" cy="99752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7" idx="0"/>
            <a:endCxn id="4" idx="2"/>
          </p:cNvCxnSpPr>
          <p:nvPr/>
        </p:nvCxnSpPr>
        <p:spPr>
          <a:xfrm flipH="1" flipV="1">
            <a:off x="6134793" y="1571105"/>
            <a:ext cx="4427913" cy="99752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위쪽 화살표 46"/>
          <p:cNvSpPr/>
          <p:nvPr/>
        </p:nvSpPr>
        <p:spPr>
          <a:xfrm>
            <a:off x="5225934" y="5183500"/>
            <a:ext cx="304798" cy="979306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위쪽 화살표 47"/>
          <p:cNvSpPr/>
          <p:nvPr/>
        </p:nvSpPr>
        <p:spPr>
          <a:xfrm>
            <a:off x="5464232" y="3737539"/>
            <a:ext cx="219471" cy="1045129"/>
          </a:xfrm>
          <a:prstGeom prst="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위쪽 화살표 48"/>
          <p:cNvSpPr/>
          <p:nvPr/>
        </p:nvSpPr>
        <p:spPr>
          <a:xfrm>
            <a:off x="7176655" y="1571105"/>
            <a:ext cx="151071" cy="1765602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7195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6"/>
          <p:cNvSpPr/>
          <p:nvPr/>
        </p:nvSpPr>
        <p:spPr>
          <a:xfrm>
            <a:off x="2762132" y="3482236"/>
            <a:ext cx="5530099" cy="1265128"/>
          </a:xfrm>
          <a:prstGeom prst="round2Same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Multi-Layer Multi-Plane Matrix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다리꼴 7"/>
          <p:cNvSpPr/>
          <p:nvPr/>
        </p:nvSpPr>
        <p:spPr>
          <a:xfrm>
            <a:off x="8242126" y="4471792"/>
            <a:ext cx="1227551" cy="275572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다리꼴 8"/>
          <p:cNvSpPr/>
          <p:nvPr/>
        </p:nvSpPr>
        <p:spPr>
          <a:xfrm>
            <a:off x="1534581" y="4448304"/>
            <a:ext cx="1227551" cy="275572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평행 사변형 9"/>
          <p:cNvSpPr/>
          <p:nvPr/>
        </p:nvSpPr>
        <p:spPr>
          <a:xfrm>
            <a:off x="5403273" y="2868460"/>
            <a:ext cx="2951587" cy="413359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Matrix control contact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자유형 17"/>
          <p:cNvSpPr/>
          <p:nvPr/>
        </p:nvSpPr>
        <p:spPr>
          <a:xfrm>
            <a:off x="8242126" y="4709784"/>
            <a:ext cx="1903956" cy="1528175"/>
          </a:xfrm>
          <a:custGeom>
            <a:avLst/>
            <a:gdLst>
              <a:gd name="connsiteX0" fmla="*/ 2601884 w 4196973"/>
              <a:gd name="connsiteY0" fmla="*/ 0 h 2227811"/>
              <a:gd name="connsiteX1" fmla="*/ 4089862 w 4196973"/>
              <a:gd name="connsiteY1" fmla="*/ 1928553 h 2227811"/>
              <a:gd name="connsiteX2" fmla="*/ 0 w 4196973"/>
              <a:gd name="connsiteY2" fmla="*/ 2227811 h 222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6973" h="2227811">
                <a:moveTo>
                  <a:pt x="2601884" y="0"/>
                </a:moveTo>
                <a:cubicBezTo>
                  <a:pt x="3562696" y="778625"/>
                  <a:pt x="4523509" y="1557251"/>
                  <a:pt x="4089862" y="1928553"/>
                </a:cubicBezTo>
                <a:cubicBezTo>
                  <a:pt x="3656215" y="2299855"/>
                  <a:pt x="820189" y="2074026"/>
                  <a:pt x="0" y="2227811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 18"/>
          <p:cNvSpPr/>
          <p:nvPr/>
        </p:nvSpPr>
        <p:spPr>
          <a:xfrm>
            <a:off x="8242126" y="4496843"/>
            <a:ext cx="1903956" cy="1528175"/>
          </a:xfrm>
          <a:custGeom>
            <a:avLst/>
            <a:gdLst>
              <a:gd name="connsiteX0" fmla="*/ 2601884 w 4196973"/>
              <a:gd name="connsiteY0" fmla="*/ 0 h 2227811"/>
              <a:gd name="connsiteX1" fmla="*/ 4089862 w 4196973"/>
              <a:gd name="connsiteY1" fmla="*/ 1928553 h 2227811"/>
              <a:gd name="connsiteX2" fmla="*/ 0 w 4196973"/>
              <a:gd name="connsiteY2" fmla="*/ 2227811 h 222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6973" h="2227811">
                <a:moveTo>
                  <a:pt x="2601884" y="0"/>
                </a:moveTo>
                <a:cubicBezTo>
                  <a:pt x="3562696" y="778625"/>
                  <a:pt x="4523509" y="1557251"/>
                  <a:pt x="4089862" y="1928553"/>
                </a:cubicBezTo>
                <a:cubicBezTo>
                  <a:pt x="3656215" y="2299855"/>
                  <a:pt x="820189" y="2074026"/>
                  <a:pt x="0" y="2227811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 19"/>
          <p:cNvSpPr/>
          <p:nvPr/>
        </p:nvSpPr>
        <p:spPr>
          <a:xfrm>
            <a:off x="8242126" y="4521894"/>
            <a:ext cx="1903956" cy="1528175"/>
          </a:xfrm>
          <a:custGeom>
            <a:avLst/>
            <a:gdLst>
              <a:gd name="connsiteX0" fmla="*/ 2601884 w 4196973"/>
              <a:gd name="connsiteY0" fmla="*/ 0 h 2227811"/>
              <a:gd name="connsiteX1" fmla="*/ 4089862 w 4196973"/>
              <a:gd name="connsiteY1" fmla="*/ 1928553 h 2227811"/>
              <a:gd name="connsiteX2" fmla="*/ 0 w 4196973"/>
              <a:gd name="connsiteY2" fmla="*/ 2227811 h 222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6973" h="2227811">
                <a:moveTo>
                  <a:pt x="2601884" y="0"/>
                </a:moveTo>
                <a:cubicBezTo>
                  <a:pt x="3562696" y="778625"/>
                  <a:pt x="4523509" y="1557251"/>
                  <a:pt x="4089862" y="1928553"/>
                </a:cubicBezTo>
                <a:cubicBezTo>
                  <a:pt x="3656215" y="2299855"/>
                  <a:pt x="820189" y="2074026"/>
                  <a:pt x="0" y="2227811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10045874" y="3657600"/>
            <a:ext cx="1653435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Polymer-form </a:t>
            </a:r>
            <a:r>
              <a:rPr lang="en-US" altLang="ko-KR" sz="1200" dirty="0">
                <a:solidFill>
                  <a:schemeClr val="tx1"/>
                </a:solidFill>
              </a:rPr>
              <a:t>access optical cores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/>
          <p:cNvCxnSpPr>
            <a:stCxn id="21" idx="1"/>
          </p:cNvCxnSpPr>
          <p:nvPr/>
        </p:nvCxnSpPr>
        <p:spPr>
          <a:xfrm flipH="1">
            <a:off x="9381995" y="3886200"/>
            <a:ext cx="663879" cy="585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/>
          <p:cNvSpPr/>
          <p:nvPr/>
        </p:nvSpPr>
        <p:spPr>
          <a:xfrm>
            <a:off x="8104341" y="4096010"/>
            <a:ext cx="375780" cy="6513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9381995" y="2379946"/>
            <a:ext cx="2417523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Ultra-fine mechanical contacts connected to the matrix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/>
          <p:cNvCxnSpPr>
            <a:stCxn id="25" idx="1"/>
          </p:cNvCxnSpPr>
          <p:nvPr/>
        </p:nvCxnSpPr>
        <p:spPr>
          <a:xfrm flipH="1">
            <a:off x="8354860" y="2608546"/>
            <a:ext cx="1027135" cy="1506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6613742" y="5285981"/>
            <a:ext cx="2242159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Parallel-configured multi-optical transceiver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0" name="직선 화살표 연결선 29"/>
          <p:cNvCxnSpPr>
            <a:stCxn id="28" idx="0"/>
            <a:endCxn id="8" idx="2"/>
          </p:cNvCxnSpPr>
          <p:nvPr/>
        </p:nvCxnSpPr>
        <p:spPr>
          <a:xfrm flipV="1">
            <a:off x="7734822" y="4747364"/>
            <a:ext cx="1121080" cy="538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8480121" y="6407061"/>
            <a:ext cx="3319397" cy="3256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Length: 5 meters or more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위쪽/아래쪽 화살표 32"/>
          <p:cNvSpPr/>
          <p:nvPr/>
        </p:nvSpPr>
        <p:spPr>
          <a:xfrm>
            <a:off x="8480121" y="6050069"/>
            <a:ext cx="45719" cy="12213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/>
          <p:cNvCxnSpPr>
            <a:stCxn id="32" idx="0"/>
          </p:cNvCxnSpPr>
          <p:nvPr/>
        </p:nvCxnSpPr>
        <p:spPr>
          <a:xfrm flipH="1" flipV="1">
            <a:off x="9890760" y="6172200"/>
            <a:ext cx="249060" cy="234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평행 사변형 35"/>
          <p:cNvSpPr/>
          <p:nvPr/>
        </p:nvSpPr>
        <p:spPr>
          <a:xfrm>
            <a:off x="2762132" y="2868459"/>
            <a:ext cx="2534337" cy="413359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AI-Driven Topology Plane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평행 사변형 36"/>
          <p:cNvSpPr/>
          <p:nvPr/>
        </p:nvSpPr>
        <p:spPr>
          <a:xfrm>
            <a:off x="3941998" y="1960322"/>
            <a:ext cx="2951587" cy="413359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Network AI (8,12,20)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2542928" y="4096010"/>
            <a:ext cx="375780" cy="6513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048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632631" y="3044200"/>
            <a:ext cx="2417523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Ultra-fine mechanical contacts connected to the matrix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552908" y="3044200"/>
            <a:ext cx="2242159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Parallel-configured multi-optical transceiver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" name="직선 화살표 연결선 6"/>
          <p:cNvCxnSpPr>
            <a:stCxn id="4" idx="3"/>
            <a:endCxn id="5" idx="1"/>
          </p:cNvCxnSpPr>
          <p:nvPr/>
        </p:nvCxnSpPr>
        <p:spPr>
          <a:xfrm>
            <a:off x="3050154" y="3272800"/>
            <a:ext cx="5027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6297821" y="3044200"/>
            <a:ext cx="1653435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Polymer-form </a:t>
            </a:r>
            <a:r>
              <a:rPr lang="en-US" altLang="ko-KR" sz="1200" dirty="0">
                <a:solidFill>
                  <a:schemeClr val="tx1"/>
                </a:solidFill>
              </a:rPr>
              <a:t>access optical cores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5795067" y="3271295"/>
            <a:ext cx="5027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10"/>
          <p:cNvSpPr/>
          <p:nvPr/>
        </p:nvSpPr>
        <p:spPr>
          <a:xfrm>
            <a:off x="8454010" y="3108456"/>
            <a:ext cx="3319397" cy="3256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Length: 5 meters or more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7951256" y="3271295"/>
            <a:ext cx="5027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420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306241" y="2060578"/>
            <a:ext cx="199506" cy="3383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167739" y="1291822"/>
            <a:ext cx="1338008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Through-Layer Via Structure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295456" y="2060578"/>
            <a:ext cx="482138" cy="224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295456" y="2587050"/>
            <a:ext cx="482138" cy="224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295456" y="3113522"/>
            <a:ext cx="482138" cy="224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295456" y="3639994"/>
            <a:ext cx="482138" cy="224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295456" y="4166466"/>
            <a:ext cx="482138" cy="224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295456" y="4692938"/>
            <a:ext cx="482138" cy="224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295456" y="5219410"/>
            <a:ext cx="482138" cy="224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육각형 14"/>
          <p:cNvSpPr/>
          <p:nvPr/>
        </p:nvSpPr>
        <p:spPr>
          <a:xfrm>
            <a:off x="4072697" y="2028936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육각형 15"/>
          <p:cNvSpPr/>
          <p:nvPr/>
        </p:nvSpPr>
        <p:spPr>
          <a:xfrm>
            <a:off x="1165539" y="4511666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육각형 16"/>
          <p:cNvSpPr/>
          <p:nvPr/>
        </p:nvSpPr>
        <p:spPr>
          <a:xfrm>
            <a:off x="4072697" y="2555408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육각형 17"/>
          <p:cNvSpPr/>
          <p:nvPr/>
        </p:nvSpPr>
        <p:spPr>
          <a:xfrm>
            <a:off x="4072697" y="3081880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육각형 18"/>
          <p:cNvSpPr/>
          <p:nvPr/>
        </p:nvSpPr>
        <p:spPr>
          <a:xfrm>
            <a:off x="4072696" y="3608352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육각형 19"/>
          <p:cNvSpPr/>
          <p:nvPr/>
        </p:nvSpPr>
        <p:spPr>
          <a:xfrm>
            <a:off x="4072697" y="4134824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육각형 20"/>
          <p:cNvSpPr/>
          <p:nvPr/>
        </p:nvSpPr>
        <p:spPr>
          <a:xfrm>
            <a:off x="4072696" y="4661296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육각형 21"/>
          <p:cNvSpPr/>
          <p:nvPr/>
        </p:nvSpPr>
        <p:spPr>
          <a:xfrm>
            <a:off x="4072696" y="5187768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H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800848" y="2060576"/>
            <a:ext cx="199506" cy="338327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2800848" y="1291822"/>
            <a:ext cx="1338008" cy="36576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Switching Node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한쪽 모서리가 둥근 사각형 24"/>
          <p:cNvSpPr/>
          <p:nvPr/>
        </p:nvSpPr>
        <p:spPr>
          <a:xfrm>
            <a:off x="643345" y="4997964"/>
            <a:ext cx="1307375" cy="489063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Multi-Core Optical Transceiver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/>
          <p:cNvCxnSpPr/>
          <p:nvPr/>
        </p:nvCxnSpPr>
        <p:spPr>
          <a:xfrm flipV="1">
            <a:off x="1950720" y="5319502"/>
            <a:ext cx="1211742" cy="80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V="1">
            <a:off x="2405994" y="2188099"/>
            <a:ext cx="0" cy="31354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V="1">
            <a:off x="2405994" y="4801116"/>
            <a:ext cx="756468" cy="4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 flipV="1">
            <a:off x="2405994" y="4282730"/>
            <a:ext cx="756468" cy="4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 flipV="1">
            <a:off x="2405994" y="3748171"/>
            <a:ext cx="756468" cy="4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 flipV="1">
            <a:off x="2405994" y="3220829"/>
            <a:ext cx="756468" cy="4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 flipV="1">
            <a:off x="2405994" y="2692192"/>
            <a:ext cx="756468" cy="4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 flipV="1">
            <a:off x="2405994" y="2188099"/>
            <a:ext cx="756468" cy="4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>
            <a:stCxn id="15" idx="0"/>
          </p:cNvCxnSpPr>
          <p:nvPr/>
        </p:nvCxnSpPr>
        <p:spPr>
          <a:xfrm>
            <a:off x="4405206" y="2178566"/>
            <a:ext cx="349674" cy="953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4405206" y="2705271"/>
            <a:ext cx="349674" cy="953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4405206" y="3231509"/>
            <a:ext cx="349674" cy="953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4405206" y="3751055"/>
            <a:ext cx="349674" cy="953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4426835" y="4282005"/>
            <a:ext cx="349674" cy="953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4405205" y="4808243"/>
            <a:ext cx="349674" cy="953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4422410" y="5319502"/>
            <a:ext cx="349674" cy="953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4754879" y="2183332"/>
            <a:ext cx="17205" cy="315406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육각형 68"/>
          <p:cNvSpPr/>
          <p:nvPr/>
        </p:nvSpPr>
        <p:spPr>
          <a:xfrm>
            <a:off x="5199611" y="2555408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0" name="육각형 69"/>
          <p:cNvSpPr/>
          <p:nvPr/>
        </p:nvSpPr>
        <p:spPr>
          <a:xfrm>
            <a:off x="5199611" y="3081880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육각형 70"/>
          <p:cNvSpPr/>
          <p:nvPr/>
        </p:nvSpPr>
        <p:spPr>
          <a:xfrm>
            <a:off x="5199610" y="3608352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2" name="육각형 71"/>
          <p:cNvSpPr/>
          <p:nvPr/>
        </p:nvSpPr>
        <p:spPr>
          <a:xfrm>
            <a:off x="5199611" y="4134824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육각형 72"/>
          <p:cNvSpPr/>
          <p:nvPr/>
        </p:nvSpPr>
        <p:spPr>
          <a:xfrm>
            <a:off x="5199610" y="4661296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4" name="육각형 73"/>
          <p:cNvSpPr/>
          <p:nvPr/>
        </p:nvSpPr>
        <p:spPr>
          <a:xfrm>
            <a:off x="5199610" y="5187768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H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75" name="직선 연결선 74"/>
          <p:cNvCxnSpPr/>
          <p:nvPr/>
        </p:nvCxnSpPr>
        <p:spPr>
          <a:xfrm>
            <a:off x="5532120" y="2705271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>
            <a:off x="5532120" y="3231509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>
            <a:off x="5532120" y="3751055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5553749" y="4282005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5532119" y="4808243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5549324" y="5319502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>
            <a:off x="5881793" y="2705271"/>
            <a:ext cx="17205" cy="263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육각형 88"/>
          <p:cNvSpPr/>
          <p:nvPr/>
        </p:nvSpPr>
        <p:spPr>
          <a:xfrm>
            <a:off x="6475574" y="3081880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0" name="육각형 89"/>
          <p:cNvSpPr/>
          <p:nvPr/>
        </p:nvSpPr>
        <p:spPr>
          <a:xfrm>
            <a:off x="6475573" y="3608352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1" name="육각형 90"/>
          <p:cNvSpPr/>
          <p:nvPr/>
        </p:nvSpPr>
        <p:spPr>
          <a:xfrm>
            <a:off x="6475574" y="4134824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2" name="육각형 91"/>
          <p:cNvSpPr/>
          <p:nvPr/>
        </p:nvSpPr>
        <p:spPr>
          <a:xfrm>
            <a:off x="6475573" y="4661296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3" name="육각형 92"/>
          <p:cNvSpPr/>
          <p:nvPr/>
        </p:nvSpPr>
        <p:spPr>
          <a:xfrm>
            <a:off x="6475573" y="5187768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H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4" name="직선 연결선 93"/>
          <p:cNvCxnSpPr/>
          <p:nvPr/>
        </p:nvCxnSpPr>
        <p:spPr>
          <a:xfrm>
            <a:off x="6808083" y="3231509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>
            <a:off x="6808083" y="3751055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>
            <a:off x="6829712" y="4282005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6808082" y="4808243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6825287" y="5319502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>
            <a:off x="7157756" y="3241042"/>
            <a:ext cx="17205" cy="2078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육각형 100"/>
          <p:cNvSpPr/>
          <p:nvPr/>
        </p:nvSpPr>
        <p:spPr>
          <a:xfrm>
            <a:off x="7751536" y="3608352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2" name="육각형 101"/>
          <p:cNvSpPr/>
          <p:nvPr/>
        </p:nvSpPr>
        <p:spPr>
          <a:xfrm>
            <a:off x="7751537" y="4134824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3" name="육각형 102"/>
          <p:cNvSpPr/>
          <p:nvPr/>
        </p:nvSpPr>
        <p:spPr>
          <a:xfrm>
            <a:off x="7751536" y="4661296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4" name="육각형 103"/>
          <p:cNvSpPr/>
          <p:nvPr/>
        </p:nvSpPr>
        <p:spPr>
          <a:xfrm>
            <a:off x="7751536" y="5187768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H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5" name="직선 연결선 104"/>
          <p:cNvCxnSpPr/>
          <p:nvPr/>
        </p:nvCxnSpPr>
        <p:spPr>
          <a:xfrm>
            <a:off x="8084046" y="3751055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8105675" y="4282005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8084045" y="4808243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8101250" y="5319502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>
            <a:off x="8433719" y="3748171"/>
            <a:ext cx="17205" cy="1589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육각형 110"/>
          <p:cNvSpPr/>
          <p:nvPr/>
        </p:nvSpPr>
        <p:spPr>
          <a:xfrm>
            <a:off x="8934630" y="4134824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2" name="육각형 111"/>
          <p:cNvSpPr/>
          <p:nvPr/>
        </p:nvSpPr>
        <p:spPr>
          <a:xfrm>
            <a:off x="8934629" y="4661296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3" name="육각형 112"/>
          <p:cNvSpPr/>
          <p:nvPr/>
        </p:nvSpPr>
        <p:spPr>
          <a:xfrm>
            <a:off x="8934629" y="5187768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H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4" name="직선 연결선 113"/>
          <p:cNvCxnSpPr/>
          <p:nvPr/>
        </p:nvCxnSpPr>
        <p:spPr>
          <a:xfrm>
            <a:off x="9288768" y="4282005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/>
        </p:nvCxnSpPr>
        <p:spPr>
          <a:xfrm>
            <a:off x="9267138" y="4808243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/>
          <p:cNvCxnSpPr/>
          <p:nvPr/>
        </p:nvCxnSpPr>
        <p:spPr>
          <a:xfrm>
            <a:off x="9284343" y="5319502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>
            <a:off x="9634017" y="4282005"/>
            <a:ext cx="0" cy="1055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육각형 118"/>
          <p:cNvSpPr/>
          <p:nvPr/>
        </p:nvSpPr>
        <p:spPr>
          <a:xfrm>
            <a:off x="10117722" y="4661296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0" name="육각형 119"/>
          <p:cNvSpPr/>
          <p:nvPr/>
        </p:nvSpPr>
        <p:spPr>
          <a:xfrm>
            <a:off x="10117722" y="5187768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H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1" name="직선 연결선 120"/>
          <p:cNvCxnSpPr/>
          <p:nvPr/>
        </p:nvCxnSpPr>
        <p:spPr>
          <a:xfrm>
            <a:off x="10450231" y="4808243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>
            <a:off x="10467436" y="5319502"/>
            <a:ext cx="349674" cy="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/>
          <p:nvPr/>
        </p:nvCxnSpPr>
        <p:spPr>
          <a:xfrm>
            <a:off x="10799905" y="4817776"/>
            <a:ext cx="17205" cy="519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구부러진 연결선 125"/>
          <p:cNvCxnSpPr>
            <a:stCxn id="15" idx="0"/>
            <a:endCxn id="17" idx="0"/>
          </p:cNvCxnSpPr>
          <p:nvPr/>
        </p:nvCxnSpPr>
        <p:spPr>
          <a:xfrm>
            <a:off x="4405206" y="2178566"/>
            <a:ext cx="12700" cy="52647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구부러진 연결선 126"/>
          <p:cNvCxnSpPr>
            <a:stCxn id="15" idx="0"/>
            <a:endCxn id="18" idx="0"/>
          </p:cNvCxnSpPr>
          <p:nvPr/>
        </p:nvCxnSpPr>
        <p:spPr>
          <a:xfrm>
            <a:off x="4405206" y="2178566"/>
            <a:ext cx="12700" cy="105294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구부러진 연결선 133"/>
          <p:cNvCxnSpPr>
            <a:stCxn id="15" idx="0"/>
            <a:endCxn id="19" idx="0"/>
          </p:cNvCxnSpPr>
          <p:nvPr/>
        </p:nvCxnSpPr>
        <p:spPr>
          <a:xfrm flipH="1">
            <a:off x="4405205" y="2178566"/>
            <a:ext cx="1" cy="1579416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구부러진 연결선 136"/>
          <p:cNvCxnSpPr>
            <a:stCxn id="15" idx="0"/>
            <a:endCxn id="20" idx="0"/>
          </p:cNvCxnSpPr>
          <p:nvPr/>
        </p:nvCxnSpPr>
        <p:spPr>
          <a:xfrm>
            <a:off x="4405206" y="2178566"/>
            <a:ext cx="12700" cy="2105888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구부러진 연결선 142"/>
          <p:cNvCxnSpPr>
            <a:stCxn id="15" idx="0"/>
            <a:endCxn id="21" idx="0"/>
          </p:cNvCxnSpPr>
          <p:nvPr/>
        </p:nvCxnSpPr>
        <p:spPr>
          <a:xfrm flipH="1">
            <a:off x="4405205" y="2178566"/>
            <a:ext cx="1" cy="2632360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구부러진 연결선 144"/>
          <p:cNvCxnSpPr>
            <a:stCxn id="15" idx="0"/>
            <a:endCxn id="22" idx="0"/>
          </p:cNvCxnSpPr>
          <p:nvPr/>
        </p:nvCxnSpPr>
        <p:spPr>
          <a:xfrm flipH="1">
            <a:off x="4405205" y="2178566"/>
            <a:ext cx="1" cy="3158832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직사각형 145"/>
          <p:cNvSpPr/>
          <p:nvPr/>
        </p:nvSpPr>
        <p:spPr>
          <a:xfrm>
            <a:off x="6509842" y="1478889"/>
            <a:ext cx="4634408" cy="3657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Face-to-Face Switching Fabric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150" name="직선 화살표 연결선 149"/>
          <p:cNvCxnSpPr>
            <a:stCxn id="146" idx="2"/>
            <a:endCxn id="15" idx="0"/>
          </p:cNvCxnSpPr>
          <p:nvPr/>
        </p:nvCxnSpPr>
        <p:spPr>
          <a:xfrm flipH="1">
            <a:off x="4405206" y="1844649"/>
            <a:ext cx="4421840" cy="333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/>
          <p:cNvCxnSpPr>
            <a:stCxn id="146" idx="2"/>
            <a:endCxn id="69" idx="0"/>
          </p:cNvCxnSpPr>
          <p:nvPr/>
        </p:nvCxnSpPr>
        <p:spPr>
          <a:xfrm flipH="1">
            <a:off x="5532120" y="1844649"/>
            <a:ext cx="3294926" cy="860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/>
          <p:cNvCxnSpPr>
            <a:stCxn id="146" idx="2"/>
            <a:endCxn id="89" idx="0"/>
          </p:cNvCxnSpPr>
          <p:nvPr/>
        </p:nvCxnSpPr>
        <p:spPr>
          <a:xfrm flipH="1">
            <a:off x="6808083" y="1844649"/>
            <a:ext cx="2018963" cy="13868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/>
          <p:cNvCxnSpPr>
            <a:stCxn id="146" idx="2"/>
            <a:endCxn id="101" idx="0"/>
          </p:cNvCxnSpPr>
          <p:nvPr/>
        </p:nvCxnSpPr>
        <p:spPr>
          <a:xfrm flipH="1">
            <a:off x="8084045" y="1844649"/>
            <a:ext cx="743001" cy="19133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/>
          <p:cNvCxnSpPr>
            <a:stCxn id="146" idx="2"/>
            <a:endCxn id="111" idx="0"/>
          </p:cNvCxnSpPr>
          <p:nvPr/>
        </p:nvCxnSpPr>
        <p:spPr>
          <a:xfrm>
            <a:off x="8827046" y="1844649"/>
            <a:ext cx="440093" cy="24398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60"/>
          <p:cNvCxnSpPr>
            <a:stCxn id="146" idx="2"/>
            <a:endCxn id="119" idx="0"/>
          </p:cNvCxnSpPr>
          <p:nvPr/>
        </p:nvCxnSpPr>
        <p:spPr>
          <a:xfrm>
            <a:off x="8827046" y="1844649"/>
            <a:ext cx="1623185" cy="29662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육각형 161"/>
          <p:cNvSpPr/>
          <p:nvPr/>
        </p:nvSpPr>
        <p:spPr>
          <a:xfrm>
            <a:off x="2190430" y="5854061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3" name="육각형 162"/>
          <p:cNvSpPr/>
          <p:nvPr/>
        </p:nvSpPr>
        <p:spPr>
          <a:xfrm>
            <a:off x="4085397" y="5854061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4" name="육각형 163"/>
          <p:cNvSpPr/>
          <p:nvPr/>
        </p:nvSpPr>
        <p:spPr>
          <a:xfrm>
            <a:off x="5199609" y="5854060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5" name="육각형 164"/>
          <p:cNvSpPr/>
          <p:nvPr/>
        </p:nvSpPr>
        <p:spPr>
          <a:xfrm>
            <a:off x="6492778" y="5854060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6" name="육각형 165"/>
          <p:cNvSpPr/>
          <p:nvPr/>
        </p:nvSpPr>
        <p:spPr>
          <a:xfrm>
            <a:off x="7751535" y="5854060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7" name="육각형 166"/>
          <p:cNvSpPr/>
          <p:nvPr/>
        </p:nvSpPr>
        <p:spPr>
          <a:xfrm>
            <a:off x="8951834" y="5854059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8" name="육각형 167"/>
          <p:cNvSpPr/>
          <p:nvPr/>
        </p:nvSpPr>
        <p:spPr>
          <a:xfrm>
            <a:off x="10117722" y="5854058"/>
            <a:ext cx="332509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9" name="직사각형 168"/>
          <p:cNvSpPr/>
          <p:nvPr/>
        </p:nvSpPr>
        <p:spPr>
          <a:xfrm>
            <a:off x="1950720" y="5781675"/>
            <a:ext cx="8866390" cy="4476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육각형 170"/>
          <p:cNvSpPr/>
          <p:nvPr/>
        </p:nvSpPr>
        <p:spPr>
          <a:xfrm>
            <a:off x="3157242" y="5849448"/>
            <a:ext cx="332509" cy="299259"/>
          </a:xfrm>
          <a:prstGeom prst="hexagon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B050"/>
                </a:solidFill>
              </a:rPr>
              <a:t>+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172" name="육각형 171"/>
          <p:cNvSpPr/>
          <p:nvPr/>
        </p:nvSpPr>
        <p:spPr>
          <a:xfrm>
            <a:off x="4597226" y="5859258"/>
            <a:ext cx="332509" cy="299259"/>
          </a:xfrm>
          <a:prstGeom prst="hexagon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B050"/>
                </a:solidFill>
              </a:rPr>
              <a:t>+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173" name="육각형 172"/>
          <p:cNvSpPr/>
          <p:nvPr/>
        </p:nvSpPr>
        <p:spPr>
          <a:xfrm>
            <a:off x="5861827" y="5868092"/>
            <a:ext cx="332509" cy="299259"/>
          </a:xfrm>
          <a:prstGeom prst="hexagon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B050"/>
                </a:solidFill>
              </a:rPr>
              <a:t>+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174" name="육각형 173"/>
          <p:cNvSpPr/>
          <p:nvPr/>
        </p:nvSpPr>
        <p:spPr>
          <a:xfrm>
            <a:off x="7139362" y="5859258"/>
            <a:ext cx="332509" cy="299259"/>
          </a:xfrm>
          <a:prstGeom prst="hexagon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B050"/>
                </a:solidFill>
              </a:rPr>
              <a:t>+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175" name="육각형 174"/>
          <p:cNvSpPr/>
          <p:nvPr/>
        </p:nvSpPr>
        <p:spPr>
          <a:xfrm>
            <a:off x="8377663" y="5849447"/>
            <a:ext cx="332509" cy="299259"/>
          </a:xfrm>
          <a:prstGeom prst="hexagon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B050"/>
                </a:solidFill>
              </a:rPr>
              <a:t>+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176" name="육각형 175"/>
          <p:cNvSpPr/>
          <p:nvPr/>
        </p:nvSpPr>
        <p:spPr>
          <a:xfrm>
            <a:off x="9597386" y="5839633"/>
            <a:ext cx="332509" cy="299259"/>
          </a:xfrm>
          <a:prstGeom prst="hexagon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B050"/>
                </a:solidFill>
              </a:rPr>
              <a:t>+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177" name="육각형 176"/>
          <p:cNvSpPr/>
          <p:nvPr/>
        </p:nvSpPr>
        <p:spPr>
          <a:xfrm>
            <a:off x="971627" y="5831267"/>
            <a:ext cx="737431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28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8" name="직사각형 177"/>
          <p:cNvSpPr/>
          <p:nvPr/>
        </p:nvSpPr>
        <p:spPr>
          <a:xfrm>
            <a:off x="1950720" y="6351321"/>
            <a:ext cx="8866390" cy="4476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(N(N-1))/2 , N=8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9" name="육각형 178"/>
          <p:cNvSpPr/>
          <p:nvPr/>
        </p:nvSpPr>
        <p:spPr>
          <a:xfrm>
            <a:off x="1005578" y="6425528"/>
            <a:ext cx="737431" cy="299259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28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0" name="한쪽 모서리가 둥근 사각형 179"/>
          <p:cNvSpPr/>
          <p:nvPr/>
        </p:nvSpPr>
        <p:spPr>
          <a:xfrm>
            <a:off x="0" y="4997964"/>
            <a:ext cx="643345" cy="489063"/>
          </a:xfrm>
          <a:prstGeom prst="round1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Fixed Optical Core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2" name="직선 화살표 연결선 181"/>
          <p:cNvCxnSpPr>
            <a:stCxn id="146" idx="2"/>
          </p:cNvCxnSpPr>
          <p:nvPr/>
        </p:nvCxnSpPr>
        <p:spPr>
          <a:xfrm flipH="1">
            <a:off x="2628900" y="1844649"/>
            <a:ext cx="6198146" cy="333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모서리가 둥근 직사각형 182"/>
          <p:cNvSpPr/>
          <p:nvPr/>
        </p:nvSpPr>
        <p:spPr>
          <a:xfrm>
            <a:off x="1950720" y="4692938"/>
            <a:ext cx="355521" cy="794089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/>
          <p:cNvSpPr/>
          <p:nvPr/>
        </p:nvSpPr>
        <p:spPr>
          <a:xfrm>
            <a:off x="513132" y="3835887"/>
            <a:ext cx="1338008" cy="36576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MEMS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86" name="직선 화살표 연결선 185"/>
          <p:cNvCxnSpPr>
            <a:stCxn id="184" idx="2"/>
            <a:endCxn id="183" idx="0"/>
          </p:cNvCxnSpPr>
          <p:nvPr/>
        </p:nvCxnSpPr>
        <p:spPr>
          <a:xfrm>
            <a:off x="1182136" y="4201647"/>
            <a:ext cx="946345" cy="49129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/>
          <p:cNvCxnSpPr>
            <a:stCxn id="5" idx="2"/>
            <a:endCxn id="4" idx="0"/>
          </p:cNvCxnSpPr>
          <p:nvPr/>
        </p:nvCxnSpPr>
        <p:spPr>
          <a:xfrm>
            <a:off x="1836743" y="1657582"/>
            <a:ext cx="569251" cy="402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화살표 연결선 189"/>
          <p:cNvCxnSpPr>
            <a:stCxn id="24" idx="2"/>
            <a:endCxn id="23" idx="0"/>
          </p:cNvCxnSpPr>
          <p:nvPr/>
        </p:nvCxnSpPr>
        <p:spPr>
          <a:xfrm flipH="1">
            <a:off x="2900601" y="1657582"/>
            <a:ext cx="569251" cy="402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61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219400" y="3012054"/>
            <a:ext cx="2959331" cy="16043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 4"/>
          <p:cNvSpPr/>
          <p:nvPr/>
        </p:nvSpPr>
        <p:spPr>
          <a:xfrm>
            <a:off x="3733894" y="2128375"/>
            <a:ext cx="2485506" cy="908617"/>
          </a:xfrm>
          <a:custGeom>
            <a:avLst/>
            <a:gdLst>
              <a:gd name="connsiteX0" fmla="*/ 0 w 2485506"/>
              <a:gd name="connsiteY0" fmla="*/ 384915 h 908617"/>
              <a:gd name="connsiteX1" fmla="*/ 1130531 w 2485506"/>
              <a:gd name="connsiteY1" fmla="*/ 19155 h 908617"/>
              <a:gd name="connsiteX2" fmla="*/ 2485506 w 2485506"/>
              <a:gd name="connsiteY2" fmla="*/ 908617 h 908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85506" h="908617">
                <a:moveTo>
                  <a:pt x="0" y="384915"/>
                </a:moveTo>
                <a:cubicBezTo>
                  <a:pt x="358140" y="158393"/>
                  <a:pt x="716280" y="-68129"/>
                  <a:pt x="1130531" y="19155"/>
                </a:cubicBezTo>
                <a:cubicBezTo>
                  <a:pt x="1544782" y="106439"/>
                  <a:pt x="2330335" y="876752"/>
                  <a:pt x="2485506" y="90861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 flipV="1">
            <a:off x="4822862" y="1795866"/>
            <a:ext cx="5328458" cy="191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자유형 8"/>
          <p:cNvSpPr/>
          <p:nvPr/>
        </p:nvSpPr>
        <p:spPr>
          <a:xfrm>
            <a:off x="9195356" y="2100316"/>
            <a:ext cx="2156453" cy="920050"/>
          </a:xfrm>
          <a:custGeom>
            <a:avLst/>
            <a:gdLst>
              <a:gd name="connsiteX0" fmla="*/ 0 w 2156453"/>
              <a:gd name="connsiteY0" fmla="*/ 920050 h 920050"/>
              <a:gd name="connsiteX1" fmla="*/ 872836 w 2156453"/>
              <a:gd name="connsiteY1" fmla="*/ 38901 h 920050"/>
              <a:gd name="connsiteX2" fmla="*/ 2152996 w 2156453"/>
              <a:gd name="connsiteY2" fmla="*/ 279970 h 92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453" h="920050">
                <a:moveTo>
                  <a:pt x="0" y="920050"/>
                </a:moveTo>
                <a:cubicBezTo>
                  <a:pt x="257001" y="532815"/>
                  <a:pt x="514003" y="145581"/>
                  <a:pt x="872836" y="38901"/>
                </a:cubicBezTo>
                <a:cubicBezTo>
                  <a:pt x="1231669" y="-67779"/>
                  <a:pt x="2222269" y="55526"/>
                  <a:pt x="2152996" y="279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 10"/>
          <p:cNvSpPr/>
          <p:nvPr/>
        </p:nvSpPr>
        <p:spPr>
          <a:xfrm>
            <a:off x="3717269" y="2205785"/>
            <a:ext cx="2485506" cy="908617"/>
          </a:xfrm>
          <a:custGeom>
            <a:avLst/>
            <a:gdLst>
              <a:gd name="connsiteX0" fmla="*/ 0 w 2485506"/>
              <a:gd name="connsiteY0" fmla="*/ 384915 h 908617"/>
              <a:gd name="connsiteX1" fmla="*/ 1130531 w 2485506"/>
              <a:gd name="connsiteY1" fmla="*/ 19155 h 908617"/>
              <a:gd name="connsiteX2" fmla="*/ 2485506 w 2485506"/>
              <a:gd name="connsiteY2" fmla="*/ 908617 h 908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85506" h="908617">
                <a:moveTo>
                  <a:pt x="0" y="384915"/>
                </a:moveTo>
                <a:cubicBezTo>
                  <a:pt x="358140" y="158393"/>
                  <a:pt x="716280" y="-68129"/>
                  <a:pt x="1130531" y="19155"/>
                </a:cubicBezTo>
                <a:cubicBezTo>
                  <a:pt x="1544782" y="106439"/>
                  <a:pt x="2330335" y="876752"/>
                  <a:pt x="2485506" y="90861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 11"/>
          <p:cNvSpPr/>
          <p:nvPr/>
        </p:nvSpPr>
        <p:spPr>
          <a:xfrm>
            <a:off x="3733894" y="2698700"/>
            <a:ext cx="2485506" cy="908617"/>
          </a:xfrm>
          <a:custGeom>
            <a:avLst/>
            <a:gdLst>
              <a:gd name="connsiteX0" fmla="*/ 0 w 2485506"/>
              <a:gd name="connsiteY0" fmla="*/ 384915 h 908617"/>
              <a:gd name="connsiteX1" fmla="*/ 1130531 w 2485506"/>
              <a:gd name="connsiteY1" fmla="*/ 19155 h 908617"/>
              <a:gd name="connsiteX2" fmla="*/ 2485506 w 2485506"/>
              <a:gd name="connsiteY2" fmla="*/ 908617 h 908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85506" h="908617">
                <a:moveTo>
                  <a:pt x="0" y="384915"/>
                </a:moveTo>
                <a:cubicBezTo>
                  <a:pt x="358140" y="158393"/>
                  <a:pt x="716280" y="-68129"/>
                  <a:pt x="1130531" y="19155"/>
                </a:cubicBezTo>
                <a:cubicBezTo>
                  <a:pt x="1544782" y="106439"/>
                  <a:pt x="2330335" y="876752"/>
                  <a:pt x="2485506" y="90861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 12"/>
          <p:cNvSpPr/>
          <p:nvPr/>
        </p:nvSpPr>
        <p:spPr>
          <a:xfrm>
            <a:off x="9211981" y="2200068"/>
            <a:ext cx="2156453" cy="920050"/>
          </a:xfrm>
          <a:custGeom>
            <a:avLst/>
            <a:gdLst>
              <a:gd name="connsiteX0" fmla="*/ 0 w 2156453"/>
              <a:gd name="connsiteY0" fmla="*/ 920050 h 920050"/>
              <a:gd name="connsiteX1" fmla="*/ 872836 w 2156453"/>
              <a:gd name="connsiteY1" fmla="*/ 38901 h 920050"/>
              <a:gd name="connsiteX2" fmla="*/ 2152996 w 2156453"/>
              <a:gd name="connsiteY2" fmla="*/ 279970 h 92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453" h="920050">
                <a:moveTo>
                  <a:pt x="0" y="920050"/>
                </a:moveTo>
                <a:cubicBezTo>
                  <a:pt x="257001" y="532815"/>
                  <a:pt x="514003" y="145581"/>
                  <a:pt x="872836" y="38901"/>
                </a:cubicBezTo>
                <a:cubicBezTo>
                  <a:pt x="1231669" y="-67779"/>
                  <a:pt x="2222269" y="55526"/>
                  <a:pt x="2152996" y="279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 13"/>
          <p:cNvSpPr/>
          <p:nvPr/>
        </p:nvSpPr>
        <p:spPr>
          <a:xfrm>
            <a:off x="9195356" y="2759845"/>
            <a:ext cx="2156453" cy="920050"/>
          </a:xfrm>
          <a:custGeom>
            <a:avLst/>
            <a:gdLst>
              <a:gd name="connsiteX0" fmla="*/ 0 w 2156453"/>
              <a:gd name="connsiteY0" fmla="*/ 920050 h 920050"/>
              <a:gd name="connsiteX1" fmla="*/ 872836 w 2156453"/>
              <a:gd name="connsiteY1" fmla="*/ 38901 h 920050"/>
              <a:gd name="connsiteX2" fmla="*/ 2152996 w 2156453"/>
              <a:gd name="connsiteY2" fmla="*/ 279970 h 92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6453" h="920050">
                <a:moveTo>
                  <a:pt x="0" y="920050"/>
                </a:moveTo>
                <a:cubicBezTo>
                  <a:pt x="257001" y="532815"/>
                  <a:pt x="514003" y="145581"/>
                  <a:pt x="872836" y="38901"/>
                </a:cubicBezTo>
                <a:cubicBezTo>
                  <a:pt x="1231669" y="-67779"/>
                  <a:pt x="2222269" y="55526"/>
                  <a:pt x="2152996" y="279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659079" y="3482071"/>
            <a:ext cx="1911927" cy="470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Ribbon Optical-Core Layer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위쪽/아래쪽 화살표 15"/>
          <p:cNvSpPr/>
          <p:nvPr/>
        </p:nvSpPr>
        <p:spPr>
          <a:xfrm>
            <a:off x="4531916" y="2338723"/>
            <a:ext cx="166255" cy="29925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위쪽/아래쪽 화살표 16"/>
          <p:cNvSpPr/>
          <p:nvPr/>
        </p:nvSpPr>
        <p:spPr>
          <a:xfrm>
            <a:off x="10519850" y="2338723"/>
            <a:ext cx="166255" cy="29925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 21"/>
          <p:cNvSpPr/>
          <p:nvPr/>
        </p:nvSpPr>
        <p:spPr>
          <a:xfrm>
            <a:off x="4847800" y="1476962"/>
            <a:ext cx="5220392" cy="690118"/>
          </a:xfrm>
          <a:custGeom>
            <a:avLst/>
            <a:gdLst>
              <a:gd name="connsiteX0" fmla="*/ 0 w 5220392"/>
              <a:gd name="connsiteY0" fmla="*/ 324230 h 340856"/>
              <a:gd name="connsiteX1" fmla="*/ 2626821 w 5220392"/>
              <a:gd name="connsiteY1" fmla="*/ 34 h 340856"/>
              <a:gd name="connsiteX2" fmla="*/ 5220392 w 5220392"/>
              <a:gd name="connsiteY2" fmla="*/ 340856 h 340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0392" h="340856">
                <a:moveTo>
                  <a:pt x="0" y="324230"/>
                </a:moveTo>
                <a:cubicBezTo>
                  <a:pt x="878378" y="160746"/>
                  <a:pt x="1756756" y="-2737"/>
                  <a:pt x="2626821" y="34"/>
                </a:cubicBezTo>
                <a:cubicBezTo>
                  <a:pt x="3496886" y="2805"/>
                  <a:pt x="5097087" y="310376"/>
                  <a:pt x="5220392" y="340856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자유형 22"/>
          <p:cNvSpPr/>
          <p:nvPr/>
        </p:nvSpPr>
        <p:spPr>
          <a:xfrm>
            <a:off x="4847800" y="1576812"/>
            <a:ext cx="5220392" cy="690118"/>
          </a:xfrm>
          <a:custGeom>
            <a:avLst/>
            <a:gdLst>
              <a:gd name="connsiteX0" fmla="*/ 0 w 5220392"/>
              <a:gd name="connsiteY0" fmla="*/ 324230 h 340856"/>
              <a:gd name="connsiteX1" fmla="*/ 2626821 w 5220392"/>
              <a:gd name="connsiteY1" fmla="*/ 34 h 340856"/>
              <a:gd name="connsiteX2" fmla="*/ 5220392 w 5220392"/>
              <a:gd name="connsiteY2" fmla="*/ 340856 h 340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0392" h="340856">
                <a:moveTo>
                  <a:pt x="0" y="324230"/>
                </a:moveTo>
                <a:cubicBezTo>
                  <a:pt x="878378" y="160746"/>
                  <a:pt x="1756756" y="-2737"/>
                  <a:pt x="2626821" y="34"/>
                </a:cubicBezTo>
                <a:cubicBezTo>
                  <a:pt x="3496886" y="2805"/>
                  <a:pt x="5097087" y="310376"/>
                  <a:pt x="5220392" y="340856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 23"/>
          <p:cNvSpPr/>
          <p:nvPr/>
        </p:nvSpPr>
        <p:spPr>
          <a:xfrm>
            <a:off x="4858883" y="2035065"/>
            <a:ext cx="5220392" cy="690118"/>
          </a:xfrm>
          <a:custGeom>
            <a:avLst/>
            <a:gdLst>
              <a:gd name="connsiteX0" fmla="*/ 0 w 5220392"/>
              <a:gd name="connsiteY0" fmla="*/ 324230 h 340856"/>
              <a:gd name="connsiteX1" fmla="*/ 2626821 w 5220392"/>
              <a:gd name="connsiteY1" fmla="*/ 34 h 340856"/>
              <a:gd name="connsiteX2" fmla="*/ 5220392 w 5220392"/>
              <a:gd name="connsiteY2" fmla="*/ 340856 h 340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0392" h="340856">
                <a:moveTo>
                  <a:pt x="0" y="324230"/>
                </a:moveTo>
                <a:cubicBezTo>
                  <a:pt x="878378" y="160746"/>
                  <a:pt x="1756756" y="-2737"/>
                  <a:pt x="2626821" y="34"/>
                </a:cubicBezTo>
                <a:cubicBezTo>
                  <a:pt x="3496886" y="2805"/>
                  <a:pt x="5097087" y="310376"/>
                  <a:pt x="5220392" y="340856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6219399" y="5284654"/>
            <a:ext cx="2992581" cy="470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Multi-Layer Ribbon Fiber Coupling System (MLRFCS)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/>
          <p:cNvCxnSpPr>
            <a:stCxn id="25" idx="0"/>
            <a:endCxn id="4" idx="2"/>
          </p:cNvCxnSpPr>
          <p:nvPr/>
        </p:nvCxnSpPr>
        <p:spPr>
          <a:xfrm flipH="1" flipV="1">
            <a:off x="7699066" y="4616410"/>
            <a:ext cx="16624" cy="668244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>
            <a:stCxn id="5" idx="0"/>
          </p:cNvCxnSpPr>
          <p:nvPr/>
        </p:nvCxnSpPr>
        <p:spPr>
          <a:xfrm flipH="1" flipV="1">
            <a:off x="2242158" y="2488352"/>
            <a:ext cx="1491736" cy="2493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>
            <a:stCxn id="11" idx="0"/>
          </p:cNvCxnSpPr>
          <p:nvPr/>
        </p:nvCxnSpPr>
        <p:spPr>
          <a:xfrm flipH="1" flipV="1">
            <a:off x="2298070" y="2560341"/>
            <a:ext cx="1419199" cy="303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stCxn id="12" idx="0"/>
          </p:cNvCxnSpPr>
          <p:nvPr/>
        </p:nvCxnSpPr>
        <p:spPr>
          <a:xfrm flipH="1" flipV="1">
            <a:off x="2307892" y="3036992"/>
            <a:ext cx="1426002" cy="4662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1766169" y="2100316"/>
            <a:ext cx="541723" cy="111955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11080947" y="2030923"/>
            <a:ext cx="541723" cy="11195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0060607" y="3482071"/>
            <a:ext cx="2040680" cy="470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Ribbon Optical-Core</a:t>
            </a:r>
            <a:endParaRPr lang="ko-KR" altLang="en-US" sz="1400" dirty="0"/>
          </a:p>
        </p:txBody>
      </p:sp>
      <p:cxnSp>
        <p:nvCxnSpPr>
          <p:cNvPr id="41" name="직선 화살표 연결선 40"/>
          <p:cNvCxnSpPr>
            <a:stCxn id="39" idx="0"/>
            <a:endCxn id="38" idx="2"/>
          </p:cNvCxnSpPr>
          <p:nvPr/>
        </p:nvCxnSpPr>
        <p:spPr>
          <a:xfrm flipV="1">
            <a:off x="11080947" y="3150477"/>
            <a:ext cx="270862" cy="331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15" idx="0"/>
          </p:cNvCxnSpPr>
          <p:nvPr/>
        </p:nvCxnSpPr>
        <p:spPr>
          <a:xfrm flipH="1" flipV="1">
            <a:off x="3920647" y="2380124"/>
            <a:ext cx="694396" cy="1101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15" idx="0"/>
          </p:cNvCxnSpPr>
          <p:nvPr/>
        </p:nvCxnSpPr>
        <p:spPr>
          <a:xfrm flipH="1" flipV="1">
            <a:off x="3887532" y="2560341"/>
            <a:ext cx="727511" cy="921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stCxn id="15" idx="0"/>
          </p:cNvCxnSpPr>
          <p:nvPr/>
        </p:nvCxnSpPr>
        <p:spPr>
          <a:xfrm flipH="1" flipV="1">
            <a:off x="3920647" y="3036992"/>
            <a:ext cx="694396" cy="44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2307892" y="647504"/>
            <a:ext cx="2040680" cy="4709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Parallel Polymer-Based Optical Transceiver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0" y="1393736"/>
            <a:ext cx="683123" cy="322267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0" y="5049154"/>
            <a:ext cx="2040680" cy="470999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Multi-Layer Multi-Plane Matrix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직선 화살표 연결선 51"/>
          <p:cNvCxnSpPr>
            <a:stCxn id="50" idx="0"/>
            <a:endCxn id="49" idx="2"/>
          </p:cNvCxnSpPr>
          <p:nvPr/>
        </p:nvCxnSpPr>
        <p:spPr>
          <a:xfrm flipH="1" flipV="1">
            <a:off x="341562" y="4616410"/>
            <a:ext cx="678778" cy="432744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endCxn id="35" idx="0"/>
          </p:cNvCxnSpPr>
          <p:nvPr/>
        </p:nvCxnSpPr>
        <p:spPr>
          <a:xfrm flipH="1">
            <a:off x="2037031" y="1118503"/>
            <a:ext cx="970638" cy="98181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1724575" y="4296688"/>
            <a:ext cx="3273903" cy="47099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Fixed Multi-Core Optical Fiber Assembly (5m+ Factory-Attached)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위쪽/아래쪽 화살표 55"/>
          <p:cNvSpPr/>
          <p:nvPr/>
        </p:nvSpPr>
        <p:spPr>
          <a:xfrm>
            <a:off x="2983676" y="2649666"/>
            <a:ext cx="166255" cy="299258"/>
          </a:xfrm>
          <a:prstGeom prst="up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직선 화살표 연결선 57"/>
          <p:cNvCxnSpPr>
            <a:stCxn id="55" idx="0"/>
          </p:cNvCxnSpPr>
          <p:nvPr/>
        </p:nvCxnSpPr>
        <p:spPr>
          <a:xfrm flipH="1" flipV="1">
            <a:off x="3038156" y="3083615"/>
            <a:ext cx="323371" cy="12130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>
            <a:stCxn id="55" idx="0"/>
          </p:cNvCxnSpPr>
          <p:nvPr/>
        </p:nvCxnSpPr>
        <p:spPr>
          <a:xfrm flipH="1" flipV="1">
            <a:off x="3145276" y="2501375"/>
            <a:ext cx="216251" cy="179531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1020340" y="1795866"/>
            <a:ext cx="319945" cy="228761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왼쪽/오른쪽 화살표 62"/>
          <p:cNvSpPr/>
          <p:nvPr/>
        </p:nvSpPr>
        <p:spPr>
          <a:xfrm>
            <a:off x="1440493" y="2759845"/>
            <a:ext cx="284082" cy="18907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왼쪽/오른쪽 화살표 63"/>
          <p:cNvSpPr/>
          <p:nvPr/>
        </p:nvSpPr>
        <p:spPr>
          <a:xfrm>
            <a:off x="702682" y="2759845"/>
            <a:ext cx="284082" cy="18907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0" y="634797"/>
            <a:ext cx="2040680" cy="470999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MAI — MEMS Alignment Interface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7" name="직선 화살표 연결선 66"/>
          <p:cNvCxnSpPr>
            <a:stCxn id="65" idx="2"/>
            <a:endCxn id="62" idx="0"/>
          </p:cNvCxnSpPr>
          <p:nvPr/>
        </p:nvCxnSpPr>
        <p:spPr>
          <a:xfrm>
            <a:off x="1020340" y="1105796"/>
            <a:ext cx="159973" cy="690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4822862" y="0"/>
            <a:ext cx="6989182" cy="13626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 smtClean="0">
                <a:solidFill>
                  <a:schemeClr val="tx1"/>
                </a:solidFill>
              </a:rPr>
              <a:t>For the Velsanet MOCT architecture,</a:t>
            </a:r>
            <a:br>
              <a:rPr lang="en-US" altLang="ko-KR" sz="1000" dirty="0" smtClean="0">
                <a:solidFill>
                  <a:schemeClr val="tx1"/>
                </a:solidFill>
              </a:rPr>
            </a:br>
            <a:r>
              <a:rPr lang="en-US" altLang="ko-KR" sz="1000" dirty="0" smtClean="0">
                <a:solidFill>
                  <a:schemeClr val="tx1"/>
                </a:solidFill>
              </a:rPr>
              <a:t>the polymer-based optical structure connected to the transceiver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must be manufactured directly in a ribbon format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br>
              <a:rPr lang="en-US" altLang="ko-KR" sz="1000" dirty="0" smtClean="0">
                <a:solidFill>
                  <a:schemeClr val="tx1"/>
                </a:solidFill>
              </a:rPr>
            </a:br>
            <a:r>
              <a:rPr lang="en-US" altLang="ko-KR" sz="1000" dirty="0" smtClean="0">
                <a:solidFill>
                  <a:schemeClr val="tx1"/>
                </a:solidFill>
              </a:rPr>
              <a:t>This means the transceiver output, the polymer waveguide array, and the ribbon optical-core layer should form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one integrated, planar optical structure</a:t>
            </a:r>
            <a:r>
              <a:rPr lang="en-US" altLang="ko-KR" sz="1000" dirty="0" smtClean="0">
                <a:solidFill>
                  <a:schemeClr val="tx1"/>
                </a:solidFill>
              </a:rPr>
              <a:t>—</a:t>
            </a:r>
            <a:br>
              <a:rPr lang="en-US" altLang="ko-KR" sz="1000" dirty="0" smtClean="0">
                <a:solidFill>
                  <a:schemeClr val="tx1"/>
                </a:solidFill>
              </a:rPr>
            </a:br>
            <a:r>
              <a:rPr lang="en-US" altLang="ko-KR" sz="1000" dirty="0" smtClean="0">
                <a:solidFill>
                  <a:schemeClr val="tx1"/>
                </a:solidFill>
              </a:rPr>
              <a:t>without converting a round cable into a ribbon later.</a:t>
            </a:r>
          </a:p>
          <a:p>
            <a:r>
              <a:rPr lang="en-US" altLang="ko-KR" sz="1000" dirty="0" smtClean="0">
                <a:solidFill>
                  <a:schemeClr val="tx1"/>
                </a:solidFill>
              </a:rPr>
              <a:t>This “native ribbon” design ensures precise alignment, low loss, and true parallel E2E connectivity across the multi-layer, multi-plane matrix.</a:t>
            </a:r>
          </a:p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2530258" y="2200068"/>
            <a:ext cx="1203636" cy="1144381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1" name="직선 화살표 연결선 70"/>
          <p:cNvCxnSpPr>
            <a:endCxn id="69" idx="7"/>
          </p:cNvCxnSpPr>
          <p:nvPr/>
        </p:nvCxnSpPr>
        <p:spPr>
          <a:xfrm flipH="1">
            <a:off x="3557626" y="1371031"/>
            <a:ext cx="1265236" cy="996628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726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076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1371600" y="2427316"/>
            <a:ext cx="1803862" cy="17706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Network</a:t>
            </a:r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1438102" y="1238596"/>
            <a:ext cx="1737360" cy="806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C-Overlay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4258887" y="2427315"/>
            <a:ext cx="1803862" cy="17706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Network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4258887" y="1238595"/>
            <a:ext cx="1737360" cy="806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AI-Overlay</a:t>
            </a:r>
            <a:endParaRPr lang="ko-KR" altLang="en-US" dirty="0" smtClean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7146174" y="2427314"/>
            <a:ext cx="1803862" cy="17706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Network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7146174" y="1238594"/>
            <a:ext cx="1737360" cy="11887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371600" y="4754880"/>
            <a:ext cx="1803862" cy="482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~2022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4225636" y="4754880"/>
            <a:ext cx="1803862" cy="482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2023~2025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079672" y="4754880"/>
            <a:ext cx="1803862" cy="482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2026~</a:t>
            </a:r>
            <a:endParaRPr lang="ko-KR" altLang="en-US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9360130" y="1238594"/>
            <a:ext cx="1047405" cy="2984271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Net</a:t>
            </a:r>
          </a:p>
          <a:p>
            <a:pPr algn="ctr"/>
            <a:r>
              <a:rPr lang="en-US" altLang="ko-KR" dirty="0" smtClean="0"/>
              <a:t>work</a:t>
            </a:r>
            <a:endParaRPr lang="ko-KR" altLang="en-US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0443555" y="1238595"/>
            <a:ext cx="1737360" cy="806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Access</a:t>
            </a:r>
            <a:endParaRPr lang="ko-KR" altLang="en-US" dirty="0" smtClean="0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10443555" y="2327561"/>
            <a:ext cx="1737360" cy="806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RAN</a:t>
            </a:r>
            <a:endParaRPr lang="ko-KR" altLang="en-US" dirty="0" smtClean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443555" y="3416527"/>
            <a:ext cx="1737360" cy="806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Core</a:t>
            </a:r>
            <a:endParaRPr lang="ko-KR" altLang="en-US" dirty="0" smtClean="0"/>
          </a:p>
        </p:txBody>
      </p:sp>
      <p:sp>
        <p:nvSpPr>
          <p:cNvPr id="17" name="아래쪽 화살표 16"/>
          <p:cNvSpPr/>
          <p:nvPr/>
        </p:nvSpPr>
        <p:spPr>
          <a:xfrm>
            <a:off x="10341033" y="4513811"/>
            <a:ext cx="798022" cy="581891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9360130" y="5602777"/>
            <a:ext cx="2745970" cy="856211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Velsanet(AI-Native Network)</a:t>
            </a:r>
            <a:endParaRPr lang="ko-KR" altLang="en-US" dirty="0"/>
          </a:p>
        </p:txBody>
      </p:sp>
      <p:sp>
        <p:nvSpPr>
          <p:cNvPr id="19" name="왼쪽 화살표 18"/>
          <p:cNvSpPr/>
          <p:nvPr/>
        </p:nvSpPr>
        <p:spPr>
          <a:xfrm>
            <a:off x="7079672" y="5818108"/>
            <a:ext cx="1708930" cy="425546"/>
          </a:xfrm>
          <a:prstGeom prst="lef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1371600" y="5602776"/>
            <a:ext cx="4853836" cy="85621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AI-Native Network Fabric</a:t>
            </a:r>
            <a:endParaRPr lang="ko-KR" altLang="en-US" dirty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1496291" y="374073"/>
            <a:ext cx="10684624" cy="4904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AI- native</a:t>
            </a:r>
            <a:r>
              <a:rPr lang="ko-KR" altLang="en-US" dirty="0" smtClean="0"/>
              <a:t> 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시기적 변화에 대한 개념도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8974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3795386" y="3106454"/>
            <a:ext cx="2116899" cy="16534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</a:t>
            </a:r>
            <a:endParaRPr lang="ko-KR" altLang="en-US" dirty="0"/>
          </a:p>
        </p:txBody>
      </p:sp>
      <p:sp>
        <p:nvSpPr>
          <p:cNvPr id="5" name="타원 4"/>
          <p:cNvSpPr/>
          <p:nvPr/>
        </p:nvSpPr>
        <p:spPr>
          <a:xfrm>
            <a:off x="3795386" y="2279737"/>
            <a:ext cx="4233798" cy="33820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                                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Agent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오른쪽 화살표 5"/>
          <p:cNvSpPr/>
          <p:nvPr/>
        </p:nvSpPr>
        <p:spPr>
          <a:xfrm>
            <a:off x="6200384" y="3845490"/>
            <a:ext cx="1528175" cy="3131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3795386" y="1033396"/>
            <a:ext cx="6651321" cy="562418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                            Assistant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8329808" y="3933172"/>
            <a:ext cx="1653436" cy="225469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878905" y="1672224"/>
            <a:ext cx="1177446" cy="43465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966587" y="1759906"/>
            <a:ext cx="1002082" cy="338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Personal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966587" y="2198317"/>
            <a:ext cx="1002082" cy="338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Personal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966587" y="2636728"/>
            <a:ext cx="1002082" cy="338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Personal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아래쪽 화살표 12"/>
          <p:cNvSpPr/>
          <p:nvPr/>
        </p:nvSpPr>
        <p:spPr>
          <a:xfrm>
            <a:off x="2386209" y="3175347"/>
            <a:ext cx="162838" cy="23548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966587" y="5583476"/>
            <a:ext cx="1002082" cy="338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Personal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01217" y="2129424"/>
            <a:ext cx="1728591" cy="563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Agentic Design Patterns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" name="직선 화살표 연결선 2"/>
          <p:cNvCxnSpPr/>
          <p:nvPr/>
        </p:nvCxnSpPr>
        <p:spPr>
          <a:xfrm>
            <a:off x="3056351" y="1678487"/>
            <a:ext cx="1152395" cy="2054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V="1">
            <a:off x="3043825" y="4446739"/>
            <a:ext cx="1139869" cy="1565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오른쪽 화살표 17"/>
          <p:cNvSpPr/>
          <p:nvPr/>
        </p:nvSpPr>
        <p:spPr>
          <a:xfrm>
            <a:off x="3175348" y="3745281"/>
            <a:ext cx="488515" cy="375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878905" y="280791"/>
            <a:ext cx="8567802" cy="50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Agent-Centered AI System 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8786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919217" y="566058"/>
            <a:ext cx="8527738" cy="50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Role-Based AI Architecture</a:t>
            </a:r>
            <a:endParaRPr lang="ko-KR" altLang="en-US" dirty="0"/>
          </a:p>
        </p:txBody>
      </p:sp>
      <p:pic>
        <p:nvPicPr>
          <p:cNvPr id="5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17" y="1220142"/>
            <a:ext cx="8527738" cy="4919242"/>
          </a:xfrm>
        </p:spPr>
      </p:pic>
    </p:spTree>
    <p:extLst>
      <p:ext uri="{BB962C8B-B14F-4D97-AF65-F5344CB8AC3E}">
        <p14:creationId xmlns:p14="http://schemas.microsoft.com/office/powerpoint/2010/main" val="3239539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781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34880" y="536342"/>
            <a:ext cx="971757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Past Experience 1</a:t>
            </a:r>
            <a:endParaRPr lang="ko-KR" altLang="en-US" sz="1000" dirty="0"/>
          </a:p>
        </p:txBody>
      </p:sp>
      <p:sp>
        <p:nvSpPr>
          <p:cNvPr id="5" name="직사각형 4"/>
          <p:cNvSpPr/>
          <p:nvPr/>
        </p:nvSpPr>
        <p:spPr>
          <a:xfrm>
            <a:off x="5043244" y="536342"/>
            <a:ext cx="933608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Past Experience 2</a:t>
            </a: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7944576" y="536342"/>
            <a:ext cx="953003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Past Experience N</a:t>
            </a:r>
            <a:endParaRPr lang="ko-KR" altLang="en-US" sz="10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3934881" y="1891317"/>
            <a:ext cx="4962698" cy="45054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Future Candidate Generation Engine</a:t>
            </a:r>
            <a:endParaRPr lang="ko-KR" altLang="en-US" dirty="0"/>
          </a:p>
        </p:txBody>
      </p:sp>
      <p:sp>
        <p:nvSpPr>
          <p:cNvPr id="8" name="오른쪽 화살표 7"/>
          <p:cNvSpPr/>
          <p:nvPr/>
        </p:nvSpPr>
        <p:spPr>
          <a:xfrm>
            <a:off x="6195943" y="661033"/>
            <a:ext cx="1529542" cy="19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3643684" y="1180495"/>
            <a:ext cx="5471853" cy="2430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Meta Layer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76349" y="651051"/>
            <a:ext cx="1801090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Present State</a:t>
            </a:r>
            <a:endParaRPr lang="ko-KR" altLang="en-US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576348" y="1853739"/>
            <a:ext cx="1801091" cy="45054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Multimodal Perception</a:t>
            </a:r>
            <a:endParaRPr lang="ko-KR" altLang="en-US" dirty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463333" y="1853739"/>
            <a:ext cx="1371600" cy="4488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Intent</a:t>
            </a:r>
            <a:endParaRPr lang="ko-KR" altLang="en-US" dirty="0"/>
          </a:p>
        </p:txBody>
      </p:sp>
      <p:sp>
        <p:nvSpPr>
          <p:cNvPr id="17" name="오른쪽 화살표 16"/>
          <p:cNvSpPr/>
          <p:nvPr/>
        </p:nvSpPr>
        <p:spPr>
          <a:xfrm>
            <a:off x="9405263" y="3603565"/>
            <a:ext cx="883711" cy="1022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Information</a:t>
            </a:r>
            <a:endParaRPr lang="ko-KR" altLang="en-US" sz="1000" dirty="0"/>
          </a:p>
        </p:txBody>
      </p:sp>
      <p:sp>
        <p:nvSpPr>
          <p:cNvPr id="18" name="오른쪽 화살표 17"/>
          <p:cNvSpPr/>
          <p:nvPr/>
        </p:nvSpPr>
        <p:spPr>
          <a:xfrm>
            <a:off x="2443942" y="3603565"/>
            <a:ext cx="1042051" cy="1022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Signal</a:t>
            </a:r>
            <a:endParaRPr lang="ko-KR" altLang="en-US" sz="14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3552496" y="95767"/>
            <a:ext cx="5669280" cy="66169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아래쪽 화살표 20"/>
          <p:cNvSpPr/>
          <p:nvPr/>
        </p:nvSpPr>
        <p:spPr>
          <a:xfrm>
            <a:off x="6465485" y="1508931"/>
            <a:ext cx="1354974" cy="34480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아래쪽 화살표 21"/>
          <p:cNvSpPr/>
          <p:nvPr/>
        </p:nvSpPr>
        <p:spPr>
          <a:xfrm rot="10800000">
            <a:off x="4906638" y="1490312"/>
            <a:ext cx="1354974" cy="3448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3657247" y="1508931"/>
            <a:ext cx="1047364" cy="32618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Encoding (Axis-based)</a:t>
            </a:r>
            <a:endParaRPr lang="ko-KR" altLang="en-US" sz="1200" dirty="0"/>
          </a:p>
        </p:txBody>
      </p:sp>
      <p:sp>
        <p:nvSpPr>
          <p:cNvPr id="24" name="직사각형 23"/>
          <p:cNvSpPr/>
          <p:nvPr/>
        </p:nvSpPr>
        <p:spPr>
          <a:xfrm>
            <a:off x="8047975" y="1490311"/>
            <a:ext cx="1067562" cy="32618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Axis-based Retrieval</a:t>
            </a:r>
            <a:endParaRPr lang="ko-KR" altLang="en-US" sz="1000" dirty="0"/>
          </a:p>
        </p:txBody>
      </p:sp>
      <p:sp>
        <p:nvSpPr>
          <p:cNvPr id="25" name="오른쪽으로 구부러진 화살표 24"/>
          <p:cNvSpPr/>
          <p:nvPr/>
        </p:nvSpPr>
        <p:spPr>
          <a:xfrm>
            <a:off x="4118368" y="2678732"/>
            <a:ext cx="1218368" cy="278352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오른쪽으로 구부러진 화살표 25"/>
          <p:cNvSpPr/>
          <p:nvPr/>
        </p:nvSpPr>
        <p:spPr>
          <a:xfrm rot="10567637">
            <a:off x="7563741" y="2556204"/>
            <a:ext cx="1218368" cy="278352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520223" y="4916557"/>
            <a:ext cx="1821481" cy="689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Dynamic Axis Weighting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9724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415536" y="524729"/>
            <a:ext cx="2251670" cy="1397207"/>
            <a:chOff x="1450070" y="696635"/>
            <a:chExt cx="2251670" cy="1397207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0071" y="776150"/>
              <a:ext cx="2251669" cy="1238179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1450070" y="696635"/>
              <a:ext cx="2251669" cy="13972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415535" y="1921936"/>
            <a:ext cx="2251670" cy="1397207"/>
            <a:chOff x="1450070" y="696635"/>
            <a:chExt cx="2251670" cy="1397207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0071" y="776150"/>
              <a:ext cx="2251669" cy="1238179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1450070" y="696635"/>
              <a:ext cx="2251669" cy="13972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415535" y="4618753"/>
            <a:ext cx="2251670" cy="1397207"/>
            <a:chOff x="1450070" y="696635"/>
            <a:chExt cx="2251670" cy="1397207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0071" y="776150"/>
              <a:ext cx="2251669" cy="1238179"/>
            </a:xfrm>
            <a:prstGeom prst="rect">
              <a:avLst/>
            </a:prstGeom>
          </p:spPr>
        </p:pic>
        <p:sp>
          <p:nvSpPr>
            <p:cNvPr id="13" name="직사각형 12"/>
            <p:cNvSpPr/>
            <p:nvPr/>
          </p:nvSpPr>
          <p:spPr>
            <a:xfrm>
              <a:off x="1450070" y="696635"/>
              <a:ext cx="2251669" cy="13972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위쪽/아래쪽 화살표 13"/>
          <p:cNvSpPr/>
          <p:nvPr/>
        </p:nvSpPr>
        <p:spPr>
          <a:xfrm>
            <a:off x="1311101" y="3498946"/>
            <a:ext cx="490330" cy="98066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415535" y="6155106"/>
            <a:ext cx="2251669" cy="4704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PAI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4146915" y="631055"/>
            <a:ext cx="971757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Policy Axis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5255279" y="631055"/>
            <a:ext cx="933608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Ethics Axis</a:t>
            </a:r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7558851" y="631055"/>
            <a:ext cx="1550764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Collective Intelligence Axis</a:t>
            </a:r>
            <a:endParaRPr lang="ko-KR" altLang="en-US" sz="10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4146916" y="1986030"/>
            <a:ext cx="4962698" cy="45054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/>
          </a:p>
          <a:p>
            <a:pPr algn="ctr"/>
            <a:r>
              <a:rPr lang="en-US" altLang="ko-KR" sz="1200" b="1" dirty="0" smtClean="0"/>
              <a:t>Delegation Mediation Agent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Intent mediation through contextualized knowledge</a:t>
            </a:r>
            <a:br>
              <a:rPr lang="en-US" altLang="ko-KR" sz="1200" dirty="0" smtClean="0"/>
            </a:br>
            <a:r>
              <a:rPr lang="en-US" altLang="ko-KR" sz="1200" dirty="0" smtClean="0"/>
              <a:t>Normative alignment across policy, ethics, and collective intelligence</a:t>
            </a:r>
            <a:endParaRPr lang="en-US" altLang="ko-KR" sz="1200" dirty="0"/>
          </a:p>
        </p:txBody>
      </p:sp>
      <p:sp>
        <p:nvSpPr>
          <p:cNvPr id="20" name="오른쪽 화살표 19"/>
          <p:cNvSpPr/>
          <p:nvPr/>
        </p:nvSpPr>
        <p:spPr>
          <a:xfrm>
            <a:off x="6407978" y="755746"/>
            <a:ext cx="920474" cy="2035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855719" y="1275208"/>
            <a:ext cx="5471853" cy="2430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Meta Layer( Delegation Mediation Agent)</a:t>
            </a:r>
            <a:endParaRPr lang="ko-KR" altLang="en-US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3764531" y="190480"/>
            <a:ext cx="5669280" cy="66169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아래쪽 화살표 22"/>
          <p:cNvSpPr/>
          <p:nvPr/>
        </p:nvSpPr>
        <p:spPr>
          <a:xfrm>
            <a:off x="6677520" y="1603644"/>
            <a:ext cx="1354974" cy="34480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아래쪽 화살표 23"/>
          <p:cNvSpPr/>
          <p:nvPr/>
        </p:nvSpPr>
        <p:spPr>
          <a:xfrm rot="10800000">
            <a:off x="5118673" y="1585025"/>
            <a:ext cx="1354974" cy="3448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3869282" y="1603644"/>
            <a:ext cx="1047364" cy="32618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Intent Framing</a:t>
            </a:r>
            <a:endParaRPr lang="ko-KR" altLang="en-US" sz="1200" dirty="0"/>
          </a:p>
        </p:txBody>
      </p:sp>
      <p:sp>
        <p:nvSpPr>
          <p:cNvPr id="26" name="직사각형 25"/>
          <p:cNvSpPr/>
          <p:nvPr/>
        </p:nvSpPr>
        <p:spPr>
          <a:xfrm>
            <a:off x="8260010" y="1585024"/>
            <a:ext cx="1067562" cy="32618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Axis-based Mediation</a:t>
            </a:r>
            <a:endParaRPr lang="ko-KR" altLang="en-US" sz="1000" dirty="0"/>
          </a:p>
        </p:txBody>
      </p:sp>
      <p:sp>
        <p:nvSpPr>
          <p:cNvPr id="27" name="오른쪽으로 구부러진 화살표 26"/>
          <p:cNvSpPr/>
          <p:nvPr/>
        </p:nvSpPr>
        <p:spPr>
          <a:xfrm>
            <a:off x="4292392" y="2866009"/>
            <a:ext cx="1218368" cy="278352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오른쪽으로 구부러진 화살표 27"/>
          <p:cNvSpPr/>
          <p:nvPr/>
        </p:nvSpPr>
        <p:spPr>
          <a:xfrm rot="10567637">
            <a:off x="7768468" y="2771078"/>
            <a:ext cx="1218368" cy="278352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32258" y="5011270"/>
            <a:ext cx="1821481" cy="689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normative alignment</a:t>
            </a:r>
            <a:endParaRPr lang="ko-KR" altLang="en-US" dirty="0"/>
          </a:p>
        </p:txBody>
      </p:sp>
      <p:sp>
        <p:nvSpPr>
          <p:cNvPr id="30" name="오른쪽 화살표 29"/>
          <p:cNvSpPr/>
          <p:nvPr/>
        </p:nvSpPr>
        <p:spPr>
          <a:xfrm>
            <a:off x="2862470" y="2866009"/>
            <a:ext cx="742121" cy="18322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789324" y="5011270"/>
            <a:ext cx="882382" cy="344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Information</a:t>
            </a:r>
            <a:endParaRPr lang="ko-KR" altLang="en-US" sz="1000" dirty="0"/>
          </a:p>
        </p:txBody>
      </p:sp>
      <p:sp>
        <p:nvSpPr>
          <p:cNvPr id="32" name="오른쪽 화살표 31"/>
          <p:cNvSpPr/>
          <p:nvPr/>
        </p:nvSpPr>
        <p:spPr>
          <a:xfrm>
            <a:off x="9593751" y="2866008"/>
            <a:ext cx="742121" cy="18322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10463333" y="1853739"/>
            <a:ext cx="1371600" cy="44888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Intent</a:t>
            </a:r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9526635" y="4962782"/>
            <a:ext cx="843873" cy="344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Knowledge</a:t>
            </a:r>
            <a:endParaRPr lang="ko-KR" altLang="en-US" sz="1000" dirty="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5228200" y="2243870"/>
            <a:ext cx="2618551" cy="4704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AAI(Agent AI)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8634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279688" y="584819"/>
            <a:ext cx="2618551" cy="1482520"/>
            <a:chOff x="577927" y="584819"/>
            <a:chExt cx="2618551" cy="148252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927" y="584819"/>
              <a:ext cx="2618551" cy="148252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577927" y="584819"/>
              <a:ext cx="2618551" cy="14825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79688" y="2194958"/>
            <a:ext cx="2618551" cy="1482520"/>
            <a:chOff x="577927" y="584819"/>
            <a:chExt cx="2618551" cy="1482520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927" y="584819"/>
              <a:ext cx="2618551" cy="1482520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>
              <a:off x="577927" y="584819"/>
              <a:ext cx="2618551" cy="14825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279688" y="4732750"/>
            <a:ext cx="2618551" cy="1482520"/>
            <a:chOff x="577927" y="584819"/>
            <a:chExt cx="2618551" cy="148252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927" y="584819"/>
              <a:ext cx="2618551" cy="1482520"/>
            </a:xfrm>
            <a:prstGeom prst="rect">
              <a:avLst/>
            </a:prstGeom>
          </p:spPr>
        </p:pic>
        <p:sp>
          <p:nvSpPr>
            <p:cNvPr id="12" name="직사각형 11"/>
            <p:cNvSpPr/>
            <p:nvPr/>
          </p:nvSpPr>
          <p:spPr>
            <a:xfrm>
              <a:off x="577927" y="584819"/>
              <a:ext cx="2618551" cy="14825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모서리가 둥근 직사각형 12"/>
          <p:cNvSpPr/>
          <p:nvPr/>
        </p:nvSpPr>
        <p:spPr>
          <a:xfrm>
            <a:off x="279688" y="6387548"/>
            <a:ext cx="2618551" cy="4704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AAI(Agent AI)</a:t>
            </a:r>
            <a:endParaRPr lang="ko-KR" altLang="en-US" dirty="0"/>
          </a:p>
        </p:txBody>
      </p:sp>
      <p:sp>
        <p:nvSpPr>
          <p:cNvPr id="14" name="위쪽/아래쪽 화살표 13"/>
          <p:cNvSpPr/>
          <p:nvPr/>
        </p:nvSpPr>
        <p:spPr>
          <a:xfrm>
            <a:off x="1343798" y="3714783"/>
            <a:ext cx="490330" cy="98066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398707" y="483801"/>
            <a:ext cx="4932530" cy="5885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/>
              <a:t>Organic growth represents intelligence that refines behavior through contextual understanding rather than predefined rules.</a:t>
            </a:r>
            <a:endParaRPr lang="ko-KR" altLang="en-US" sz="1100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4398708" y="2036619"/>
            <a:ext cx="4962698" cy="45054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/>
          </a:p>
          <a:p>
            <a:pPr algn="ctr"/>
            <a:r>
              <a:rPr lang="en-US" altLang="ko-KR" sz="1200" b="1" dirty="0" smtClean="0"/>
              <a:t>Wisdom-based Execution Agent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Execution of knowledge-formed intent</a:t>
            </a:r>
            <a:br>
              <a:rPr lang="en-US" altLang="ko-KR" sz="1200" dirty="0" smtClean="0"/>
            </a:br>
            <a:r>
              <a:rPr lang="en-US" altLang="ko-KR" sz="1200" dirty="0" smtClean="0"/>
              <a:t>through contextual adaptation and situational judgment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107511" y="1325797"/>
            <a:ext cx="5471853" cy="2430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Meta Layer (Execution Context Mediation)</a:t>
            </a:r>
            <a:endParaRPr lang="ko-KR" altLang="en-US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4016323" y="241069"/>
            <a:ext cx="5669280" cy="66169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아래쪽 화살표 21"/>
          <p:cNvSpPr/>
          <p:nvPr/>
        </p:nvSpPr>
        <p:spPr>
          <a:xfrm>
            <a:off x="6929312" y="1654233"/>
            <a:ext cx="1354974" cy="34480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아래쪽 화살표 22"/>
          <p:cNvSpPr/>
          <p:nvPr/>
        </p:nvSpPr>
        <p:spPr>
          <a:xfrm rot="10800000">
            <a:off x="5370465" y="1635614"/>
            <a:ext cx="1354974" cy="344808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4121074" y="1606435"/>
            <a:ext cx="1143152" cy="37398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/>
              <a:t>Knowledge-based Execution Framing</a:t>
            </a:r>
            <a:endParaRPr lang="ko-KR" altLang="en-US" sz="900" dirty="0"/>
          </a:p>
        </p:txBody>
      </p:sp>
      <p:sp>
        <p:nvSpPr>
          <p:cNvPr id="25" name="직사각형 24"/>
          <p:cNvSpPr/>
          <p:nvPr/>
        </p:nvSpPr>
        <p:spPr>
          <a:xfrm>
            <a:off x="8511802" y="1635613"/>
            <a:ext cx="1067562" cy="32618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Contextual Adaptation</a:t>
            </a:r>
            <a:endParaRPr lang="ko-KR" altLang="en-US" sz="1000" dirty="0"/>
          </a:p>
        </p:txBody>
      </p:sp>
      <p:sp>
        <p:nvSpPr>
          <p:cNvPr id="26" name="오른쪽으로 구부러진 화살표 25"/>
          <p:cNvSpPr/>
          <p:nvPr/>
        </p:nvSpPr>
        <p:spPr>
          <a:xfrm>
            <a:off x="4544184" y="2916598"/>
            <a:ext cx="1218368" cy="278352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오른쪽으로 구부러진 화살표 26"/>
          <p:cNvSpPr/>
          <p:nvPr/>
        </p:nvSpPr>
        <p:spPr>
          <a:xfrm rot="10567637">
            <a:off x="8020260" y="2821667"/>
            <a:ext cx="1218368" cy="278352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984050" y="5061859"/>
            <a:ext cx="1821481" cy="689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Situational Judgment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5961532" y="2407281"/>
            <a:ext cx="1935559" cy="434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AsAI (Assistant AI)</a:t>
            </a:r>
            <a:endParaRPr lang="ko-KR" altLang="en-US" sz="1400" dirty="0"/>
          </a:p>
        </p:txBody>
      </p:sp>
      <p:sp>
        <p:nvSpPr>
          <p:cNvPr id="30" name="오른쪽 화살표 29"/>
          <p:cNvSpPr/>
          <p:nvPr/>
        </p:nvSpPr>
        <p:spPr>
          <a:xfrm>
            <a:off x="3102460" y="2639692"/>
            <a:ext cx="742121" cy="18322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035344" y="4736466"/>
            <a:ext cx="843873" cy="3445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Knowledge</a:t>
            </a:r>
            <a:endParaRPr lang="ko-KR" altLang="en-US" sz="1000" dirty="0"/>
          </a:p>
        </p:txBody>
      </p:sp>
      <p:sp>
        <p:nvSpPr>
          <p:cNvPr id="33" name="오른쪽 화살표 32"/>
          <p:cNvSpPr/>
          <p:nvPr/>
        </p:nvSpPr>
        <p:spPr>
          <a:xfrm>
            <a:off x="9436759" y="651706"/>
            <a:ext cx="631228" cy="4505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10173510" y="681644"/>
            <a:ext cx="1488404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Context Awareness</a:t>
            </a:r>
            <a:endParaRPr lang="ko-KR" altLang="en-US" sz="1000" dirty="0"/>
          </a:p>
        </p:txBody>
      </p:sp>
      <p:sp>
        <p:nvSpPr>
          <p:cNvPr id="35" name="직사각형 34"/>
          <p:cNvSpPr/>
          <p:nvPr/>
        </p:nvSpPr>
        <p:spPr>
          <a:xfrm>
            <a:off x="10173510" y="1263535"/>
            <a:ext cx="1488404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Timing Judgment</a:t>
            </a:r>
            <a:endParaRPr lang="ko-KR" altLang="en-US" sz="1000" dirty="0"/>
          </a:p>
        </p:txBody>
      </p:sp>
      <p:sp>
        <p:nvSpPr>
          <p:cNvPr id="36" name="직사각형 35"/>
          <p:cNvSpPr/>
          <p:nvPr/>
        </p:nvSpPr>
        <p:spPr>
          <a:xfrm>
            <a:off x="10180028" y="1840620"/>
            <a:ext cx="1488404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Proportionality</a:t>
            </a:r>
            <a:endParaRPr lang="ko-KR" altLang="en-US" sz="1000" dirty="0"/>
          </a:p>
        </p:txBody>
      </p:sp>
      <p:sp>
        <p:nvSpPr>
          <p:cNvPr id="37" name="직사각형 36"/>
          <p:cNvSpPr/>
          <p:nvPr/>
        </p:nvSpPr>
        <p:spPr>
          <a:xfrm>
            <a:off x="10180028" y="2422511"/>
            <a:ext cx="1488404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Trade-off Handling</a:t>
            </a:r>
            <a:endParaRPr lang="ko-KR" altLang="en-US" sz="1000" dirty="0"/>
          </a:p>
        </p:txBody>
      </p:sp>
      <p:sp>
        <p:nvSpPr>
          <p:cNvPr id="38" name="직사각형 37"/>
          <p:cNvSpPr/>
          <p:nvPr/>
        </p:nvSpPr>
        <p:spPr>
          <a:xfrm>
            <a:off x="10166992" y="2997559"/>
            <a:ext cx="1488404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Execution Framing</a:t>
            </a:r>
            <a:endParaRPr lang="ko-KR" altLang="en-US" sz="1000" dirty="0"/>
          </a:p>
        </p:txBody>
      </p:sp>
      <p:sp>
        <p:nvSpPr>
          <p:cNvPr id="39" name="직사각형 38"/>
          <p:cNvSpPr/>
          <p:nvPr/>
        </p:nvSpPr>
        <p:spPr>
          <a:xfrm>
            <a:off x="10166992" y="3579450"/>
            <a:ext cx="1488404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Human Sensitivity</a:t>
            </a:r>
            <a:endParaRPr lang="ko-KR" altLang="en-US" sz="1000" dirty="0"/>
          </a:p>
        </p:txBody>
      </p:sp>
      <p:sp>
        <p:nvSpPr>
          <p:cNvPr id="40" name="직사각형 39"/>
          <p:cNvSpPr/>
          <p:nvPr/>
        </p:nvSpPr>
        <p:spPr>
          <a:xfrm>
            <a:off x="10173510" y="4156535"/>
            <a:ext cx="1488404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Failure Tolerance</a:t>
            </a:r>
            <a:endParaRPr lang="ko-KR" altLang="en-US" sz="1000" dirty="0"/>
          </a:p>
        </p:txBody>
      </p:sp>
      <p:sp>
        <p:nvSpPr>
          <p:cNvPr id="41" name="직사각형 40"/>
          <p:cNvSpPr/>
          <p:nvPr/>
        </p:nvSpPr>
        <p:spPr>
          <a:xfrm>
            <a:off x="10173510" y="4738426"/>
            <a:ext cx="1488404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Learning-in-Action</a:t>
            </a:r>
            <a:endParaRPr lang="ko-KR" altLang="en-US" sz="1000" dirty="0"/>
          </a:p>
        </p:txBody>
      </p:sp>
      <p:sp>
        <p:nvSpPr>
          <p:cNvPr id="42" name="직사각형 41"/>
          <p:cNvSpPr/>
          <p:nvPr/>
        </p:nvSpPr>
        <p:spPr>
          <a:xfrm>
            <a:off x="10180028" y="5308668"/>
            <a:ext cx="1488404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Responsibility Localization</a:t>
            </a:r>
            <a:endParaRPr lang="ko-KR" altLang="en-US" sz="1000" dirty="0"/>
          </a:p>
        </p:txBody>
      </p:sp>
      <p:sp>
        <p:nvSpPr>
          <p:cNvPr id="43" name="직사각형 42"/>
          <p:cNvSpPr/>
          <p:nvPr/>
        </p:nvSpPr>
        <p:spPr>
          <a:xfrm>
            <a:off x="10180028" y="5890559"/>
            <a:ext cx="1488404" cy="390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Silence as an Option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39090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3940233" y="1778924"/>
            <a:ext cx="3940232" cy="3167149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4538748" y="2269375"/>
            <a:ext cx="2776451" cy="218624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으로 구부러진 화살표 6"/>
          <p:cNvSpPr/>
          <p:nvPr/>
        </p:nvSpPr>
        <p:spPr>
          <a:xfrm rot="1060054">
            <a:off x="8208809" y="1457132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왼쪽으로 구부러진 화살표 7"/>
          <p:cNvSpPr/>
          <p:nvPr/>
        </p:nvSpPr>
        <p:spPr>
          <a:xfrm rot="15120067">
            <a:off x="6300094" y="21485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왼쪽으로 구부러진 화살표 8"/>
          <p:cNvSpPr/>
          <p:nvPr/>
        </p:nvSpPr>
        <p:spPr>
          <a:xfrm rot="9093902">
            <a:off x="2895392" y="1811743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왼쪽으로 구부러진 화살표 9"/>
          <p:cNvSpPr/>
          <p:nvPr/>
        </p:nvSpPr>
        <p:spPr>
          <a:xfrm rot="8015491">
            <a:off x="4293667" y="3840480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왼쪽으로 구부러진 화살표 10"/>
          <p:cNvSpPr/>
          <p:nvPr/>
        </p:nvSpPr>
        <p:spPr>
          <a:xfrm rot="17643061">
            <a:off x="4194014" y="85908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왼쪽으로 구부러진 화살표 11"/>
          <p:cNvSpPr/>
          <p:nvPr/>
        </p:nvSpPr>
        <p:spPr>
          <a:xfrm rot="1056644">
            <a:off x="7622768" y="3595255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모서리가 접힌 도형 12"/>
          <p:cNvSpPr/>
          <p:nvPr/>
        </p:nvSpPr>
        <p:spPr>
          <a:xfrm>
            <a:off x="2945032" y="5796267"/>
            <a:ext cx="2755642" cy="92271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Intent · Symbols · Meaning</a:t>
            </a:r>
            <a:r>
              <a:rPr lang="en-US" altLang="ko-KR" sz="1400" dirty="0" smtClean="0">
                <a:solidFill>
                  <a:schemeClr val="tx1"/>
                </a:solidFill>
              </a:rPr>
              <a:t/>
            </a:r>
            <a:br>
              <a:rPr lang="en-US" altLang="ko-KR" sz="1400" dirty="0" smtClean="0">
                <a:solidFill>
                  <a:schemeClr val="tx1"/>
                </a:solidFill>
              </a:rPr>
            </a:br>
            <a:r>
              <a:rPr lang="en-US" altLang="ko-KR" sz="1400" dirty="0" smtClean="0">
                <a:solidFill>
                  <a:schemeClr val="tx1"/>
                </a:solidFill>
              </a:rPr>
              <a:t>(Structured Inputs to the Loop)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4963651" y="2917336"/>
            <a:ext cx="1891430" cy="7871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Closed Invariant Loop</a:t>
            </a:r>
            <a:r>
              <a:rPr lang="en-US" altLang="ko-KR" sz="1200" dirty="0" smtClean="0">
                <a:solidFill>
                  <a:schemeClr val="tx1"/>
                </a:solidFill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</a:rPr>
            </a:br>
            <a:r>
              <a:rPr lang="en-US" altLang="ko-KR" sz="1200" dirty="0" smtClean="0">
                <a:solidFill>
                  <a:schemeClr val="tx1"/>
                </a:solidFill>
              </a:rPr>
              <a:t>(Structure for Meaning, Intent, and Continuity)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모서리가 접힌 도형 14"/>
          <p:cNvSpPr/>
          <p:nvPr/>
        </p:nvSpPr>
        <p:spPr>
          <a:xfrm>
            <a:off x="7416607" y="5817527"/>
            <a:ext cx="3172767" cy="922712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Coherent Actions · Decisions · Commitments</a:t>
            </a:r>
          </a:p>
          <a:p>
            <a:r>
              <a:rPr lang="en-US" altLang="ko-KR" sz="1400" i="1" dirty="0" smtClean="0">
                <a:solidFill>
                  <a:schemeClr val="tx1"/>
                </a:solidFill>
              </a:rPr>
              <a:t>(Structurally Constrained Outputs)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16" name="모서리가 접힌 도형 15"/>
          <p:cNvSpPr/>
          <p:nvPr/>
        </p:nvSpPr>
        <p:spPr>
          <a:xfrm>
            <a:off x="9112518" y="204365"/>
            <a:ext cx="3000713" cy="4151878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Boundary &amp; Governance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Structural Boundary</a:t>
            </a: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Embedded Validation &amp; Attribution</a:t>
            </a:r>
          </a:p>
          <a:p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Intent &amp; Symbol Handling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Intent Structuring</a:t>
            </a: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Symbolic Circulation</a:t>
            </a:r>
          </a:p>
          <a:p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Execution Architecture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Parallel E2E Independence</a:t>
            </a:r>
          </a:p>
          <a:p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Stability &amp; Time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Failure Absorption</a:t>
            </a: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Asynchronous Time &amp; State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6647380" y="204365"/>
            <a:ext cx="2465138" cy="2712971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21" idx="3"/>
            <a:endCxn id="4" idx="2"/>
          </p:cNvCxnSpPr>
          <p:nvPr/>
        </p:nvCxnSpPr>
        <p:spPr>
          <a:xfrm flipV="1">
            <a:off x="2822815" y="3362499"/>
            <a:ext cx="1117418" cy="803328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접힌 도형 20"/>
          <p:cNvSpPr/>
          <p:nvPr/>
        </p:nvSpPr>
        <p:spPr>
          <a:xfrm>
            <a:off x="67173" y="3704471"/>
            <a:ext cx="2755642" cy="922712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Outer Curves</a:t>
            </a:r>
            <a:r>
              <a:rPr lang="en-US" altLang="ko-KR" sz="1200" dirty="0" smtClean="0">
                <a:solidFill>
                  <a:schemeClr val="tx1"/>
                </a:solidFill>
              </a:rPr>
              <a:t> = Execution, System Expansion, and Environmental Interaction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모서리가 접힌 도형 22"/>
          <p:cNvSpPr/>
          <p:nvPr/>
        </p:nvSpPr>
        <p:spPr>
          <a:xfrm>
            <a:off x="191393" y="5315610"/>
            <a:ext cx="2755642" cy="536532"/>
          </a:xfrm>
          <a:prstGeom prst="foldedCorner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Arrows</a:t>
            </a:r>
            <a:r>
              <a:rPr lang="en-US" altLang="ko-KR" sz="1200" dirty="0" smtClean="0">
                <a:solidFill>
                  <a:schemeClr val="tx1"/>
                </a:solidFill>
              </a:rPr>
              <a:t> = State Transitions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/>
          <p:cNvCxnSpPr>
            <a:stCxn id="23" idx="3"/>
          </p:cNvCxnSpPr>
          <p:nvPr/>
        </p:nvCxnSpPr>
        <p:spPr>
          <a:xfrm flipV="1">
            <a:off x="2947035" y="5016021"/>
            <a:ext cx="1225527" cy="567855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접힌 도형 27"/>
          <p:cNvSpPr/>
          <p:nvPr/>
        </p:nvSpPr>
        <p:spPr>
          <a:xfrm>
            <a:off x="241205" y="1493062"/>
            <a:ext cx="2232821" cy="922712"/>
          </a:xfrm>
          <a:prstGeom prst="foldedCorner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Complete Ring</a:t>
            </a:r>
            <a:r>
              <a:rPr lang="en-US" altLang="ko-KR" sz="1200" dirty="0" smtClean="0"/>
              <a:t> = Meaning Preservation Zone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0" name="직선 화살표 연결선 29"/>
          <p:cNvCxnSpPr>
            <a:stCxn id="28" idx="3"/>
          </p:cNvCxnSpPr>
          <p:nvPr/>
        </p:nvCxnSpPr>
        <p:spPr>
          <a:xfrm>
            <a:off x="2474026" y="1954418"/>
            <a:ext cx="1910160" cy="79336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오른쪽 화살표 32"/>
          <p:cNvSpPr/>
          <p:nvPr/>
        </p:nvSpPr>
        <p:spPr>
          <a:xfrm rot="10800000" flipV="1">
            <a:off x="5907012" y="6096604"/>
            <a:ext cx="1264349" cy="292787"/>
          </a:xfrm>
          <a:prstGeom prst="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접힌 도형 36"/>
          <p:cNvSpPr/>
          <p:nvPr/>
        </p:nvSpPr>
        <p:spPr>
          <a:xfrm>
            <a:off x="8372514" y="5083301"/>
            <a:ext cx="3483864" cy="588033"/>
          </a:xfrm>
          <a:prstGeom prst="foldedCorner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Intent Recirculation and Structural Feedback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/>
          <p:cNvCxnSpPr>
            <a:stCxn id="37" idx="1"/>
          </p:cNvCxnSpPr>
          <p:nvPr/>
        </p:nvCxnSpPr>
        <p:spPr>
          <a:xfrm flipH="1">
            <a:off x="6647382" y="5377318"/>
            <a:ext cx="1725132" cy="719286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914400" y="92467"/>
            <a:ext cx="7777537" cy="416276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Conceptual / Structural Perspective Diagram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458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3940233" y="1778924"/>
            <a:ext cx="3940232" cy="3167149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4538748" y="2269375"/>
            <a:ext cx="2776451" cy="218624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으로 구부러진 화살표 6"/>
          <p:cNvSpPr/>
          <p:nvPr/>
        </p:nvSpPr>
        <p:spPr>
          <a:xfrm rot="1060054">
            <a:off x="8208809" y="1457132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왼쪽으로 구부러진 화살표 7"/>
          <p:cNvSpPr/>
          <p:nvPr/>
        </p:nvSpPr>
        <p:spPr>
          <a:xfrm rot="15120067">
            <a:off x="6300094" y="21485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왼쪽으로 구부러진 화살표 8"/>
          <p:cNvSpPr/>
          <p:nvPr/>
        </p:nvSpPr>
        <p:spPr>
          <a:xfrm rot="9093902">
            <a:off x="2895392" y="1811743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왼쪽으로 구부러진 화살표 9"/>
          <p:cNvSpPr/>
          <p:nvPr/>
        </p:nvSpPr>
        <p:spPr>
          <a:xfrm rot="8015491">
            <a:off x="4293667" y="3840480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왼쪽으로 구부러진 화살표 10"/>
          <p:cNvSpPr/>
          <p:nvPr/>
        </p:nvSpPr>
        <p:spPr>
          <a:xfrm rot="17643061">
            <a:off x="4194014" y="85908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왼쪽으로 구부러진 화살표 11"/>
          <p:cNvSpPr/>
          <p:nvPr/>
        </p:nvSpPr>
        <p:spPr>
          <a:xfrm rot="1056644">
            <a:off x="7622768" y="3595255"/>
            <a:ext cx="581891" cy="2211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모서리가 접힌 도형 12"/>
          <p:cNvSpPr/>
          <p:nvPr/>
        </p:nvSpPr>
        <p:spPr>
          <a:xfrm>
            <a:off x="2945032" y="5796267"/>
            <a:ext cx="2755642" cy="92271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>
                <a:solidFill>
                  <a:schemeClr val="tx1"/>
                </a:solidFill>
              </a:rPr>
              <a:t>Intent · Symbols · Meaning</a:t>
            </a:r>
            <a:r>
              <a:rPr lang="en-US" altLang="ko-KR" sz="1400" dirty="0" smtClean="0">
                <a:solidFill>
                  <a:schemeClr val="tx1"/>
                </a:solidFill>
              </a:rPr>
              <a:t/>
            </a:r>
            <a:br>
              <a:rPr lang="en-US" altLang="ko-KR" sz="1400" dirty="0" smtClean="0">
                <a:solidFill>
                  <a:schemeClr val="tx1"/>
                </a:solidFill>
              </a:rPr>
            </a:br>
            <a:r>
              <a:rPr lang="en-US" altLang="ko-KR" sz="1400" dirty="0" smtClean="0">
                <a:solidFill>
                  <a:schemeClr val="tx1"/>
                </a:solidFill>
              </a:rPr>
              <a:t>(Structured Inputs to the Loop)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4963651" y="2917336"/>
            <a:ext cx="1891430" cy="7871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Closed Invariant Loop</a:t>
            </a:r>
            <a:r>
              <a:rPr lang="en-US" altLang="ko-KR" sz="1200" dirty="0" smtClean="0">
                <a:solidFill>
                  <a:schemeClr val="tx1"/>
                </a:solidFill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</a:rPr>
            </a:br>
            <a:r>
              <a:rPr lang="en-US" altLang="ko-KR" sz="1200" dirty="0" smtClean="0">
                <a:solidFill>
                  <a:schemeClr val="tx1"/>
                </a:solidFill>
              </a:rPr>
              <a:t>(Structure for Meaning, Intent, and Continuity)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모서리가 접힌 도형 14"/>
          <p:cNvSpPr/>
          <p:nvPr/>
        </p:nvSpPr>
        <p:spPr>
          <a:xfrm>
            <a:off x="7416607" y="5817527"/>
            <a:ext cx="3172767" cy="922712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Coherent Actions · Decisions · Commitments</a:t>
            </a:r>
          </a:p>
          <a:p>
            <a:r>
              <a:rPr lang="en-US" altLang="ko-KR" sz="1400" i="1" dirty="0" smtClean="0">
                <a:solidFill>
                  <a:schemeClr val="tx1"/>
                </a:solidFill>
              </a:rPr>
              <a:t>(Structurally Constrained Outputs)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16" name="모서리가 접힌 도형 15"/>
          <p:cNvSpPr/>
          <p:nvPr/>
        </p:nvSpPr>
        <p:spPr>
          <a:xfrm>
            <a:off x="9112518" y="204365"/>
            <a:ext cx="3000713" cy="4151878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Boundary &amp; Governance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Structural Boundary</a:t>
            </a: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Embedded Validation &amp; Attribution</a:t>
            </a:r>
          </a:p>
          <a:p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Intent &amp; Symbol Handling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Intent Structuring</a:t>
            </a: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Symbolic Circulation</a:t>
            </a:r>
          </a:p>
          <a:p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Execution Architecture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Parallel E2E Independence</a:t>
            </a:r>
          </a:p>
          <a:p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b="1" dirty="0" smtClean="0">
                <a:solidFill>
                  <a:schemeClr val="tx1"/>
                </a:solidFill>
              </a:rPr>
              <a:t>Stability &amp; Time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Failure Absorption</a:t>
            </a: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Asynchronous Time &amp; State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6647380" y="204365"/>
            <a:ext cx="2465138" cy="2712971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21" idx="3"/>
            <a:endCxn id="4" idx="2"/>
          </p:cNvCxnSpPr>
          <p:nvPr/>
        </p:nvCxnSpPr>
        <p:spPr>
          <a:xfrm flipV="1">
            <a:off x="2822815" y="3362499"/>
            <a:ext cx="1117418" cy="803328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접힌 도형 20"/>
          <p:cNvSpPr/>
          <p:nvPr/>
        </p:nvSpPr>
        <p:spPr>
          <a:xfrm>
            <a:off x="67173" y="3704471"/>
            <a:ext cx="2755642" cy="922712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Outer Curves</a:t>
            </a:r>
            <a:r>
              <a:rPr lang="en-US" altLang="ko-KR" sz="1200" dirty="0" smtClean="0">
                <a:solidFill>
                  <a:schemeClr val="tx1"/>
                </a:solidFill>
              </a:rPr>
              <a:t> = Execution, System Expansion, and Environmental Interaction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모서리가 접힌 도형 22"/>
          <p:cNvSpPr/>
          <p:nvPr/>
        </p:nvSpPr>
        <p:spPr>
          <a:xfrm>
            <a:off x="191393" y="5315610"/>
            <a:ext cx="2755642" cy="536532"/>
          </a:xfrm>
          <a:prstGeom prst="foldedCorner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Arrows</a:t>
            </a:r>
            <a:r>
              <a:rPr lang="en-US" altLang="ko-KR" sz="1200" dirty="0" smtClean="0">
                <a:solidFill>
                  <a:schemeClr val="tx1"/>
                </a:solidFill>
              </a:rPr>
              <a:t> = State Transitions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/>
          <p:cNvCxnSpPr>
            <a:stCxn id="23" idx="3"/>
          </p:cNvCxnSpPr>
          <p:nvPr/>
        </p:nvCxnSpPr>
        <p:spPr>
          <a:xfrm flipV="1">
            <a:off x="2947035" y="5016021"/>
            <a:ext cx="1225527" cy="567855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접힌 도형 27"/>
          <p:cNvSpPr/>
          <p:nvPr/>
        </p:nvSpPr>
        <p:spPr>
          <a:xfrm>
            <a:off x="241205" y="1493062"/>
            <a:ext cx="2232821" cy="922712"/>
          </a:xfrm>
          <a:prstGeom prst="foldedCorner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Complete Ring</a:t>
            </a:r>
            <a:r>
              <a:rPr lang="en-US" altLang="ko-KR" sz="1200" dirty="0" smtClean="0"/>
              <a:t> = Meaning Preservation Zone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0" name="직선 화살표 연결선 29"/>
          <p:cNvCxnSpPr>
            <a:stCxn id="28" idx="3"/>
          </p:cNvCxnSpPr>
          <p:nvPr/>
        </p:nvCxnSpPr>
        <p:spPr>
          <a:xfrm>
            <a:off x="2474026" y="1954418"/>
            <a:ext cx="1910160" cy="79336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오른쪽 화살표 32"/>
          <p:cNvSpPr/>
          <p:nvPr/>
        </p:nvSpPr>
        <p:spPr>
          <a:xfrm rot="10800000" flipV="1">
            <a:off x="5907012" y="6096604"/>
            <a:ext cx="1264349" cy="292787"/>
          </a:xfrm>
          <a:prstGeom prst="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접힌 도형 36"/>
          <p:cNvSpPr/>
          <p:nvPr/>
        </p:nvSpPr>
        <p:spPr>
          <a:xfrm>
            <a:off x="8372514" y="5083301"/>
            <a:ext cx="3483864" cy="588033"/>
          </a:xfrm>
          <a:prstGeom prst="foldedCorner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Intent Recirculation and Structural Feedback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/>
          <p:cNvCxnSpPr>
            <a:stCxn id="37" idx="1"/>
          </p:cNvCxnSpPr>
          <p:nvPr/>
        </p:nvCxnSpPr>
        <p:spPr>
          <a:xfrm flipH="1">
            <a:off x="6647382" y="5377318"/>
            <a:ext cx="1725132" cy="719286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914400" y="92467"/>
            <a:ext cx="7777537" cy="416276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Conceptual / Structural Perspective Diagram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37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777</Words>
  <Application>Microsoft Office PowerPoint</Application>
  <PresentationFormat>와이드스크린</PresentationFormat>
  <Paragraphs>304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Cambria</vt:lpstr>
      <vt:lpstr>Office 테마</vt:lpstr>
      <vt:lpstr>Velsanet AI White Paper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Master</dc:creator>
  <cp:lastModifiedBy>Master</cp:lastModifiedBy>
  <cp:revision>35</cp:revision>
  <dcterms:created xsi:type="dcterms:W3CDTF">2025-11-26T11:39:59Z</dcterms:created>
  <dcterms:modified xsi:type="dcterms:W3CDTF">2026-01-01T15:23:48Z</dcterms:modified>
</cp:coreProperties>
</file>