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244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457200"/>
            <a:ext cx="1645920" cy="1645920"/>
          </a:xfrm>
          <a:prstGeom prst="ellipse">
            <a:avLst/>
          </a:prstGeom>
          <a:solidFill>
            <a:srgbClr val="00A8E8">
              <a:alpha val="15000"/>
            </a:srgbClr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45920"/>
            <a:ext cx="1097280" cy="1097280"/>
          </a:xfrm>
          <a:prstGeom prst="ellipse">
            <a:avLst/>
          </a:prstGeom>
          <a:solidFill>
            <a:srgbClr val="0D4A8C">
              <a:alpha val="3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560320"/>
            <a:ext cx="731520" cy="731520"/>
          </a:xfrm>
          <a:prstGeom prst="ellipse">
            <a:avLst/>
          </a:prstGeom>
          <a:solidFill>
            <a:srgbClr val="00A8E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INVESTOR PRESENTATION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VELSANET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Next-Generation AI-Native Network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connectivity from the ground up — a fully integrated,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intent-driven, optical-first network architecture for the AI era.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White Papers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AI Layers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Polyhedral Tiers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Vision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Internet Is Structurally Broken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⚡  Traffic Explosion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IoT, streaming &amp; AI workloads are outpacing legacy routing capacity.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32588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🔒  Zero Structural Security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856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The Internet was designed for trusted environments — not adversarial ones.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🧩  Intent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107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Networks carry bits, not meaning. Human intent &amp; AI cognition are ignored.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88036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🕸  Centralization Paradox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4107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Every attempt to fix the Internet adds a new layer — compounding fragility.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</a:rPr>
              <a:t>The root cause: the Internet's packet-switching architecture was never designed for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4A8C"/>
                </a:solidFill>
              </a:rPr>
              <a:t>OUR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Living, Intelligent Network Ecosystem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0" y="1005840"/>
            <a:ext cx="2011680" cy="2011680"/>
          </a:xfrm>
          <a:prstGeom prst="ellipse">
            <a:avLst/>
          </a:prstGeom>
          <a:solidFill>
            <a:srgbClr val="00A8E8">
              <a:alpha val="80000"/>
            </a:srgbClr>
          </a:solidFill>
          <a:ln w="25400">
            <a:solidFill>
              <a:srgbClr val="0D4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18872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VELSA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914400" cy="91440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51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T₄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Access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77840" y="2560320"/>
            <a:ext cx="868680" cy="86868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690622"/>
            <a:ext cx="8686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C₆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Channel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046720" y="822960"/>
            <a:ext cx="914400" cy="91440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960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O₈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Local E2E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0" y="2377440"/>
            <a:ext cx="868680" cy="86868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507742"/>
            <a:ext cx="8686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D₁₂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Mediation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3200400"/>
            <a:ext cx="777240" cy="77724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316986"/>
            <a:ext cx="7772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I₂₀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Gov.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Topology First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14996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Space is defined before addresses — structure drives intelligence.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Optical-Native E2E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4140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No packet switching. Physical optical cores for every connection.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Intent-Driven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3284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Networks carry meaning, not just bits. AI cognition is embedded.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50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Sovereign Governance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4242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Global coordination without centralized control — via projection.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CORE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Breakthrough Innovations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98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252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Multi-Optical-Core Transceiver (MOCT)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Fixed, non-pluggable photonic module. Tens to hundreds of parallel optical cores. No connectors, no ASIC routing — pure physical E2E.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79676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711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9979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Polyhedral Network Topology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814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T₄ → C₆ → O₈ → D₁₂ → I₂₀: five geometric primitives form the complete grammar of network space. Topology-first, scalable by design.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706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Three-Layer AI (PAI / AAI / AsAI)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Personal, Agent, and Assistant AI embedded natively into network nodes — not bolted on top. Distributed cognition across every layer.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525012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164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433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Cube Memory Architecture (T-C-I-E-M)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267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Five-dimensional semantic memory: Time, Context, Intent, Emotion, Meta. AI retrieves meaning, not just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297680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389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3159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Spatial Genesis &amp; Digital DNA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5994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Pre-coordinate topological space. The network generates its own structure through a Rule Engine, Instance Generator &amp; State Validator.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4A8C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Hierarchical Intelligence by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Global Network AI (VELSA)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83664"/>
            <a:ext cx="7315200" cy="566928"/>
          </a:xfrm>
          <a:prstGeom prst="rect">
            <a:avLst/>
          </a:prstGeom>
          <a:solidFill>
            <a:srgbClr val="0D5294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9933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9933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Continental Network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578608"/>
            <a:ext cx="6400800" cy="566928"/>
          </a:xfrm>
          <a:prstGeom prst="rect">
            <a:avLst/>
          </a:prstGeom>
          <a:solidFill>
            <a:srgbClr val="1466B3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26883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6883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National Sovereign Layer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3273552"/>
            <a:ext cx="5486400" cy="566928"/>
          </a:xfrm>
          <a:prstGeom prst="rect">
            <a:avLst/>
          </a:prstGeom>
          <a:solidFill>
            <a:srgbClr val="1A7CC8"/>
          </a:solidFill>
          <a:ln/>
        </p:spPr>
      </p:sp>
      <p:sp>
        <p:nvSpPr>
          <p:cNvPr id="15" name="Text 13"/>
          <p:cNvSpPr/>
          <p:nvPr/>
        </p:nvSpPr>
        <p:spPr>
          <a:xfrm>
            <a:off x="1938528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383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Regional Coordination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968496"/>
            <a:ext cx="4572000" cy="566928"/>
          </a:xfrm>
          <a:prstGeom prst="rect">
            <a:avLst/>
          </a:prstGeom>
          <a:solidFill>
            <a:srgbClr val="2194DE"/>
          </a:solidFill>
          <a:ln/>
        </p:spPr>
      </p:sp>
      <p:sp>
        <p:nvSpPr>
          <p:cNvPr id="18" name="Text 16"/>
          <p:cNvSpPr/>
          <p:nvPr/>
        </p:nvSpPr>
        <p:spPr>
          <a:xfrm>
            <a:off x="2395728" y="4078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Execution Layer (Devices)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A5A7A"/>
                </a:solidFill>
              </a:rPr>
              <a:t>Higher layers project structural states — they do not command.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A5A7A"/>
                </a:solidFill>
              </a:rPr>
              <a:t>Sovereignty and local autonomy are preserved at every tier.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AI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Three-Layer Distributed Intelligence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1115568"/>
          </a:xfrm>
          <a:prstGeom prst="rect">
            <a:avLst/>
          </a:prstGeom>
          <a:solidFill>
            <a:srgbClr val="0A3D6B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AsAI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316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Assistant AI — National &amp; Global 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Oversees AAI cooperation across domains  ·  Prediction, policy integration, multi-domain collaboration  ·  Housed in Icosahedron (I₂₀) node structures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115568"/>
          </a:xfrm>
          <a:prstGeom prst="rect">
            <a:avLst/>
          </a:prstGeom>
          <a:solidFill>
            <a:srgbClr val="1060A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AAI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AI — Regional Coordination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Coordinates clusters of PAI within a region  ·  Real-time orchestration &amp; intelligent resource distribution  ·  Operates from Dodecahedron (D₁₂) nodes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1A7CC8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221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PAI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 AI — Device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879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Represents user's personal context, intent &amp; environment  ·  Manages local decisions via multimodal interaction  ·  Lives inside Octahedron (O₈) nodes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4A8C"/>
                </a:solidFill>
              </a:rPr>
              <a:t>IDENTITY &amp;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Is Structural, Not Procedural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Manufacturing-Time Identity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5A7A"/>
                </a:solidFill>
              </a:rPr>
              <a:t>Every device receives a network-native identity at manufacture — region code, hierarchy level, device role &amp; cryptographic root of trust.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Topology-Constrained Authority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5A7A"/>
                </a:solidFill>
              </a:rPr>
              <a:t>Devices do not select destinations. Connection emerges only when submitted identity attributes are structurally admissible.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" cy="8229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 Intermediate Intervention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5A7A"/>
                </a:solidFill>
              </a:rPr>
              <a:t>Each E2E connection occupies a physically isolated optical core. No routing, no switching — zero interception surface.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3977640" cy="3566160"/>
          </a:xfrm>
          <a:prstGeom prst="rect">
            <a:avLst/>
          </a:prstGeom>
          <a:solidFill>
            <a:srgbClr val="D6EAF8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801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Connection Lifecycle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3611880" cy="38404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737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① Identity Provisioned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(Manufacturing)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167128"/>
            <a:ext cx="3611880" cy="384048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128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② Topology Binding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(Deployment)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642616"/>
            <a:ext cx="3611880" cy="38404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883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③ Presence Detection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(Physical Signal)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118104"/>
            <a:ext cx="3611880" cy="384048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638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④ Edge Validation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(Syntax + Region)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593592"/>
            <a:ext cx="3611880" cy="38404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639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⑤ Path Formation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(Structural Match)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4069080"/>
            <a:ext cx="3611880" cy="384048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1148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⑥ Post-Formation Attestation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Multi-Trillion Dollar Inflection Point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$4.5T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Global Telecom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Infrastructure (2030E)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$2.1T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AI Infrastructure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Market (2030E)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$1.3T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Smart City &amp;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IoT Networks (2030E)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$800B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6G Network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Deployment (2035E)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E8"/>
                </a:solidFill>
              </a:rPr>
              <a:t>Why Now?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</a:rPr>
              <a:t>6G standardization is creating a once-in-a-generation architectural window.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</a:rPr>
              <a:t>AI inference at the edge demands sub-millisecond, deterministic connectivity — packet switching cannot deliver this.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</a:rPr>
              <a:t>Global digital sovereignty concerns are accelerating demand for non-centralized, verifiable infrastructure.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6268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</a:rPr>
              <a:t>Hyperscalers are hitting the physical limits of conventional optical networking architectures.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4A8C"/>
                </a:solidFill>
              </a:rPr>
              <a:t>COMPETITIVE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Velsanet Cannot Be Replicated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0116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70432"/>
            <a:ext cx="205740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 / 5G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205740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Proprietary SDN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170432"/>
            <a:ext cx="2057400" cy="384048"/>
          </a:xfrm>
          <a:prstGeom prst="rect">
            <a:avLst/>
          </a:prstGeom>
          <a:solidFill>
            <a:srgbClr val="1A7CC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VELSANET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554480"/>
            <a:ext cx="201168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54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Packet-free E2E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554480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554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554480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554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Partial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55448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554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Physical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029968"/>
            <a:ext cx="201168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Topology-first Design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029968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20299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029968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0299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029968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0299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Native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2505456"/>
            <a:ext cx="201168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505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AI Embedded in Network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505456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25054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505456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5054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2505456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25054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3 Layers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980944"/>
            <a:ext cx="201168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Manufacturing Identity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2980944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2980944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Partial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2980944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Always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3456432"/>
            <a:ext cx="201168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Sovereign Governance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3456432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0" y="3456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456432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456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3456432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3456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Q2–Q4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3931920"/>
            <a:ext cx="201168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3931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6G-Ready Architecture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0" y="393192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6" name="Text 54"/>
          <p:cNvSpPr/>
          <p:nvPr/>
        </p:nvSpPr>
        <p:spPr>
          <a:xfrm>
            <a:off x="2560320" y="3931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Roadmap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393192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3931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Roadmap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0" y="393192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3931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Built-in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TECHNOLOGY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White Paper to Global Infrastructure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E8"/>
                </a:solidFill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MOCT prototype hardware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PAI + AAI integration lab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City-scale pilot network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E8"/>
                </a:solidFill>
              </a:rPr>
              <a:t>2027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First city E2E management center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3-layer AI live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004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Identity provisioning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E8"/>
                </a:solidFill>
              </a:rPr>
              <a:t>2028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888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Expansion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1888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Multi-city Velsanet mesh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National sovereign Q4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Partner ecosystem onboarding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E8"/>
                </a:solidFill>
              </a:rPr>
              <a:t>2029+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6772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Scale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6772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Continental Q3 federation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6772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IVGF governance activation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6772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Global VELSA projection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623"/>
                </a:solidFill>
              </a:rPr>
              <a:t>18 white papers completed · Core IP established · Ready for partnership &amp;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4A8C"/>
                </a:solidFill>
              </a:rPr>
              <a:t>INVESTMENT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Velsanet, Why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First-Principles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Velsanet doesn't patch the Internet — it replaces the foundation. 18 interlocking white papers define a complete, coherent system.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07108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07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071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AI-Native from Day 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3088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Unlike competitors retrofitting AI onto legacy networks, Velsanet treats intelligence as a structural property of the network itself.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79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Timing: The 6G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0815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Global 6G standardization is underway. The architectural decisions made in 2026–2028 will define connectivity for the next 30 years.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52444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52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524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Full IP Stack 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5419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Mathematical foundations, physical hardware specs, AI architecture, governance framework, and operational protocols are all defined.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325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Defensible Moat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6268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Topology-first design creates structural barriers. Every competitor that builds on packet-switching inherits its limitations permanently.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731520"/>
            <a:ext cx="2286000" cy="2286000"/>
          </a:xfrm>
          <a:prstGeom prst="ellipse">
            <a:avLst/>
          </a:prstGeom>
          <a:solidFill>
            <a:srgbClr val="00A8E8">
              <a:alpha val="12000"/>
            </a:srgbClr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286000"/>
            <a:ext cx="1371600" cy="1371600"/>
          </a:xfrm>
          <a:prstGeom prst="ellipse">
            <a:avLst/>
          </a:prstGeom>
          <a:solidFill>
            <a:srgbClr val="0D4A8C">
              <a:alpha val="2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291840"/>
            <a:ext cx="822960" cy="822960"/>
          </a:xfrm>
          <a:prstGeom prst="ellipse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572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E8"/>
                </a:solidFill>
              </a:rPr>
              <a:t>LET'S BUILD THE FUTURE TOGETHER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VELSANET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00A8E8"/>
                </a:solidFill>
              </a:rPr>
              <a:t>The Network that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00A8E8"/>
                </a:solidFill>
              </a:rPr>
              <a:t>Thinks, Learns &amp; Grows.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FC2"/>
                </a:solidFill>
              </a:rPr>
              <a:t>We are seeking strategic partners and investors to bring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FC2"/>
                </a:solidFill>
              </a:rPr>
              <a:t>Velsanet's vision from white paper to global deployment.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White Papers Completed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35204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4028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AI Layers Defined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77640" y="35204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∞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97764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Scalability By Design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E8"/>
                </a:solidFill>
              </a:rPr>
              <a:t>Contact us to receive the full technical white paper package.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— Investor Presentation</dc:title>
  <dc:subject>PptxGenJS Presentation</dc:subject>
  <dc:creator>PptxGenJS</dc:creator>
  <cp:lastModifiedBy>PptxGenJS</cp:lastModifiedBy>
  <cp:revision>1</cp:revision>
  <dcterms:created xsi:type="dcterms:W3CDTF">2026-02-21T07:46:24Z</dcterms:created>
  <dcterms:modified xsi:type="dcterms:W3CDTF">2026-02-21T07:46:24Z</dcterms:modified>
</cp:coreProperties>
</file>