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953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B1E3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D244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457200"/>
            <a:ext cx="1645920" cy="1645920"/>
          </a:xfrm>
          <a:prstGeom prst="ellipse">
            <a:avLst/>
          </a:prstGeom>
          <a:solidFill>
            <a:srgbClr val="00A8E8">
              <a:alpha val="15000"/>
            </a:srgbClr>
          </a:solidFill>
          <a:ln w="1905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1645920"/>
            <a:ext cx="1097280" cy="1097280"/>
          </a:xfrm>
          <a:prstGeom prst="ellipse">
            <a:avLst/>
          </a:prstGeom>
          <a:solidFill>
            <a:srgbClr val="0D4A8C">
              <a:alpha val="3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560320"/>
            <a:ext cx="731520" cy="731520"/>
          </a:xfrm>
          <a:prstGeom prst="ellipse">
            <a:avLst/>
          </a:prstGeom>
          <a:solidFill>
            <a:srgbClr val="00A8E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A8E8"/>
                </a:solidFill>
              </a:rPr>
              <a:t>투자자 발표자료  · 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8229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VELSANET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차세대 AI 네이티브 네트워크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네트워크의 근본을 재설계합니다.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시대를 위한 의도 기반, 광학 우선 통합 네트워크 아키텍처.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</a:rPr>
              <a:t>18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백서 완성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3520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03120" y="3977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AI 계층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3520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57600" y="3977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다면체 티어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2080" y="3520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</a:rPr>
              <a:t>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212080" y="3977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2"/>
                </a:solidFill>
              </a:rPr>
              <a:t>비전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A8E8"/>
                </a:solidFill>
              </a:rPr>
              <a:t>문제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인터넷은 구조적으로 한계에 도달했습니다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137160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90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E8"/>
                </a:solidFill>
              </a:rPr>
              <a:t>⚡  트래픽 폭증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562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EAFC2"/>
                </a:solidFill>
              </a:rPr>
              <a:t>IoT, 스트리밍, AI 워크로드가 기존 라우팅 용량을 초과하고 있습니다.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325880"/>
            <a:ext cx="4114800" cy="137160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1490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E8"/>
                </a:solidFill>
              </a:rPr>
              <a:t>🔒  구조적 보안 부재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8562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EAFC2"/>
                </a:solidFill>
              </a:rPr>
              <a:t>인터넷은 신뢰 환경을 가정하고 설계되었습니다. 악의적 사용에 무방비 상태입니다.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4114800" cy="137160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044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E8"/>
                </a:solidFill>
              </a:rPr>
              <a:t>🧩  의도 단절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4107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EAFC2"/>
                </a:solidFill>
              </a:rPr>
              <a:t>네트워크는 비트를 전달할 뿐, 의미와 목적을 담지 못합니다. AI 인지는 무시됩니다.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2880360"/>
            <a:ext cx="4114800" cy="137160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3044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E8"/>
                </a:solidFill>
              </a:rPr>
              <a:t>🕸  중앙화의 역설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34107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EAFC2"/>
                </a:solidFill>
              </a:rPr>
              <a:t>인터넷의 문제를 고치려 할수록 새 레이어만 쌓여 취약성이 복합적으로 증가합니다.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</a:rPr>
              <a:t>근본 원인: 패킷 교환 방식의 인터넷 아키텍처는 처음부터 지능을 위해 설계되지 않았습니다.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4A8C"/>
                </a:solidFill>
              </a:rPr>
              <a:t>우리의 비전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살아 숨쉬는 지능형 네트워크 생태계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0" y="1005840"/>
            <a:ext cx="2011680" cy="2011680"/>
          </a:xfrm>
          <a:prstGeom prst="ellipse">
            <a:avLst/>
          </a:prstGeom>
          <a:solidFill>
            <a:srgbClr val="00A8E8">
              <a:alpha val="80000"/>
            </a:srgbClr>
          </a:solidFill>
          <a:ln w="25400">
            <a:solidFill>
              <a:srgbClr val="0D4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118872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VELSA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핵심 AI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914400"/>
            <a:ext cx="914400" cy="914400"/>
          </a:xfrm>
          <a:prstGeom prst="ellipse">
            <a:avLst/>
          </a:prstGeom>
          <a:solidFill>
            <a:srgbClr val="0D4A8C">
              <a:alpha val="75000"/>
            </a:srgbClr>
          </a:solidFill>
          <a:ln w="1524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51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T₄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접속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577840" y="2560320"/>
            <a:ext cx="868680" cy="868680"/>
          </a:xfrm>
          <a:prstGeom prst="ellipse">
            <a:avLst/>
          </a:prstGeom>
          <a:solidFill>
            <a:srgbClr val="0D4A8C">
              <a:alpha val="75000"/>
            </a:srgbClr>
          </a:solidFill>
          <a:ln w="15240">
            <a:solidFill>
              <a:srgbClr val="00A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2690622"/>
            <a:ext cx="8686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C₆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채널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046720" y="822960"/>
            <a:ext cx="914400" cy="914400"/>
          </a:xfrm>
          <a:prstGeom prst="ellipse">
            <a:avLst/>
          </a:prstGeom>
          <a:solidFill>
            <a:srgbClr val="0D4A8C">
              <a:alpha val="75000"/>
            </a:srgbClr>
          </a:solidFill>
          <a:ln w="15240">
            <a:solidFill>
              <a:srgbClr val="00A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960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O₈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로컬 E2E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72400" y="2377440"/>
            <a:ext cx="868680" cy="868680"/>
          </a:xfrm>
          <a:prstGeom prst="ellipse">
            <a:avLst/>
          </a:prstGeom>
          <a:solidFill>
            <a:srgbClr val="0D4A8C">
              <a:alpha val="75000"/>
            </a:srgbClr>
          </a:solidFill>
          <a:ln w="15240">
            <a:solidFill>
              <a:srgbClr val="00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2507742"/>
            <a:ext cx="8686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D₁₂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중재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37760" y="3200400"/>
            <a:ext cx="777240" cy="777240"/>
          </a:xfrm>
          <a:prstGeom prst="ellipse">
            <a:avLst/>
          </a:prstGeom>
          <a:solidFill>
            <a:srgbClr val="0D4A8C">
              <a:alpha val="75000"/>
            </a:srgbClr>
          </a:solidFill>
          <a:ln w="15240">
            <a:solidFill>
              <a:srgbClr val="00A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316986"/>
            <a:ext cx="77724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I₂₀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거버넌스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토폴로지 우선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14996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5A7A"/>
                </a:solidFill>
              </a:rPr>
              <a:t>주소보다 공간 구조를 먼저 정의합니다. 구조가 지능을 구동합니다.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103120"/>
            <a:ext cx="54864" cy="5029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121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광학 네이티브 E2E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24140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5A7A"/>
                </a:solidFill>
              </a:rPr>
              <a:t>패킷 교환 없음. 물리 광학 코어로 직접 연결합니다.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54864" cy="5029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035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의도 기반 연결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33284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5A7A"/>
                </a:solidFill>
              </a:rPr>
              <a:t>비트가 아닌 의미를 전달합니다. AI 인지가 네트워크에 내장됩니다.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54864" cy="5029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9502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주권 거버넌스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" y="42428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5A7A"/>
                </a:solidFill>
              </a:rPr>
              <a:t>중앙 통제 없이 글로벌 조율. 투영(Projection) 방식으로 실현합니다.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A8E8"/>
                </a:solidFill>
              </a:rPr>
              <a:t>핵심 기술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5가지 혁신 기술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457200" cy="5943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984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252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다중 광학 코어 트랜시버 (MOCT)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2"/>
                </a:solidFill>
              </a:rPr>
              <a:t>고정식 비착탈형 광자 모듈. 수십~수백 개의 병렬 광학 코어. 커넥터 없음, ASIC 라우팅 없음 — 순수 물리적 E2E 연결.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979676"/>
            <a:ext cx="457200" cy="5943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0711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9979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다면체 네트워크 토폴로지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28142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2"/>
                </a:solidFill>
              </a:rPr>
              <a:t>T₄→C₆→O₈→D₁₂→I₂₀: 다섯 가지 기하학적 구조가 네트워크 공간의 완전한 문법을 형성합니다. 토폴로지 우선, 설계부터 확장 가능.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752344"/>
            <a:ext cx="457200" cy="5943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8437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7706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3계층 AI (PAI / AAI / AsAI)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05409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2"/>
                </a:solidFill>
              </a:rPr>
              <a:t>개인·에이전트·어시스턴트 AI가 네트워크 노드에 기본 내장. 모든 계층에 분산 인지 능력을 부여합니다.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525012"/>
            <a:ext cx="457200" cy="5943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6164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5433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큐브 메모리 아키텍처 (T-C-I-E-M)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82676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2"/>
                </a:solidFill>
              </a:rPr>
              <a:t>5차원 의미론적 메모리: 시간, 맥락, 의도, 감정, 메타. AI가 데이터가 아닌 의미를 검색합니다.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297680"/>
            <a:ext cx="457200" cy="5943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389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3159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공간 창세 &amp; 디지털 DNA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5994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2"/>
                </a:solidFill>
              </a:rPr>
              <a:t>좌표 이전의 위상 공간. 규칙 엔진, 인스턴스 생성기, 상태 검증기를 통해 네트워크가 자체 구조를 생성합니다.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4A8C"/>
                </a:solidFill>
              </a:rPr>
              <a:t>아키텍처 구조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설계부터 내장된 계층적 지능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66928"/>
          </a:xfrm>
          <a:prstGeom prst="rect">
            <a:avLst/>
          </a:prstGeom>
          <a:solidFill>
            <a:srgbClr val="0A3D6B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984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Q2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2984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글로벌 네트워크 AI (VELSA)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883664"/>
            <a:ext cx="7315200" cy="566928"/>
          </a:xfrm>
          <a:prstGeom prst="rect">
            <a:avLst/>
          </a:prstGeom>
          <a:solidFill>
            <a:srgbClr val="0D5294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9933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Q3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199339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대륙 네트워크 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2578608"/>
            <a:ext cx="6400800" cy="566928"/>
          </a:xfrm>
          <a:prstGeom prst="rect">
            <a:avLst/>
          </a:prstGeom>
          <a:solidFill>
            <a:srgbClr val="1466B3"/>
          </a:solidFill>
          <a:ln/>
        </p:spPr>
      </p:sp>
      <p:sp>
        <p:nvSpPr>
          <p:cNvPr id="12" name="Text 10"/>
          <p:cNvSpPr/>
          <p:nvPr/>
        </p:nvSpPr>
        <p:spPr>
          <a:xfrm>
            <a:off x="1481328" y="26883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Q4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68833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국가 주권 레이어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0" y="3273552"/>
            <a:ext cx="5486400" cy="566928"/>
          </a:xfrm>
          <a:prstGeom prst="rect">
            <a:avLst/>
          </a:prstGeom>
          <a:solidFill>
            <a:srgbClr val="1A7CC8"/>
          </a:solidFill>
          <a:ln/>
        </p:spPr>
      </p:sp>
      <p:sp>
        <p:nvSpPr>
          <p:cNvPr id="15" name="Text 13"/>
          <p:cNvSpPr/>
          <p:nvPr/>
        </p:nvSpPr>
        <p:spPr>
          <a:xfrm>
            <a:off x="1938528" y="3383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Q6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33832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지역 조율 레이어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0" y="3968496"/>
            <a:ext cx="4572000" cy="566928"/>
          </a:xfrm>
          <a:prstGeom prst="rect">
            <a:avLst/>
          </a:prstGeom>
          <a:solidFill>
            <a:srgbClr val="2194DE"/>
          </a:solidFill>
          <a:ln/>
        </p:spPr>
      </p:sp>
      <p:sp>
        <p:nvSpPr>
          <p:cNvPr id="18" name="Text 16"/>
          <p:cNvSpPr/>
          <p:nvPr/>
        </p:nvSpPr>
        <p:spPr>
          <a:xfrm>
            <a:off x="2395728" y="40782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Q7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40782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실행 레이어 (디바이스)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663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A5A7A"/>
                </a:solidFill>
              </a:rPr>
              <a:t>상위 레이어는 명령하지 않습니다 — 구조 상태를 투영할 뿐입니다.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3A5A7A"/>
                </a:solidFill>
              </a:rPr>
              <a:t>모든 티어에서 주권과 로컬 자율성이 보장됩니다.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A8E8"/>
                </a:solidFill>
              </a:rPr>
              <a:t>AI 아키텍처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3계층 분산 지능 시스템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8321040" cy="1115568"/>
          </a:xfrm>
          <a:prstGeom prst="rect">
            <a:avLst/>
          </a:prstGeom>
          <a:solidFill>
            <a:srgbClr val="0A3D6B"/>
          </a:solidFill>
          <a:ln w="63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98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AsAI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31673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Assistant AI — National &amp; Global Scale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66420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AAI 간 도메인 협력 총괄  ·  예측, 정책 통합, 다중 도메인 협력 지원  ·  정이십면체(I₂₀) 노드에 내장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468880"/>
            <a:ext cx="8321040" cy="1115568"/>
          </a:xfrm>
          <a:prstGeom prst="rect">
            <a:avLst/>
          </a:prstGeom>
          <a:solidFill>
            <a:srgbClr val="1060A0"/>
          </a:solidFill>
          <a:ln w="63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AAI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5786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AI — Regional Coordination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9260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지역 내 PAI 클러스터 조율  ·  실시간 오케스트레이션 및 지능형 자원 분배  ·  정십이면체(D₁₂) 노드에서 작동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730752"/>
            <a:ext cx="8321040" cy="1115568"/>
          </a:xfrm>
          <a:prstGeom prst="rect">
            <a:avLst/>
          </a:prstGeom>
          <a:solidFill>
            <a:srgbClr val="1A7CC8"/>
          </a:solidFill>
          <a:ln w="63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8221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PAI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38404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Personal AI — Device Level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1879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사용자의 개인 맥락, 의도, 환경을 대변  ·  멀티모달 상호작용으로 로컬 의사결정 수행  ·  정팔면체(O₈) 노드에 내장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4A8C"/>
                </a:solidFill>
              </a:rPr>
              <a:t>신원 &amp; 보안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신뢰는 절차가 아닌 구조에서 나옵니다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" cy="8229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제조 단계 신원 부여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5544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5A7A"/>
                </a:solidFill>
              </a:rPr>
              <a:t>모든 디바이스는 제조 시점에 네트워크 네이티브 신원을 받습니다 — 지역 코드, 계층 레벨, 역할, 암호화 루트 오브 트러스트.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54864" cy="8229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468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토폴로지 제약 권한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788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5A7A"/>
                </a:solidFill>
              </a:rPr>
              <a:t>디바이스는 목적지를 선택하지 않습니다. 제출된 신원 속성이 구조적으로 허용될 때만 연결이 형성됩니다.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54864" cy="82296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703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중간 개입점 제로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4023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5A7A"/>
                </a:solidFill>
              </a:rPr>
              <a:t>E2E 연결마다 물리적으로 격리된 광학 코어를 점유합니다. 라우팅 없음, 교환 없음 — 도청 지점 자체가 없습니다.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143000"/>
            <a:ext cx="3977640" cy="3566160"/>
          </a:xfrm>
          <a:prstGeom prst="rect">
            <a:avLst/>
          </a:prstGeom>
          <a:solidFill>
            <a:srgbClr val="D6EAF8"/>
          </a:solidFill>
          <a:ln w="63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2801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연결 생명주기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691640"/>
            <a:ext cx="3611880" cy="38404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7373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1628"/>
                </a:solidFill>
              </a:rPr>
              <a:t>① 신원 부여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A1628"/>
                </a:solidFill>
              </a:rPr>
              <a:t>(제조 단계)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2167128"/>
            <a:ext cx="3611880" cy="384048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21284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1628"/>
                </a:solidFill>
              </a:rPr>
              <a:t>② 토폴로지 바인딩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A1628"/>
                </a:solidFill>
              </a:rPr>
              <a:t>(배포 단계)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642616"/>
            <a:ext cx="3611880" cy="38404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68833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1628"/>
                </a:solidFill>
              </a:rPr>
              <a:t>③ 존재 감지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A1628"/>
                </a:solidFill>
              </a:rPr>
              <a:t>(물리 신호)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3118104"/>
            <a:ext cx="3611880" cy="384048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16382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1628"/>
                </a:solidFill>
              </a:rPr>
              <a:t>④ 엣지 검증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A1628"/>
                </a:solidFill>
              </a:rPr>
              <a:t>(문법 + 지역)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3593592"/>
            <a:ext cx="3611880" cy="384048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6393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1628"/>
                </a:solidFill>
              </a:rPr>
              <a:t>⑤ 경로 형성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A1628"/>
                </a:solidFill>
              </a:rPr>
              <a:t>(구조적 매칭)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4069080"/>
            <a:ext cx="3611880" cy="384048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411480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1628"/>
                </a:solidFill>
              </a:rPr>
              <a:t>⑥ 사후 증명 검증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A8E8"/>
                </a:solidFill>
              </a:rPr>
              <a:t>시장 기회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수조 달러 규모의 변곡점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965960" cy="160020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$4.5조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글로벌 통신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인프라 (2030E)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170432"/>
            <a:ext cx="1965960" cy="160020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3258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$2.1조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19933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AI 인프라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시장 (2030E)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70432"/>
            <a:ext cx="1965960" cy="160020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3258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$1.3조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19933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스마트시티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·IoT (2030E)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1170432"/>
            <a:ext cx="1965960" cy="160020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3258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$800B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199339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6G 네트워크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구축 (2035E)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9443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E8"/>
                </a:solidFill>
              </a:rPr>
              <a:t>지금이어야 하는 이유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336499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</a:rPr>
              <a:t>→  </a:t>
            </a:r>
            <a:r>
              <a:rPr lang="en-US" sz="1100" dirty="0">
                <a:solidFill>
                  <a:srgbClr val="8EAFC2"/>
                </a:solidFill>
              </a:rPr>
              <a:t>6G 표준화가 진행 중입니다. 지금 내려지는 아키텍처 결정이 향후 30년을 결정합니다.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</a:rPr>
              <a:t>→  </a:t>
            </a:r>
            <a:r>
              <a:rPr lang="en-US" sz="1100" dirty="0">
                <a:solidFill>
                  <a:srgbClr val="8EAFC2"/>
                </a:solidFill>
              </a:rPr>
              <a:t>엣지 AI 추론은 마이크로초 단위의 결정론적 연결을 요구합니다. 패킷 교환으로는 불가능합니다.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206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</a:rPr>
              <a:t>→  </a:t>
            </a:r>
            <a:r>
              <a:rPr lang="en-US" sz="1100" dirty="0">
                <a:solidFill>
                  <a:srgbClr val="8EAFC2"/>
                </a:solidFill>
              </a:rPr>
              <a:t>디지털 주권 우려가 비중앙화, 검증 가능한 인프라 수요를 급속도로 키우고 있습니다.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62686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</a:rPr>
              <a:t>→  </a:t>
            </a:r>
            <a:r>
              <a:rPr lang="en-US" sz="1100" dirty="0">
                <a:solidFill>
                  <a:srgbClr val="8EAFC2"/>
                </a:solidFill>
              </a:rPr>
              <a:t>하이퍼스케일러들이 기존 광학 네트워킹의 물리적 한계에 직면하고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4A8C"/>
                </a:solidFill>
              </a:rPr>
              <a:t>경쟁 우위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Velsanet은 복제가 불가능합니다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01168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70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역량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170432"/>
            <a:ext cx="205740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1704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인터넷 / 5G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70432"/>
            <a:ext cx="205740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1704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독점 SDN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1170432"/>
            <a:ext cx="2057400" cy="384048"/>
          </a:xfrm>
          <a:prstGeom prst="rect">
            <a:avLst/>
          </a:prstGeom>
          <a:solidFill>
            <a:srgbClr val="1A7CC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1704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VELSANET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1554480"/>
            <a:ext cx="2011680" cy="43891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5544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</a:rPr>
              <a:t>패킷 없는 E2E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1554480"/>
            <a:ext cx="2057400" cy="43891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155448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</a:rPr>
              <a:t>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554480"/>
            <a:ext cx="2057400" cy="43891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55448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</a:rPr>
              <a:t>부분적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1554480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155448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8C"/>
                </a:solidFill>
              </a:rPr>
              <a:t>✔ 물리적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2029968"/>
            <a:ext cx="201168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0299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</a:rPr>
              <a:t>토폴로지 우선 설계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0" y="2029968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0" y="202996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</a:rPr>
              <a:t>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029968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02996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</a:rPr>
              <a:t>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2029968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202996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8C"/>
                </a:solidFill>
              </a:rPr>
              <a:t>✔ 기본 내장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2505456"/>
            <a:ext cx="2011680" cy="43891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25054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</a:rPr>
              <a:t>네트워크 내장 AI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0" y="2505456"/>
            <a:ext cx="2057400" cy="43891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32" name="Text 30"/>
          <p:cNvSpPr/>
          <p:nvPr/>
        </p:nvSpPr>
        <p:spPr>
          <a:xfrm>
            <a:off x="2560320" y="250545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</a:rPr>
              <a:t>✗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2505456"/>
            <a:ext cx="2057400" cy="43891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250545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</a:rPr>
              <a:t>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0" y="2505456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250545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8C"/>
                </a:solidFill>
              </a:rPr>
              <a:t>✔ 3계층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2980944"/>
            <a:ext cx="201168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29809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</a:rPr>
              <a:t>제조 단계 신원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0" y="2980944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0" name="Text 38"/>
          <p:cNvSpPr/>
          <p:nvPr/>
        </p:nvSpPr>
        <p:spPr>
          <a:xfrm>
            <a:off x="2560320" y="298094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</a:rPr>
              <a:t>✗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2980944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2" name="Text 40"/>
          <p:cNvSpPr/>
          <p:nvPr/>
        </p:nvSpPr>
        <p:spPr>
          <a:xfrm>
            <a:off x="4709160" y="298094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</a:rPr>
              <a:t>부분적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0" y="2980944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0" y="298094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8C"/>
                </a:solidFill>
              </a:rPr>
              <a:t>✔ 항상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11480" y="3456432"/>
            <a:ext cx="2011680" cy="43891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" y="34564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</a:rPr>
              <a:t>주권 거버넌스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60320" y="3456432"/>
            <a:ext cx="2057400" cy="43891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48" name="Text 46"/>
          <p:cNvSpPr/>
          <p:nvPr/>
        </p:nvSpPr>
        <p:spPr>
          <a:xfrm>
            <a:off x="2560320" y="345643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</a:rPr>
              <a:t>✗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09160" y="3456432"/>
            <a:ext cx="2057400" cy="43891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50" name="Text 48"/>
          <p:cNvSpPr/>
          <p:nvPr/>
        </p:nvSpPr>
        <p:spPr>
          <a:xfrm>
            <a:off x="4709160" y="345643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392B"/>
                </a:solidFill>
              </a:rPr>
              <a:t>✗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58000" y="3456432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0" y="345643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8C"/>
                </a:solidFill>
              </a:rPr>
              <a:t>✔ Q2–Q4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11480" y="3931920"/>
            <a:ext cx="201168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54" name="Text 52"/>
          <p:cNvSpPr/>
          <p:nvPr/>
        </p:nvSpPr>
        <p:spPr>
          <a:xfrm>
            <a:off x="411480" y="39319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</a:rPr>
              <a:t>6G 지원 아키텍처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560320" y="3931920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56" name="Text 54"/>
          <p:cNvSpPr/>
          <p:nvPr/>
        </p:nvSpPr>
        <p:spPr>
          <a:xfrm>
            <a:off x="2560320" y="39319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</a:rPr>
              <a:t>로드맵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709160" y="3931920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58" name="Text 56"/>
          <p:cNvSpPr/>
          <p:nvPr/>
        </p:nvSpPr>
        <p:spPr>
          <a:xfrm>
            <a:off x="4709160" y="39319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</a:rPr>
              <a:t>로드맵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858000" y="3931920"/>
            <a:ext cx="2057400" cy="43891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60" name="Text 58"/>
          <p:cNvSpPr/>
          <p:nvPr/>
        </p:nvSpPr>
        <p:spPr>
          <a:xfrm>
            <a:off x="6858000" y="39319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A8C"/>
                </a:solidFill>
              </a:rPr>
              <a:t>✔ 내장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A8E8"/>
                </a:solidFill>
              </a:rPr>
              <a:t>기술 로드맵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백서에서 글로벌 인프라로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1993392" cy="347472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70432"/>
            <a:ext cx="1993392" cy="457200"/>
          </a:xfrm>
          <a:prstGeom prst="rect">
            <a:avLst/>
          </a:prstGeom>
          <a:solidFill>
            <a:srgbClr val="0D4A8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704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1단계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40817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E8"/>
                </a:solidFill>
              </a:rPr>
              <a:t>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" y="171907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기반 구축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" y="2121408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r>
              <a:rPr lang="en-US" sz="1000" dirty="0">
                <a:solidFill>
                  <a:srgbClr val="8EAFC2"/>
                </a:solidFill>
              </a:rPr>
              <a:t>MOCT 프로토타입 하드웨어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" y="2743200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r>
              <a:rPr lang="en-US" sz="1000" dirty="0">
                <a:solidFill>
                  <a:srgbClr val="8EAFC2"/>
                </a:solidFill>
              </a:rPr>
              <a:t>PAI + AAI 통합 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" y="336499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r>
              <a:rPr lang="en-US" sz="1000" dirty="0">
                <a:solidFill>
                  <a:srgbClr val="8EAFC2"/>
                </a:solidFill>
              </a:rPr>
              <a:t>도시 규모 파일럿 네트워크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1170432"/>
            <a:ext cx="1993392" cy="347472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170432"/>
            <a:ext cx="1993392" cy="457200"/>
          </a:xfrm>
          <a:prstGeom prst="rect">
            <a:avLst/>
          </a:prstGeom>
          <a:solidFill>
            <a:srgbClr val="0D4A8C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1704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2단계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140817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E8"/>
                </a:solidFill>
              </a:rPr>
              <a:t>2027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70048" y="171907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검증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70048" y="2121408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r>
              <a:rPr lang="en-US" sz="1000" dirty="0">
                <a:solidFill>
                  <a:srgbClr val="8EAFC2"/>
                </a:solidFill>
              </a:rPr>
              <a:t>첫 도시 E2E 관리센터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70048" y="2743200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r>
              <a:rPr lang="en-US" sz="1000" dirty="0">
                <a:solidFill>
                  <a:srgbClr val="8EAFC2"/>
                </a:solidFill>
              </a:rPr>
              <a:t>3계층 AI 실환경 배포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70048" y="336499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r>
              <a:rPr lang="en-US" sz="1000" dirty="0">
                <a:solidFill>
                  <a:srgbClr val="8EAFC2"/>
                </a:solidFill>
              </a:rPr>
              <a:t>신원 부여 파이프라인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170432"/>
            <a:ext cx="1993392" cy="347472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170432"/>
            <a:ext cx="1993392" cy="457200"/>
          </a:xfrm>
          <a:prstGeom prst="rect">
            <a:avLst/>
          </a:prstGeom>
          <a:solidFill>
            <a:srgbClr val="0D4A8C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11704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3단계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140817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E8"/>
                </a:solidFill>
              </a:rPr>
              <a:t>2028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18888" y="171907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확장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18888" y="2121408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r>
              <a:rPr lang="en-US" sz="1000" dirty="0">
                <a:solidFill>
                  <a:srgbClr val="8EAFC2"/>
                </a:solidFill>
              </a:rPr>
              <a:t>다중 도시 Velsanet 메시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2743200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r>
              <a:rPr lang="en-US" sz="1000" dirty="0">
                <a:solidFill>
                  <a:srgbClr val="8EAFC2"/>
                </a:solidFill>
              </a:rPr>
              <a:t>국가 주권 Q4 레이어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18888" y="336499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r>
              <a:rPr lang="en-US" sz="1000" dirty="0">
                <a:solidFill>
                  <a:srgbClr val="8EAFC2"/>
                </a:solidFill>
              </a:rPr>
              <a:t>파트너 생태계 온보딩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0" y="1170432"/>
            <a:ext cx="1993392" cy="3474720"/>
          </a:xfrm>
          <a:prstGeom prst="rect">
            <a:avLst/>
          </a:prstGeom>
          <a:solidFill>
            <a:srgbClr val="0E2040"/>
          </a:solidFill>
          <a:ln w="63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58000" y="1170432"/>
            <a:ext cx="1993392" cy="457200"/>
          </a:xfrm>
          <a:prstGeom prst="rect">
            <a:avLst/>
          </a:prstGeom>
          <a:solidFill>
            <a:srgbClr val="0D4A8C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11704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4단계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140817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E8"/>
                </a:solidFill>
              </a:rPr>
              <a:t>2029+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67728" y="171907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글로벌 규모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67728" y="2121408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r>
              <a:rPr lang="en-US" sz="1000" dirty="0">
                <a:solidFill>
                  <a:srgbClr val="8EAFC2"/>
                </a:solidFill>
              </a:rPr>
              <a:t>대륙 Q3 연합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67728" y="2743200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r>
              <a:rPr lang="en-US" sz="1000" dirty="0">
                <a:solidFill>
                  <a:srgbClr val="8EAFC2"/>
                </a:solidFill>
              </a:rPr>
              <a:t>IVGF 거버넌스 활성화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67728" y="3364992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A8E8"/>
                </a:solidFill>
              </a:rPr>
              <a:t>▸  </a:t>
            </a:r>
            <a:r>
              <a:rPr lang="en-US" sz="1000" dirty="0">
                <a:solidFill>
                  <a:srgbClr val="8EAFC2"/>
                </a:solidFill>
              </a:rPr>
              <a:t>글로벌 VELSA 투영 레이어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4754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A623"/>
                </a:solidFill>
              </a:rPr>
              <a:t>18개 백서 완성  ·  핵심 IP 확보  ·  파트너십 및 투자 유치 준비 완료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4A8C"/>
                </a:solidFill>
              </a:rPr>
              <a:t>투자 논거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Velsanet인가, 왜 지금인가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제1원칙 기반 아키텍처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5361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A"/>
                </a:solidFill>
              </a:rPr>
              <a:t>Velsanet은 인터넷을 패치하지 않습니다 — 근본 자체를 교체합니다. 18개 백서가 완전하고 일관된 시스템을 정의합니다.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07108"/>
            <a:ext cx="457200" cy="45720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07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0071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처음부터 AI 네이티브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3088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A"/>
                </a:solidFill>
              </a:rPr>
              <a:t>레거시 네트워크에 AI를 덧붙이는 경쟁사와 달리, Velsanet은 지능을 네트워크의 구조적 속성으로 취급합니다.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457200" cy="45720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7797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타이밍: 6G 표준화 창구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08152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A"/>
                </a:solidFill>
              </a:rPr>
              <a:t>글로벌 6G 표준화가 진행 중입니다. 2026~2028년에 내려지는 아키텍처 결정이 향후 30년을 결정할 것입니다.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552444"/>
            <a:ext cx="457200" cy="45720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524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5524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완전한 IP 스택 준비 완료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85419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A"/>
                </a:solidFill>
              </a:rPr>
              <a:t>수학적 기반, 물리 하드웨어 사양, AI 아키텍처, 거버넌스 프레임워크, 운영 프로토콜이 모두 정의되어 있습니다.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325112"/>
            <a:ext cx="457200" cy="45720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3251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방어 가능한 해자(Moat)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62686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A"/>
                </a:solidFill>
              </a:rPr>
              <a:t>토폴로지 우선 설계는 구조적 장벽을 만듭니다. 패킷 교환 기반의 경쟁사는 그 한계를 영구적으로 안고 갑니다.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731520"/>
            <a:ext cx="2286000" cy="2286000"/>
          </a:xfrm>
          <a:prstGeom prst="ellipse">
            <a:avLst/>
          </a:prstGeom>
          <a:solidFill>
            <a:srgbClr val="00A8E8">
              <a:alpha val="12000"/>
            </a:srgbClr>
          </a:solidFill>
          <a:ln w="1905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2286000"/>
            <a:ext cx="1371600" cy="1371600"/>
          </a:xfrm>
          <a:prstGeom prst="ellipse">
            <a:avLst/>
          </a:prstGeom>
          <a:solidFill>
            <a:srgbClr val="0D4A8C">
              <a:alpha val="25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3291840"/>
            <a:ext cx="822960" cy="822960"/>
          </a:xfrm>
          <a:prstGeom prst="ellipse">
            <a:avLst/>
          </a:prstGeom>
          <a:solidFill>
            <a:srgbClr val="F5A623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5720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A8E8"/>
                </a:solidFill>
              </a:rPr>
              <a:t>함께 미래를 만들어 갑시다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VELSANET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00A8E8"/>
                </a:solidFill>
              </a:rPr>
              <a:t>생각하고, 학습하고,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00A8E8"/>
                </a:solidFill>
              </a:rPr>
              <a:t>성장하는 네트워크.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EAFC2"/>
                </a:solidFill>
              </a:rPr>
              <a:t>Velsanet의 비전을 백서에서 글로벌 배포로 실현할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EAFC2"/>
                </a:solidFill>
              </a:rPr>
              <a:t>전략적 파트너와 투자자를 찾고 있습니다.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2044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</a:rPr>
              <a:t>18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EAFC2"/>
                </a:solidFill>
              </a:rPr>
              <a:t>백서 완성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40280" y="352044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240280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EAFC2"/>
                </a:solidFill>
              </a:rPr>
              <a:t>AI 계층 정의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77640" y="352044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</a:rPr>
              <a:t>∞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977640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EAFC2"/>
                </a:solidFill>
              </a:rPr>
              <a:t>무한 확장성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47091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8E8"/>
                </a:solidFill>
              </a:rPr>
              <a:t>전체 기술 백서 패키지를 받아보시려면 연락 주십시오.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1034</Words>
  <Application>Microsoft Office PowerPoint</Application>
  <PresentationFormat>화면 슬라이드 쇼(16:9)</PresentationFormat>
  <Paragraphs>226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Velsanet — 투자자 발표자료</dc:title>
  <dc:subject>PptxGenJS Presentation</dc:subject>
  <dc:creator>PptxGenJS</dc:creator>
  <cp:lastModifiedBy>Master</cp:lastModifiedBy>
  <cp:revision>1</cp:revision>
  <dcterms:created xsi:type="dcterms:W3CDTF">2026-02-21T07:54:39Z</dcterms:created>
  <dcterms:modified xsi:type="dcterms:W3CDTF">2026-02-21T08:05:36Z</dcterms:modified>
</cp:coreProperties>
</file>