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457200"/>
            <a:ext cx="2834640" cy="3657600"/>
          </a:xfrm>
          <a:prstGeom prst="rect">
            <a:avLst/>
          </a:prstGeom>
          <a:solidFill>
            <a:srgbClr val="1A3A8F">
              <a:alpha val="7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914400"/>
            <a:ext cx="1828800" cy="2286000"/>
          </a:xfrm>
          <a:prstGeom prst="rect">
            <a:avLst/>
          </a:prstGeom>
          <a:solidFill>
            <a:srgbClr val="12184A"/>
          </a:solidFill>
          <a:ln w="12700">
            <a:solidFill>
              <a:srgbClr val="4FFF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097280"/>
            <a:ext cx="1463040" cy="457200"/>
          </a:xfrm>
          <a:prstGeom prst="rect">
            <a:avLst/>
          </a:prstGeom>
          <a:solidFill>
            <a:srgbClr val="002C5F"/>
          </a:solidFill>
          <a:ln w="19050">
            <a:solidFill>
              <a:srgbClr val="00A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AD4"/>
                </a:solidFill>
              </a:rPr>
              <a:t>HYUNDAI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1463040" cy="457200"/>
          </a:xfrm>
          <a:prstGeom prst="rect">
            <a:avLst/>
          </a:prstGeom>
          <a:solidFill>
            <a:srgbClr val="1C69D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37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BMW GROUP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00C8FF"/>
                </a:solidFill>
              </a:rPr>
              <a:t>× VELSANET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 큐브 시스템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576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Cube System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2286000" cy="27432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574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차세대 커넥티드 카 인텔리전스 플랫폼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2468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Connected Vehicle Intelligence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1188720" cy="1097280"/>
          </a:xfrm>
          <a:prstGeom prst="rect">
            <a:avLst/>
          </a:prstGeom>
          <a:solidFill>
            <a:srgbClr val="12184A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37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384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</a:rPr>
              <a:t>Cube Channels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737360" y="3291840"/>
            <a:ext cx="1188720" cy="1097280"/>
          </a:xfrm>
          <a:prstGeom prst="rect">
            <a:avLst/>
          </a:prstGeom>
          <a:solidFill>
            <a:srgbClr val="12184A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3337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3840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</a:rPr>
              <a:t>AI Layers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08960" y="3291840"/>
            <a:ext cx="1188720" cy="1097280"/>
          </a:xfrm>
          <a:prstGeom prst="rect">
            <a:avLst/>
          </a:prstGeom>
          <a:solidFill>
            <a:srgbClr val="12184A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337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E2E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108960" y="3840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</a:rPr>
              <a:t>Zero Latency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80560" y="3291840"/>
            <a:ext cx="1188720" cy="1097280"/>
          </a:xfrm>
          <a:prstGeom prst="rect">
            <a:avLst/>
          </a:prstGeom>
          <a:solidFill>
            <a:srgbClr val="12184A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337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18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480560" y="3840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</a:rPr>
              <a:t>White Papers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VELSANET  |  Confidential Pitch Deck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현재 자동차 AI의 한계 — 왜 변해야 하는가?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931920" cy="868680"/>
          </a:xfrm>
          <a:prstGeom prst="rect">
            <a:avLst/>
          </a:prstGeom>
          <a:solidFill>
            <a:srgbClr val="12184A"/>
          </a:solidFill>
          <a:ln w="15240">
            <a:solidFill>
              <a:srgbClr val="F0B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64008" cy="8686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32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분산된 센서 데이터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카메라·라이다·레이더 데이터가 분리 처리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→ 통합 인지 불가능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3931920" cy="868680"/>
          </a:xfrm>
          <a:prstGeom prst="rect">
            <a:avLst/>
          </a:prstGeom>
          <a:solidFill>
            <a:srgbClr val="12184A"/>
          </a:solidFill>
          <a:ln w="15240">
            <a:solidFill>
              <a:srgbClr val="F0B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83080"/>
            <a:ext cx="64008" cy="8686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379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AI는 네트워크 외부에 탑재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차량 AI가 클라우드에 의존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→ 지연·보안 취약성 발생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3931920" cy="868680"/>
          </a:xfrm>
          <a:prstGeom prst="rect">
            <a:avLst/>
          </a:prstGeom>
          <a:solidFill>
            <a:srgbClr val="12184A"/>
          </a:solidFill>
          <a:ln w="15240">
            <a:solidFill>
              <a:srgbClr val="F0B4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88920"/>
            <a:ext cx="64008" cy="8686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437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의도(Intent) 전달 불가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운전자의 목적이 네트워크에 담기지 않음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→ V2X 협업 불완전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3931920" cy="868680"/>
          </a:xfrm>
          <a:prstGeom prst="rect">
            <a:avLst/>
          </a:prstGeom>
          <a:solidFill>
            <a:srgbClr val="12184A"/>
          </a:solidFill>
          <a:ln w="15240">
            <a:solidFill>
              <a:srgbClr val="F0B4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94760"/>
            <a:ext cx="64008" cy="8686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496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메모리 비연속성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운전 중 컨텍스트가 세션마다 초기화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→ 개인화 불가능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731520"/>
            <a:ext cx="4297680" cy="4114800"/>
          </a:xfrm>
          <a:prstGeom prst="rect">
            <a:avLst/>
          </a:prstGeom>
          <a:solidFill>
            <a:srgbClr val="12184A"/>
          </a:solidFill>
          <a:ln w="1524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F"/>
                </a:solidFill>
              </a:rPr>
              <a:t>시장이 요구하는 것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280160"/>
            <a:ext cx="3200400" cy="2743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1463040"/>
            <a:ext cx="3840480" cy="640080"/>
          </a:xfrm>
          <a:prstGeom prst="rect">
            <a:avLst/>
          </a:prstGeom>
          <a:solidFill>
            <a:srgbClr val="1A3A8F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5727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15270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차량 내 분산 인지 처리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(Edge-native Cognition)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240280"/>
            <a:ext cx="3840480" cy="640080"/>
          </a:xfrm>
          <a:prstGeom prst="rect">
            <a:avLst/>
          </a:prstGeom>
          <a:solidFill>
            <a:srgbClr val="1A3A8F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350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94960" y="23042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V2X 의도 기반 통신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(Intent-aware Networking)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3840480" cy="640080"/>
          </a:xfrm>
          <a:prstGeom prst="rect">
            <a:avLst/>
          </a:prstGeom>
          <a:solidFill>
            <a:srgbClr val="1A3A8F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1272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30815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연속적 경험 메모리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(Persistent Memory Loop)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794760"/>
            <a:ext cx="3840480" cy="640080"/>
          </a:xfrm>
          <a:prstGeom prst="rect">
            <a:avLst/>
          </a:prstGeom>
          <a:solidFill>
            <a:srgbClr val="1A3A8F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9044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94960" y="38587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물리 경로 기반 보안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(Layer-1 Security)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VELSANET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인지 큐브 아키텍처 — 어떻게 작동하는가?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8686800" cy="4114800"/>
          </a:xfrm>
          <a:prstGeom prst="rect">
            <a:avLst/>
          </a:prstGeom>
          <a:solidFill>
            <a:srgbClr val="12184A">
              <a:alpha val="50000"/>
            </a:srgbClr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4D8"/>
                </a:solidFill>
              </a:rPr>
              <a:t>PAI Cognitive Cube — 5-Axis Memory Structure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1508760" cy="2103120"/>
          </a:xfrm>
          <a:prstGeom prst="rect">
            <a:avLst/>
          </a:prstGeom>
          <a:solidFill>
            <a:srgbClr val="0A0F2C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1508760" cy="3200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51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</a:rPr>
              <a:t>T-Axis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19659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Time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(불변 메모리)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2011680"/>
            <a:ext cx="182880" cy="27432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1051560"/>
            <a:ext cx="1508760" cy="2103120"/>
          </a:xfrm>
          <a:prstGeom prst="rect">
            <a:avLst/>
          </a:prstGeom>
          <a:solidFill>
            <a:srgbClr val="0A0F2C"/>
          </a:solidFill>
          <a:ln w="19050">
            <a:solidFill>
              <a:srgbClr val="4FFF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1051560"/>
            <a:ext cx="1508760" cy="320040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0" y="1051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</a:rPr>
              <a:t>C-Axis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1463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11680" y="19659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Context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(상황 인지)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20440" y="2011680"/>
            <a:ext cx="182880" cy="27432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19" name="Shape 17"/>
          <p:cNvSpPr/>
          <p:nvPr/>
        </p:nvSpPr>
        <p:spPr>
          <a:xfrm>
            <a:off x="3703320" y="1051560"/>
            <a:ext cx="1508760" cy="2103120"/>
          </a:xfrm>
          <a:prstGeom prst="rect">
            <a:avLst/>
          </a:prstGeom>
          <a:solidFill>
            <a:srgbClr val="0A0F2C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03320" y="1051560"/>
            <a:ext cx="1508760" cy="3200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1" name="Text 19"/>
          <p:cNvSpPr/>
          <p:nvPr/>
        </p:nvSpPr>
        <p:spPr>
          <a:xfrm>
            <a:off x="3703320" y="1051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</a:rPr>
              <a:t>I-Axis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03320" y="1463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03320" y="19659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Intent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(의도 추출)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2011680"/>
            <a:ext cx="182880" cy="27432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25" name="Shape 23"/>
          <p:cNvSpPr/>
          <p:nvPr/>
        </p:nvSpPr>
        <p:spPr>
          <a:xfrm>
            <a:off x="5394960" y="1051560"/>
            <a:ext cx="1508760" cy="2103120"/>
          </a:xfrm>
          <a:prstGeom prst="rect">
            <a:avLst/>
          </a:prstGeom>
          <a:solidFill>
            <a:srgbClr val="0A0F2C"/>
          </a:solidFill>
          <a:ln w="19050">
            <a:solidFill>
              <a:srgbClr val="FF6B9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0" y="1051560"/>
            <a:ext cx="1508760" cy="32004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1051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</a:rPr>
              <a:t>E-Axis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1463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💓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94960" y="19659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Emotion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(감정 AI)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03720" y="2011680"/>
            <a:ext cx="182880" cy="27432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86600" y="1051560"/>
            <a:ext cx="1508760" cy="2103120"/>
          </a:xfrm>
          <a:prstGeom prst="rect">
            <a:avLst/>
          </a:prstGeom>
          <a:solidFill>
            <a:srgbClr val="0A0F2C"/>
          </a:solidFill>
          <a:ln w="19050">
            <a:solidFill>
              <a:srgbClr val="B57B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86600" y="1051560"/>
            <a:ext cx="1508760" cy="320040"/>
          </a:xfrm>
          <a:prstGeom prst="rect">
            <a:avLst/>
          </a:prstGeom>
          <a:solidFill>
            <a:srgbClr val="B57BFF"/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1051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</a:rPr>
              <a:t>M-Axis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86600" y="1463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086600" y="19659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Meta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(자기 진화)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291840"/>
            <a:ext cx="8503920" cy="54864"/>
          </a:xfrm>
          <a:prstGeom prst="rect">
            <a:avLst/>
          </a:prstGeom>
          <a:solidFill>
            <a:srgbClr val="00C8FF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3832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C8FF"/>
                </a:solidFill>
              </a:rPr>
              <a:t>Cube   →  Dedicated Equip.   →  PAI   →  AAI   →  AsAI   →  AAI   →  PAI   →  Cube (Memory Update)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0040" y="37490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C4D8"/>
                </a:solidFill>
              </a:rPr>
              <a:t>DIKWEI Cognitive Cycle — 인지 순환 루프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114800"/>
            <a:ext cx="8503920" cy="5943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4FFFB0"/>
                </a:solidFill>
              </a:rPr>
              <a:t>큐브는 단순한 저장소가 아닙니다 — 지능 그 자체입니다.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VELSANET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C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AD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AD4"/>
                </a:solidFill>
              </a:rPr>
              <a:t>HYUNDAI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×  Velsanet 인지 큐브 — 적용 시나리오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00AA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77240"/>
            <a:ext cx="4297680" cy="274320"/>
          </a:xfrm>
          <a:prstGeom prst="rect">
            <a:avLst/>
          </a:prstGeom>
          <a:solidFill>
            <a:srgbClr val="00AAD4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95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AD4"/>
                </a:solidFill>
              </a:rPr>
              <a:t>PAI + Cube Integration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🚗 아이오닉 개인화 인텔리전스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270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T·C·I·E 축 데이터로 운전자의 루틴·감정·의도를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실시간 학습. 시동 전 이미 목적지를 예측.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00A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777240"/>
            <a:ext cx="4297680" cy="274320"/>
          </a:xfrm>
          <a:prstGeom prst="rect">
            <a:avLst/>
          </a:prstGeom>
          <a:solidFill>
            <a:srgbClr val="00AAD4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795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AD4"/>
                </a:solidFill>
              </a:rPr>
              <a:t>AAI Network Layer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9204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🌆 도심 V2X 의도 공유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5270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AAI 노드를 통해 차량 의도를 신호등·도로망과 공유.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패킷 충돌 없는 E2E 광학 경로 확보.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4FFF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834640"/>
            <a:ext cx="4297680" cy="274320"/>
          </a:xfrm>
          <a:prstGeom prst="rect">
            <a:avLst/>
          </a:prstGeom>
          <a:solidFill>
            <a:srgbClr val="4FFFB0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8529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FFB0"/>
                </a:solidFill>
              </a:rPr>
              <a:t>Industrial IoT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154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🏭 제조 공장 스마트 네트워크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5844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울산·아산 공장 IoT 디바이스를 Velsanet 단일망으로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통합. 예측 정비 및 생산 AI 실시간 연동.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4FFF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834640"/>
            <a:ext cx="4297680" cy="274320"/>
          </a:xfrm>
          <a:prstGeom prst="rect">
            <a:avLst/>
          </a:prstGeom>
          <a:solidFill>
            <a:srgbClr val="4FFFB0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8529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FFB0"/>
                </a:solidFill>
              </a:rPr>
              <a:t>AsAI Global Sync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92040" y="3154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🌏 글로벌 OTA 인지 동기화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5844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AsAI 레이어로 전세계 현대차 플릿의 집단 지능을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보안 격리 채널로 실시간 업데이트.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2C5F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VELSANET  |  Hyundai Scenario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BMW GROUP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20240" y="914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×  Velsanet 인지 큐브 — 적용 시나리오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77240"/>
            <a:ext cx="4297680" cy="274320"/>
          </a:xfrm>
          <a:prstGeom prst="rect">
            <a:avLst/>
          </a:prstGeom>
          <a:solidFill>
            <a:srgbClr val="1C69D4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95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</a:rPr>
              <a:t>Emotion AI · PAI Layer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🏎 M-Series 드라이버 AI 코파일럿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270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E-Axis(감정)·I-Axis(의도) 실시간 분석으로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드라이버 상태를 감지, 서스펜션·엔진 응답을 선제 조정.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777240"/>
            <a:ext cx="4297680" cy="274320"/>
          </a:xfrm>
          <a:prstGeom prst="rect">
            <a:avLst/>
          </a:prstGeom>
          <a:solidFill>
            <a:srgbClr val="1C69D4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795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</a:rPr>
              <a:t>Layer-1 Security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9204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iDrive 보안 인증 재정의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5270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물리 광학 경로 기반 Layer-1 인증.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IP 주소 없는 구조로 해킹 불가능한 차량 ID.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00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834640"/>
            <a:ext cx="4297680" cy="274320"/>
          </a:xfrm>
          <a:prstGeom prst="rect">
            <a:avLst/>
          </a:prstGeom>
          <a:solidFill>
            <a:srgbClr val="1C69D4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8529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</a:rPr>
              <a:t>Smart City Integration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154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🏙 BMW 커넥티드 드라이브 2.0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5844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Velsanet AAI 노드와 도시 인프라 직접 연결.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실시간 교통·주차·충전 의도 기반 라우팅.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00C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834640"/>
            <a:ext cx="4297680" cy="274320"/>
          </a:xfrm>
          <a:prstGeom prst="rect">
            <a:avLst/>
          </a:prstGeom>
          <a:solidFill>
            <a:srgbClr val="1C69D4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8529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</a:rPr>
              <a:t>AsAI Fleet Intelligence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92040" y="3154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M-Axis 유기적 학습 플릿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5844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전세계 BMW 차량이 AsAI를 통해 집단 지능 공유.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각 차량의 경험이 M-Axis에 축적·진화.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VELSANET  |  BMW Group Scenario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왜 Velsanet인가? — 기술 차별화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347472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6809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기능 / 특성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63240" y="76809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기존 자동차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06440" y="76809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Velsanet 인지 큐브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078992"/>
            <a:ext cx="8686800" cy="475488"/>
          </a:xfrm>
          <a:prstGeom prst="rect">
            <a:avLst/>
          </a:prstGeom>
          <a:solidFill>
            <a:srgbClr val="12184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15214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AI 위치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53512" y="1124712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115214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C8C"/>
                </a:solidFill>
              </a:rPr>
              <a:t>클라우드 의존 (외부)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96712" y="1124712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115214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FFB0"/>
                </a:solidFill>
              </a:rPr>
              <a:t>네트워크 내부 (Native)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1554480"/>
            <a:ext cx="8686800" cy="475488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162763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메모리 구조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53512" y="1600200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18" name="Text 16"/>
          <p:cNvSpPr/>
          <p:nvPr/>
        </p:nvSpPr>
        <p:spPr>
          <a:xfrm>
            <a:off x="3063240" y="162763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C8C"/>
                </a:solidFill>
              </a:rPr>
              <a:t>세션 단위 초기화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96712" y="1600200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162763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FFB0"/>
                </a:solidFill>
              </a:rPr>
              <a:t>연속적 E2E 인지 루프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2029968"/>
            <a:ext cx="8686800" cy="475488"/>
          </a:xfrm>
          <a:prstGeom prst="rect">
            <a:avLst/>
          </a:prstGeom>
          <a:solidFill>
            <a:srgbClr val="12184A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10312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보안 방식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53512" y="2075688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24" name="Text 22"/>
          <p:cNvSpPr/>
          <p:nvPr/>
        </p:nvSpPr>
        <p:spPr>
          <a:xfrm>
            <a:off x="3063240" y="210312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C8C"/>
                </a:solidFill>
              </a:rPr>
              <a:t>소프트웨어 암호화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96712" y="2075688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210312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FFB0"/>
                </a:solidFill>
              </a:rPr>
              <a:t>물리 광학 경로 (Layer-1)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2505456"/>
            <a:ext cx="8686800" cy="475488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25786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V2X 통신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53512" y="2551176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0" name="Text 28"/>
          <p:cNvSpPr/>
          <p:nvPr/>
        </p:nvSpPr>
        <p:spPr>
          <a:xfrm>
            <a:off x="3063240" y="25786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C8C"/>
                </a:solidFill>
              </a:rPr>
              <a:t>데이터 전송만 가능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96712" y="2551176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257860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FFB0"/>
                </a:solidFill>
              </a:rPr>
              <a:t>의도(Intent) 기반 전달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2980944"/>
            <a:ext cx="8686800" cy="475488"/>
          </a:xfrm>
          <a:prstGeom prst="rect">
            <a:avLst/>
          </a:prstGeom>
          <a:solidFill>
            <a:srgbClr val="12184A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05409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개인화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953512" y="3026664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6" name="Text 34"/>
          <p:cNvSpPr/>
          <p:nvPr/>
        </p:nvSpPr>
        <p:spPr>
          <a:xfrm>
            <a:off x="3063240" y="305409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C8C"/>
                </a:solidFill>
              </a:rPr>
              <a:t>제한적, 클라우드 의존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96712" y="3026664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8" name="Text 36"/>
          <p:cNvSpPr/>
          <p:nvPr/>
        </p:nvSpPr>
        <p:spPr>
          <a:xfrm>
            <a:off x="5806440" y="305409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FFB0"/>
                </a:solidFill>
              </a:rPr>
              <a:t>5축 큐브 실시간 학습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3456432"/>
            <a:ext cx="8686800" cy="475488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352958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확장성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953512" y="3502152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2" name="Text 40"/>
          <p:cNvSpPr/>
          <p:nvPr/>
        </p:nvSpPr>
        <p:spPr>
          <a:xfrm>
            <a:off x="3063240" y="352958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C8C"/>
                </a:solidFill>
              </a:rPr>
              <a:t>중앙화 한계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96712" y="3502152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4" name="Text 42"/>
          <p:cNvSpPr/>
          <p:nvPr/>
        </p:nvSpPr>
        <p:spPr>
          <a:xfrm>
            <a:off x="5806440" y="352958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FFB0"/>
                </a:solidFill>
              </a:rPr>
              <a:t>다면체 분산 구조 무제한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28600" y="4389120"/>
            <a:ext cx="8686800" cy="45720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4FFFB0"/>
                </a:solidFill>
              </a:rPr>
              <a:t>✦  Velsanet은 AI를 네트워크 위에 올리는 것이 아니라, 네트워크를 AI로 만드는 유일한 아키텍처입니다.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VELSANET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파트너십 제안 — 함께 만드는 차세대 모빌리티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2743200" cy="3749040"/>
          </a:xfrm>
          <a:prstGeom prst="rect">
            <a:avLst/>
          </a:prstGeom>
          <a:solidFill>
            <a:srgbClr val="12184A"/>
          </a:solidFill>
          <a:ln w="19050">
            <a:solidFill>
              <a:srgbClr val="00AA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31520"/>
            <a:ext cx="2743200" cy="411480"/>
          </a:xfrm>
          <a:prstGeom prst="rect">
            <a:avLst/>
          </a:prstGeom>
          <a:solidFill>
            <a:srgbClr val="00AA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731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A0F2C"/>
                </a:solidFill>
              </a:rPr>
              <a:t>~6개월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공동 연구 협약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2286000" cy="27432"/>
          </a:xfrm>
          <a:prstGeom prst="rect">
            <a:avLst/>
          </a:prstGeom>
          <a:solidFill>
            <a:srgbClr val="00AAD4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828800"/>
            <a:ext cx="73152" cy="73152"/>
          </a:xfrm>
          <a:prstGeom prst="rect">
            <a:avLst/>
          </a:prstGeom>
          <a:solidFill>
            <a:srgbClr val="00AAD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Velsanet 연구소와 공동 랩 설립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450592"/>
            <a:ext cx="73152" cy="73152"/>
          </a:xfrm>
          <a:prstGeom prst="rect">
            <a:avLst/>
          </a:prstGeom>
          <a:solidFill>
            <a:srgbClr val="00AAD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59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PAI-Cube 차량 적용 사양 정의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72384"/>
            <a:ext cx="73152" cy="73152"/>
          </a:xfrm>
          <a:prstGeom prst="rect">
            <a:avLst/>
          </a:prstGeom>
          <a:solidFill>
            <a:srgbClr val="00AAD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809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인지 큐브 PoC 개발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71800" y="2468880"/>
            <a:ext cx="182880" cy="45720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18" name="Shape 16"/>
          <p:cNvSpPr/>
          <p:nvPr/>
        </p:nvSpPr>
        <p:spPr>
          <a:xfrm>
            <a:off x="3154680" y="731520"/>
            <a:ext cx="2743200" cy="3749040"/>
          </a:xfrm>
          <a:prstGeom prst="rect">
            <a:avLst/>
          </a:prstGeom>
          <a:solidFill>
            <a:srgbClr val="12184A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731520"/>
            <a:ext cx="2743200" cy="41148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Phase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731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A0F2C"/>
                </a:solidFill>
              </a:rPr>
              <a:t>~18개월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파일럿 차량 통합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1627632"/>
            <a:ext cx="2286000" cy="27432"/>
          </a:xfrm>
          <a:prstGeom prst="rect">
            <a:avLst/>
          </a:prstGeom>
          <a:solidFill>
            <a:srgbClr val="00C8FF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46120" y="1828800"/>
            <a:ext cx="73152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선행 차량 모델 큐브 탑재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2450592"/>
            <a:ext cx="73152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2359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V2X Intent 통신 실도로 테스트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46120" y="3072384"/>
            <a:ext cx="73152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29809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BMW / 현대 공통 표준 정의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97880" y="2468880"/>
            <a:ext cx="182880" cy="45720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31" name="Shape 29"/>
          <p:cNvSpPr/>
          <p:nvPr/>
        </p:nvSpPr>
        <p:spPr>
          <a:xfrm>
            <a:off x="6080760" y="731520"/>
            <a:ext cx="2743200" cy="3749040"/>
          </a:xfrm>
          <a:prstGeom prst="rect">
            <a:avLst/>
          </a:prstGeom>
          <a:solidFill>
            <a:srgbClr val="12184A"/>
          </a:solidFill>
          <a:ln w="19050">
            <a:solidFill>
              <a:srgbClr val="4FFF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731520"/>
            <a:ext cx="2743200" cy="411480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Phase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52360" y="731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A0F2C"/>
                </a:solidFill>
              </a:rPr>
              <a:t>~36개월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글로벌 플랫폼 론칭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72200" y="1627632"/>
            <a:ext cx="2286000" cy="27432"/>
          </a:xfrm>
          <a:prstGeom prst="rect">
            <a:avLst/>
          </a:prstGeom>
          <a:solidFill>
            <a:srgbClr val="4FFFB0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172200" y="1828800"/>
            <a:ext cx="73152" cy="73152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양산 차량 Velsanet 내장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2450592"/>
            <a:ext cx="73152" cy="73152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2359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도시 인프라 AAI 연동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72200" y="3072384"/>
            <a:ext cx="73152" cy="73152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29809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글로벌 플릿 지능 서비스 시작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28600" y="4572000"/>
            <a:ext cx="8686800" cy="201168"/>
          </a:xfrm>
          <a:prstGeom prst="rect">
            <a:avLst/>
          </a:prstGeom>
          <a:solidFill>
            <a:srgbClr val="00C8FF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57200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C8FF"/>
                </a:solidFill>
              </a:rPr>
              <a:t>Velsanet은 현대자동차·BMW그룹과의 전략적 파트너십을 통해 모빌리티 인텔리전스의 새 표준을 함께 정의하고자 합니다.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VELSANET  |  Confidential  |  joa337.github.io/velsanet-whitepapers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2C5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C69D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44568" y="0"/>
            <a:ext cx="54864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AAD4"/>
                </a:solidFill>
              </a:rPr>
              <a:t>HYUNDAI MOTOR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BMW GROUP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1371600"/>
            <a:ext cx="6400800" cy="2286000"/>
          </a:xfrm>
          <a:prstGeom prst="rect">
            <a:avLst/>
          </a:prstGeom>
          <a:solidFill>
            <a:srgbClr val="0A0F2C">
              <a:alpha val="80000"/>
            </a:srgbClr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508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인지 큐브가 바꾸는 미래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9933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8FF"/>
                </a:solidFill>
              </a:rPr>
              <a:t>The Future Redefined by Cognitive Cube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377440"/>
            <a:ext cx="3657600" cy="27432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4688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B0C4D8"/>
                </a:solidFill>
              </a:rPr>
              <a:t>차량은 이제 달리는 인지 시스템입니다.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B0C4D8"/>
                </a:solidFill>
              </a:rPr>
              <a:t>Every vehicle, a living cognitive system.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3931920"/>
            <a:ext cx="4572000" cy="5943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39319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FF"/>
                </a:solidFill>
              </a:rPr>
              <a:t>VELSANET</a:t>
            </a:r>
            <a:pPr algn="ctr" indent="0" marL="0">
              <a:buNone/>
            </a:pPr>
            <a:r>
              <a:rPr lang="en-US" sz="1200" dirty="0">
                <a:solidFill>
                  <a:srgbClr val="5A7A9A"/>
                </a:solidFill>
              </a:rPr>
              <a:t>  |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joa337.github.io/velsanet-whitepapers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A9A"/>
                </a:solidFill>
              </a:rPr>
              <a:t>© 2026 Velsanet. All Rights Reserved. Confidential &amp; Proprietary.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Velsanet Cognitive Cube - Automotive Pitch</dc:title>
  <dc:subject>PptxGenJS Presentation</dc:subject>
  <dc:creator>PptxGenJS</dc:creator>
  <cp:lastModifiedBy>PptxGenJS</cp:lastModifiedBy>
  <cp:revision>1</cp:revision>
  <dcterms:created xsi:type="dcterms:W3CDTF">2026-02-24T13:07:49Z</dcterms:created>
  <dcterms:modified xsi:type="dcterms:W3CDTF">2026-02-24T13:07:49Z</dcterms:modified>
</cp:coreProperties>
</file>