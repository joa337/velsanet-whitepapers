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2834640" cy="3657600"/>
          </a:xfrm>
          <a:prstGeom prst="rect">
            <a:avLst/>
          </a:prstGeom>
          <a:solidFill>
            <a:srgbClr val="1A3A8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1828800" cy="2286000"/>
          </a:xfrm>
          <a:prstGeom prst="rect">
            <a:avLst/>
          </a:prstGeom>
          <a:solidFill>
            <a:srgbClr val="12184A"/>
          </a:solidFill>
          <a:ln w="12700">
            <a:solidFill>
              <a:srgbClr val="4FFF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097280"/>
            <a:ext cx="1463040" cy="457200"/>
          </a:xfrm>
          <a:prstGeom prst="rect">
            <a:avLst/>
          </a:prstGeom>
          <a:solidFill>
            <a:srgbClr val="002C5F"/>
          </a:solidFill>
          <a:ln w="19050">
            <a:solidFill>
              <a:srgbClr val="00A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D4"/>
                </a:solidFill>
              </a:rPr>
              <a:t>HYUNDAI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1463040" cy="457200"/>
          </a:xfrm>
          <a:prstGeom prst="rect">
            <a:avLst/>
          </a:prstGeom>
          <a:solidFill>
            <a:srgbClr val="1C69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BMW GROUP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00C8FF"/>
                </a:solidFill>
              </a:rPr>
              <a:t>× VELSANET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Cube System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 큐브 시스템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2286000" cy="2743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57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Connected Vehicle Intelligence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487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Intent-Aware Mobility through Distributed Cognition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384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Cube Channels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373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AI Layers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E2E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1089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Zero Latency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3291840"/>
            <a:ext cx="1188720" cy="1097280"/>
          </a:xfrm>
          <a:prstGeom prst="rect">
            <a:avLst/>
          </a:prstGeom>
          <a:solidFill>
            <a:srgbClr val="12184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337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18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056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</a:rPr>
              <a:t>White Papers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 Pitch Deck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Limits of Today's Automotive AI — Why Change Is Inevitable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32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Fragmented Sensor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Camera, LiDAR, and radar are processed in silos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Unified perception is impossible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8308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37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Sits Outside the Network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Vehicle AI depends on the cloud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Latency spikes and security vulnerabilities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8892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43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Intent Cannot Be Transmitted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Driver purpose is never encoded in the network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Incomplete V2X collaboration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3931920" cy="868680"/>
          </a:xfrm>
          <a:prstGeom prst="rect">
            <a:avLst/>
          </a:prstGeom>
          <a:solidFill>
            <a:srgbClr val="12184A"/>
          </a:solidFill>
          <a:ln w="15240">
            <a:solidFill>
              <a:srgbClr val="F0B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94760"/>
            <a:ext cx="64008" cy="8686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9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Non-Persistent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Context resets every session while driving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C4D8"/>
                </a:solidFill>
              </a:rPr>
              <a:t>→ True personalization is blocked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731520"/>
            <a:ext cx="4297680" cy="4114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What the Market Demands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3200400" cy="274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46304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5727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15270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Edge-Native Cognition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(In-vehicle distributed AI)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350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23042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Intent-Aware V2X Networking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(Purposeful communication)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0815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Persistent Experience Memory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(Continuous cognitive loop)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3840480" cy="640080"/>
          </a:xfrm>
          <a:prstGeom prst="rect">
            <a:avLst/>
          </a:prstGeom>
          <a:solidFill>
            <a:srgbClr val="1A3A8F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904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4960" y="38587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Physical-Path Security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(Layer-1 identity guarantee)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Cognitive Cube Architecture — How It Works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4114800"/>
          </a:xfrm>
          <a:prstGeom prst="rect">
            <a:avLst/>
          </a:prstGeom>
          <a:solidFill>
            <a:srgbClr val="12184A">
              <a:alpha val="50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</a:rPr>
              <a:t>PAI Cognitive Cube — 5-Axis Memory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1508760" cy="3200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T-Axis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Time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(Immutable Memory)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4FFF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051560"/>
            <a:ext cx="1508760" cy="320040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C-Axis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Context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(Situational Awareness)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19" name="Shape 17"/>
          <p:cNvSpPr/>
          <p:nvPr/>
        </p:nvSpPr>
        <p:spPr>
          <a:xfrm>
            <a:off x="370332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1051560"/>
            <a:ext cx="150876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I-Axis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0332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Intent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(Meaning Extraction)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496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FF6B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051560"/>
            <a:ext cx="1508760" cy="32004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E-Axis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Emotion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(Affective Intelligence)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03720" y="2011680"/>
            <a:ext cx="182880" cy="27432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86600" y="1051560"/>
            <a:ext cx="1508760" cy="2103120"/>
          </a:xfrm>
          <a:prstGeom prst="rect">
            <a:avLst/>
          </a:prstGeom>
          <a:solidFill>
            <a:srgbClr val="0A0F2C"/>
          </a:solidFill>
          <a:ln w="19050">
            <a:solidFill>
              <a:srgbClr val="B57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1051560"/>
            <a:ext cx="1508760" cy="320040"/>
          </a:xfrm>
          <a:prstGeom prst="rect">
            <a:avLst/>
          </a:prstGeom>
          <a:solidFill>
            <a:srgbClr val="B57B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1051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2C"/>
                </a:solidFill>
              </a:rPr>
              <a:t>M-Axis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1463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86600" y="19659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Meta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(Self-Evolution)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291840"/>
            <a:ext cx="8503920" cy="54864"/>
          </a:xfrm>
          <a:prstGeom prst="rect">
            <a:avLst/>
          </a:prstGeom>
          <a:solidFill>
            <a:srgbClr val="00C8FF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383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8FF"/>
                </a:solidFill>
              </a:rPr>
              <a:t>Cube  →  Dedicated Equip.  →  PAI  →  AAI  →  AsAI  →  AAI  →  PAI  →  Cube (Memory Update)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3749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</a:rPr>
              <a:t>DIKWEI Cognitive Cycle — Closed-Loop Intelligence Circulation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114800"/>
            <a:ext cx="8503920" cy="5943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FFFB0"/>
                </a:solidFill>
              </a:rPr>
              <a:t>The Cube is not merely storage — it is intelligence itself.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2C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AD4"/>
                </a:solidFill>
              </a:rPr>
              <a:t>HYUNDAI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  Velsanet Cognitive Cube — Application Scenarios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A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4297680" cy="274320"/>
          </a:xfrm>
          <a:prstGeom prst="rect">
            <a:avLst/>
          </a:prstGeom>
          <a:solidFill>
            <a:srgbClr val="00AAD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AD4"/>
                </a:solidFill>
              </a:rPr>
              <a:t>PAI + Cube Integration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🚗 IONIQ Personalized Intelligence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T·C·I·E-axis data continuously learns driver routines,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emotions and intent — predicting destination before ignition.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A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4297680" cy="274320"/>
          </a:xfrm>
          <a:prstGeom prst="rect">
            <a:avLst/>
          </a:prstGeom>
          <a:solidFill>
            <a:srgbClr val="00AAD4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AD4"/>
                </a:solidFill>
              </a:rPr>
              <a:t>AAI Network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🌆 Urban V2X Intent Sharing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Vehicle intent is shared with traffic signals and road networks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via AAI nodes — collision-free E2E optical paths guaranteed.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4FFF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34640"/>
            <a:ext cx="4297680" cy="274320"/>
          </a:xfrm>
          <a:prstGeom prst="rect">
            <a:avLst/>
          </a:prstGeom>
          <a:solidFill>
            <a:srgbClr val="4FFFB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FFB0"/>
                </a:solidFill>
              </a:rPr>
              <a:t>Industrial IoT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Smart Factory Network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Ulsan &amp; Asan plant IoT devices unified under a single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Velsanet fabric — predictive maintenance + real-time AI sync.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4FFF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4297680" cy="274320"/>
          </a:xfrm>
          <a:prstGeom prst="rect">
            <a:avLst/>
          </a:prstGeom>
          <a:solidFill>
            <a:srgbClr val="4FFFB0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FFB0"/>
                </a:solidFill>
              </a:rPr>
              <a:t>AsAI Global Sync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🌏 Global OTA Cognitive Sync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AsAI layer distributes collective fleet intelligence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worldwide over isolated, tamper-proof optical channels.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2C5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VELSANET  |  Hyundai Scenario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BMW GROUP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91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×  Velsanet Cognitive Cube — Application Scenarios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Emotion AI · PAI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🏎 M-Series Driver AI Co-Pilot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Real-time E-Axis (emotion) + I-Axis (intent) analysis detects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driver state — suspension and engine response adapt proactively.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7955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Layer-1 Security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iDrive Security Redefined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270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Layer-1 authentication via physical optical paths.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No IP address — zero-attack-surface vehicle identity.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346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Smart City Integration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🏙 BMW ConnectedDrive 2.0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Velsanet AAI nodes connect directly to city infrastructure.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Real-time intent-based routing for traffic, parking and charging.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297680" cy="1828800"/>
          </a:xfrm>
          <a:prstGeom prst="rect">
            <a:avLst/>
          </a:prstGeom>
          <a:solidFill>
            <a:srgbClr val="12184A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34640"/>
            <a:ext cx="4297680" cy="27432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5292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AsAI Fleet Intelligence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M-Axis Organic Learning Fleet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8444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Every BMW globally shares collective intelligence via AsAI.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Each vehicle's experience accumulates in M-Axis and evolves.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VELSANET  |  BMW Group Scenario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Velsanet? — Technical Differentiation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347472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680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7680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Conventional Automotive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7680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Velsanet Cognitive Cube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8686800" cy="475488"/>
          </a:xfrm>
          <a:prstGeom prst="rect">
            <a:avLst/>
          </a:prstGeom>
          <a:solidFill>
            <a:srgbClr val="12184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1521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AI Location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53512" y="112471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1521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Cloud-dependent (external)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96712" y="112471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11521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Inside the network (native)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554480"/>
            <a:ext cx="8686800" cy="475488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6276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Memory Structure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53512" y="1600200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16276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Session-by-session reset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1600200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62763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Continuous E2E cognitive loop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029968"/>
            <a:ext cx="8686800" cy="475488"/>
          </a:xfrm>
          <a:prstGeom prst="rect">
            <a:avLst/>
          </a:prstGeom>
          <a:solidFill>
            <a:srgbClr val="12184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103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Security Model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53512" y="2075688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2103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Software encryption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96712" y="2075688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210312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Physical optical path (Layer-1)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2505456"/>
            <a:ext cx="8686800" cy="475488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V2X Communication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53512" y="2551176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0" name="Text 28"/>
          <p:cNvSpPr/>
          <p:nvPr/>
        </p:nvSpPr>
        <p:spPr>
          <a:xfrm>
            <a:off x="306324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Data transfer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96712" y="2551176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25786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Intent-based delivery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2980944"/>
            <a:ext cx="8686800" cy="475488"/>
          </a:xfrm>
          <a:prstGeom prst="rect">
            <a:avLst/>
          </a:prstGeom>
          <a:solidFill>
            <a:srgbClr val="12184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5409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Personalization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53512" y="3026664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305409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Limited, cloud-dependent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96712" y="3026664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305409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5-axis real-time cube learning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3456432"/>
            <a:ext cx="8686800" cy="475488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5295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8"/>
                </a:solidFill>
              </a:rPr>
              <a:t>Scalability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953512" y="350215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2" name="Text 40"/>
          <p:cNvSpPr/>
          <p:nvPr/>
        </p:nvSpPr>
        <p:spPr>
          <a:xfrm>
            <a:off x="3063240" y="35295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C8C"/>
                </a:solidFill>
              </a:rPr>
              <a:t>Centralization bottleneck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96712" y="3502152"/>
            <a:ext cx="18288" cy="384048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4" name="Text 42"/>
          <p:cNvSpPr/>
          <p:nvPr/>
        </p:nvSpPr>
        <p:spPr>
          <a:xfrm>
            <a:off x="5806440" y="352958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FFB0"/>
                </a:solidFill>
              </a:rPr>
              <a:t>Polyhedral distributed — unlimited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4389120"/>
            <a:ext cx="8686800" cy="4572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4FFFB0"/>
                </a:solidFill>
              </a:rPr>
              <a:t>✦  Velsanet does not add AI on top of the network — it turns the network itself into intelligence.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Partnership Proposal — Building the Future of Mobility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743200" cy="3749040"/>
          </a:xfrm>
          <a:prstGeom prst="rect">
            <a:avLst/>
          </a:prstGeom>
          <a:solidFill>
            <a:srgbClr val="12184A"/>
          </a:solidFill>
          <a:ln w="19050">
            <a:solidFill>
              <a:srgbClr val="00A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31520"/>
            <a:ext cx="2743200" cy="411480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0F2C"/>
                </a:solidFill>
              </a:rPr>
              <a:t>~6 months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Joint Research Agreement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2286000" cy="27432"/>
          </a:xfrm>
          <a:prstGeom prst="rect">
            <a:avLst/>
          </a:prstGeom>
          <a:solidFill>
            <a:srgbClr val="00AAD4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28800"/>
            <a:ext cx="73152" cy="73152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Establish joint lab with Velsanet Research Institute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73152" cy="73152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Define PAI-Cube vehicle integration spec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72384"/>
            <a:ext cx="73152" cy="73152"/>
          </a:xfrm>
          <a:prstGeom prst="rect">
            <a:avLst/>
          </a:prstGeom>
          <a:solidFill>
            <a:srgbClr val="00AAD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80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Develop Cognitive Cube PoC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2468880"/>
            <a:ext cx="182880" cy="4572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731520"/>
            <a:ext cx="2743200" cy="3749040"/>
          </a:xfrm>
          <a:prstGeom prst="rect">
            <a:avLst/>
          </a:prstGeom>
          <a:solidFill>
            <a:srgbClr val="12184A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731520"/>
            <a:ext cx="2743200" cy="41148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0F2C"/>
                </a:solidFill>
              </a:rPr>
              <a:t>~18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 Vehicle Integration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627632"/>
            <a:ext cx="2286000" cy="27432"/>
          </a:xfrm>
          <a:prstGeom prst="rect">
            <a:avLst/>
          </a:prstGeom>
          <a:solidFill>
            <a:srgbClr val="00C8FF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1828800"/>
            <a:ext cx="73152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Embed Cube in lead vehicle models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450592"/>
            <a:ext cx="73152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Real-road V2X intent communication test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3072384"/>
            <a:ext cx="73152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980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Define BMW / Hyundai common standard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2468880"/>
            <a:ext cx="182880" cy="45720"/>
          </a:xfrm>
          <a:prstGeom prst="rect">
            <a:avLst/>
          </a:prstGeom>
          <a:solidFill>
            <a:srgbClr val="5A7A9A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0760" y="731520"/>
            <a:ext cx="2743200" cy="3749040"/>
          </a:xfrm>
          <a:prstGeom prst="rect">
            <a:avLst/>
          </a:prstGeom>
          <a:solidFill>
            <a:srgbClr val="12184A"/>
          </a:solidFill>
          <a:ln w="19050">
            <a:solidFill>
              <a:srgbClr val="4FFF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731520"/>
            <a:ext cx="2743200" cy="411480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C"/>
                </a:solidFill>
              </a:rPr>
              <a:t>Phase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A0F2C"/>
                </a:solidFill>
              </a:rPr>
              <a:t>~36 months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Global Platform Launch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72200" y="1627632"/>
            <a:ext cx="2286000" cy="27432"/>
          </a:xfrm>
          <a:prstGeom prst="rect">
            <a:avLst/>
          </a:prstGeom>
          <a:solidFill>
            <a:srgbClr val="4FFFB0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72200" y="1828800"/>
            <a:ext cx="73152" cy="7315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Velsanet embedded in production vehicles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2450592"/>
            <a:ext cx="73152" cy="7315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City infrastructure AAI integration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3072384"/>
            <a:ext cx="73152" cy="7315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2980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C4D8"/>
                </a:solidFill>
              </a:rPr>
              <a:t>Global fleet intelligence service go-live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" y="4572000"/>
            <a:ext cx="8686800" cy="201168"/>
          </a:xfrm>
          <a:prstGeom prst="rect">
            <a:avLst/>
          </a:prstGeom>
          <a:solidFill>
            <a:srgbClr val="00C8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8FF"/>
                </a:solidFill>
              </a:rPr>
              <a:t>Velsanet seeks to define the new standard of mobility intelligence together with Hyundai Motor and BMW Group.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VELSANET  |  Confidential  |  joa337.github.io/velsanet-whitepapers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C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C69D4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44568" y="0"/>
            <a:ext cx="54864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AAD4"/>
                </a:solidFill>
              </a:rPr>
              <a:t>HYUNDAI MOTOR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BMW GROUP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solidFill>
            <a:srgbClr val="0A0F2C">
              <a:alpha val="80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Future Redefined by Cognitive Cube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9933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8FF"/>
                </a:solidFill>
              </a:rPr>
              <a:t>인지 큐브가 바꾸는 미래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3657600" cy="27432"/>
          </a:xfrm>
          <a:prstGeom prst="rect">
            <a:avLst/>
          </a:prstGeom>
          <a:solidFill>
            <a:srgbClr val="4FFFB0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4688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B0C4D8"/>
                </a:solidFill>
              </a:rPr>
              <a:t>Every vehicle, a living cognitive system.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B0C4D8"/>
                </a:solidFill>
              </a:rPr>
              <a:t>차량은 이제 달리는 인지 시스템입니다.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931920"/>
            <a:ext cx="4572000" cy="5943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931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VELSANET</a:t>
            </a:r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joa337.github.io/velsanet-whitepapers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7A9A"/>
                </a:solidFill>
              </a:rPr>
              <a:t>© 2026 Velsanet. All Rights Reserved. Confidential &amp; Proprietary.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Cognitive Cube - Automotive Pitch (EN)</dc:title>
  <dc:subject>PptxGenJS Presentation</dc:subject>
  <dc:creator>PptxGenJS</dc:creator>
  <cp:lastModifiedBy>PptxGenJS</cp:lastModifiedBy>
  <cp:revision>1</cp:revision>
  <dcterms:created xsi:type="dcterms:W3CDTF">2026-02-24T13:12:13Z</dcterms:created>
  <dcterms:modified xsi:type="dcterms:W3CDTF">2026-02-24T13:12:13Z</dcterms:modified>
</cp:coreProperties>
</file>